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0" r:id="rId3"/>
    <p:sldId id="314" r:id="rId4"/>
    <p:sldId id="330" r:id="rId5"/>
    <p:sldId id="331" r:id="rId6"/>
    <p:sldId id="337" r:id="rId7"/>
    <p:sldId id="332" r:id="rId8"/>
    <p:sldId id="333" r:id="rId9"/>
    <p:sldId id="338" r:id="rId10"/>
    <p:sldId id="315" r:id="rId11"/>
    <p:sldId id="316" r:id="rId12"/>
    <p:sldId id="33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2" d="100"/>
          <a:sy n="72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6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35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6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58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77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20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75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48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3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0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3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BASE DE DATOS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 smtClean="0"/>
              <a:t>SQL-SERVER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29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9174" y="206099"/>
            <a:ext cx="2674238" cy="1325563"/>
          </a:xfrm>
        </p:spPr>
        <p:txBody>
          <a:bodyPr/>
          <a:lstStyle/>
          <a:p>
            <a:r>
              <a:rPr lang="es-PE" dirty="0" smtClean="0"/>
              <a:t>Ejercicio 1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6920" y="1216982"/>
            <a:ext cx="3143689" cy="161947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438" y="2932940"/>
            <a:ext cx="6068272" cy="357237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808921" y="522410"/>
            <a:ext cx="94753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600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Crear las siguientes tablas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02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83974" y="413266"/>
            <a:ext cx="10515600" cy="1325563"/>
          </a:xfrm>
        </p:spPr>
        <p:txBody>
          <a:bodyPr/>
          <a:lstStyle/>
          <a:p>
            <a:r>
              <a:rPr lang="es-PE" dirty="0" smtClean="0"/>
              <a:t>Realizar las siguientes consultas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83974" y="1738829"/>
            <a:ext cx="10515600" cy="4351338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" altLang="en-US" sz="1600" dirty="0">
                <a:latin typeface="Arial" panose="020B0604020202020204" pitchFamily="34" charset="0"/>
                <a:ea typeface="Arial" panose="020B0604020202020204" pitchFamily="34" charset="0"/>
              </a:rPr>
              <a:t>Una vez insertados los valores en las tablas realice las siguientes consultas. </a:t>
            </a:r>
            <a:endParaRPr lang="es-ES" altLang="en-US" sz="1600" dirty="0" smtClean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Muestre </a:t>
            </a:r>
            <a:r>
              <a:rPr lang="es-ES" altLang="en-US" sz="1600" dirty="0">
                <a:latin typeface="Arial" panose="020B0604020202020204" pitchFamily="34" charset="0"/>
                <a:ea typeface="Arial" panose="020B0604020202020204" pitchFamily="34" charset="0"/>
              </a:rPr>
              <a:t>el nombre y celular de todos los </a:t>
            </a: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empleados y muestre </a:t>
            </a:r>
            <a:r>
              <a:rPr lang="es-ES" altLang="en-US" sz="1600" dirty="0">
                <a:latin typeface="Arial" panose="020B0604020202020204" pitchFamily="34" charset="0"/>
                <a:ea typeface="Arial" panose="020B0604020202020204" pitchFamily="34" charset="0"/>
              </a:rPr>
              <a:t>la dirección y teléfono de todos los </a:t>
            </a: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almacenes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Muestre </a:t>
            </a:r>
            <a:r>
              <a:rPr lang="es-ES" altLang="en-US" sz="1600" dirty="0">
                <a:latin typeface="Arial" panose="020B0604020202020204" pitchFamily="34" charset="0"/>
                <a:ea typeface="Arial" panose="020B0604020202020204" pitchFamily="34" charset="0"/>
              </a:rPr>
              <a:t>descripción, precio unitario y stock de todos los </a:t>
            </a: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productos</a:t>
            </a:r>
            <a:r>
              <a:rPr lang="es-PE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endParaRPr lang="en-US" altLang="en-US" sz="16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ES" altLang="en-US" sz="1600" dirty="0">
                <a:latin typeface="Arial" panose="020B0604020202020204" pitchFamily="34" charset="0"/>
                <a:ea typeface="Arial" panose="020B0604020202020204" pitchFamily="34" charset="0"/>
              </a:rPr>
              <a:t>Muestre el sueldo aumentado en 100 (sueldo + 100) de todos los empleados. Utilice un alias para mostrar el </a:t>
            </a: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resultado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Muestre </a:t>
            </a:r>
            <a:r>
              <a:rPr lang="es-ES" altLang="en-US" sz="1600" dirty="0">
                <a:latin typeface="Arial" panose="020B0604020202020204" pitchFamily="34" charset="0"/>
                <a:ea typeface="Arial" panose="020B0604020202020204" pitchFamily="34" charset="0"/>
              </a:rPr>
              <a:t>el precio aumentado en 10% de todos los productos (</a:t>
            </a:r>
            <a:r>
              <a:rPr lang="es-ES" altLang="en-US" sz="1600" dirty="0" err="1">
                <a:latin typeface="Arial" panose="020B0604020202020204" pitchFamily="34" charset="0"/>
                <a:ea typeface="Arial" panose="020B0604020202020204" pitchFamily="34" charset="0"/>
              </a:rPr>
              <a:t>precio_unitario</a:t>
            </a:r>
            <a:r>
              <a:rPr lang="es-ES" altLang="en-US" sz="1600" dirty="0">
                <a:latin typeface="Arial" panose="020B0604020202020204" pitchFamily="34" charset="0"/>
                <a:ea typeface="Arial" panose="020B0604020202020204" pitchFamily="34" charset="0"/>
              </a:rPr>
              <a:t> * 1.10). Utilice un alias para mostrar el </a:t>
            </a: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resultado.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Muestre </a:t>
            </a:r>
            <a:r>
              <a:rPr lang="es-ES" altLang="en-US" sz="1600" dirty="0">
                <a:latin typeface="Arial" panose="020B0604020202020204" pitchFamily="34" charset="0"/>
                <a:ea typeface="Arial" panose="020B0604020202020204" pitchFamily="34" charset="0"/>
              </a:rPr>
              <a:t>los encargados cuyo sueldo es mayor o igual a </a:t>
            </a: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1000.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Muestre </a:t>
            </a:r>
            <a:r>
              <a:rPr lang="es-ES" altLang="en-US" sz="1600" dirty="0">
                <a:latin typeface="Arial" panose="020B0604020202020204" pitchFamily="34" charset="0"/>
                <a:ea typeface="Arial" panose="020B0604020202020204" pitchFamily="34" charset="0"/>
              </a:rPr>
              <a:t>los productos cuyo stock esté entre 0 y </a:t>
            </a: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20</a:t>
            </a:r>
            <a:r>
              <a:rPr lang="es-PE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.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ES" altLang="en-US" sz="1600" dirty="0">
                <a:latin typeface="Arial" panose="020B0604020202020204" pitchFamily="34" charset="0"/>
                <a:ea typeface="Arial" panose="020B0604020202020204" pitchFamily="34" charset="0"/>
              </a:rPr>
              <a:t>Muestre los productos cuya descripción comience con la letra ‘A</a:t>
            </a: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’.</a:t>
            </a:r>
            <a:endParaRPr lang="en-US" altLang="en-US" sz="16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ES" altLang="en-US" sz="1600" dirty="0">
                <a:latin typeface="Arial" panose="020B0604020202020204" pitchFamily="34" charset="0"/>
                <a:ea typeface="Arial" panose="020B0604020202020204" pitchFamily="34" charset="0"/>
              </a:rPr>
              <a:t>Muestre los encargados cuyo nombre contenga al menos una vez la letra ‘O’ (mayúscula o minúscula) y cuyo sueldo no sea 800, 1500 ni 2000</a:t>
            </a:r>
            <a:r>
              <a:rPr lang="es-ES" altLang="en-US" sz="1600" dirty="0" smtClean="0">
                <a:latin typeface="Arial" panose="020B0604020202020204" pitchFamily="34" charset="0"/>
                <a:ea typeface="Arial" panose="020B0604020202020204" pitchFamily="34" charset="0"/>
              </a:rPr>
              <a:t>. 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MX" sz="1600" dirty="0"/>
              <a:t>Muestre los empleados que no tienen un número de celular registrado</a:t>
            </a:r>
            <a:r>
              <a:rPr lang="es-MX" sz="1600" dirty="0" smtClean="0"/>
              <a:t>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MX" sz="1600" dirty="0"/>
              <a:t>Muestre los productos cuyo precio unitario sea menor a 50 o cuyo stock sea mayor a 100</a:t>
            </a:r>
            <a:r>
              <a:rPr lang="es-MX" sz="1600" dirty="0" smtClean="0"/>
              <a:t>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s-MX" sz="1600" dirty="0"/>
              <a:t>Muestre los almacenes cuyo nombre contenga la palabra ‘Central’ y se encuentren en la ciudad de ‘Lima’.</a:t>
            </a:r>
            <a:endParaRPr lang="en-US" altLang="en-US" sz="1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422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b="1" u="sng" dirty="0">
                <a:solidFill>
                  <a:schemeClr val="accent1">
                    <a:lumMod val="75000"/>
                  </a:schemeClr>
                </a:solidFill>
              </a:rPr>
              <a:t>Crear 5 sentencias SELECT CON EXPRESIONES ARITMETICAS, ALIAS, CONCATENACIÓN, </a:t>
            </a:r>
            <a:r>
              <a:rPr lang="es-MX" b="1" u="sng" dirty="0" smtClean="0">
                <a:solidFill>
                  <a:schemeClr val="accent1">
                    <a:lumMod val="75000"/>
                  </a:schemeClr>
                </a:solidFill>
              </a:rPr>
              <a:t>DISTINCT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MX" b="1" dirty="0"/>
              <a:t>Problema 1: Calcular el valor total del stock de cada producto</a:t>
            </a:r>
          </a:p>
          <a:p>
            <a:pPr algn="just"/>
            <a:r>
              <a:rPr lang="es-MX" b="1" dirty="0"/>
              <a:t>Enunciado</a:t>
            </a:r>
            <a:r>
              <a:rPr lang="es-MX" dirty="0"/>
              <a:t>: Se desea obtener el valor total del stock de cada producto, calculado como el precio unitario multiplicado por la cantidad de stock, junto con una descripción del producto.</a:t>
            </a:r>
          </a:p>
          <a:p>
            <a:pPr marL="0" indent="0" algn="just">
              <a:buNone/>
            </a:pPr>
            <a:r>
              <a:rPr lang="es-MX" b="1" dirty="0"/>
              <a:t>Problema 2: Mostrar el nombre completo del encargado junto con el almacén asignado</a:t>
            </a:r>
          </a:p>
          <a:p>
            <a:pPr algn="just"/>
            <a:r>
              <a:rPr lang="es-MX" b="1" dirty="0"/>
              <a:t>Enunciado</a:t>
            </a:r>
            <a:r>
              <a:rPr lang="es-MX" dirty="0"/>
              <a:t>: Se necesita una lista que muestre el nombre del encargado concatenado con el ID del almacén que tienen asignado.</a:t>
            </a:r>
          </a:p>
          <a:p>
            <a:pPr marL="0" indent="0" algn="just">
              <a:buNone/>
            </a:pPr>
            <a:r>
              <a:rPr lang="es-MX" b="1" dirty="0"/>
              <a:t>Problema 3: Listar los precios unitarios distintos de los productos</a:t>
            </a:r>
          </a:p>
          <a:p>
            <a:pPr algn="just"/>
            <a:r>
              <a:rPr lang="es-MX" b="1" dirty="0"/>
              <a:t>Enunciado</a:t>
            </a:r>
            <a:r>
              <a:rPr lang="es-MX" dirty="0"/>
              <a:t>: Se necesita obtener una lista de todos los precios unitarios de los productos sin duplicados</a:t>
            </a:r>
            <a:r>
              <a:rPr lang="es-MX" dirty="0" smtClean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00732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24948" y="420760"/>
            <a:ext cx="10515600" cy="6227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Problema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4: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Calcular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el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sueldo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anual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cada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encargado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Enunciado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requiere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calcular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sueldo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anual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cada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encargado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asumiendo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que el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sueldo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mensual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el valor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almacenado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columna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Sueldo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PE" altLang="en-US" sz="2000" dirty="0"/>
          </a:p>
          <a:p>
            <a:pPr marL="0" indent="0" algn="just">
              <a:buNone/>
            </a:pPr>
            <a:r>
              <a:rPr lang="es-MX" sz="2000" b="1" dirty="0"/>
              <a:t>Problema 5: Obtener el stock total de productos en cada almacén</a:t>
            </a:r>
          </a:p>
          <a:p>
            <a:pPr algn="just"/>
            <a:r>
              <a:rPr lang="es-MX" sz="2000" b="1" dirty="0"/>
              <a:t>Enunciado</a:t>
            </a:r>
            <a:r>
              <a:rPr lang="es-MX" sz="2000" dirty="0"/>
              <a:t>: Se desea conocer el stock total de productos en cada almacén, sumando el stock de todos los productos almacenados en cada uno</a:t>
            </a:r>
            <a:r>
              <a:rPr lang="es-MX" sz="2000" dirty="0" smtClean="0"/>
              <a:t>.</a:t>
            </a:r>
          </a:p>
          <a:p>
            <a:pPr algn="just"/>
            <a:endParaRPr lang="es-MX" sz="2000" dirty="0"/>
          </a:p>
          <a:p>
            <a:pPr marL="0" indent="0" algn="just">
              <a:buNone/>
            </a:pPr>
            <a:r>
              <a:rPr lang="es-MX" sz="2000" b="1" dirty="0"/>
              <a:t>Problema 6: Determinar el producto más caro en cada almacén (sin usar JOIN)</a:t>
            </a:r>
          </a:p>
          <a:p>
            <a:pPr algn="just"/>
            <a:r>
              <a:rPr lang="es-MX" sz="2000" b="1" dirty="0" smtClean="0"/>
              <a:t>Enunciado</a:t>
            </a:r>
            <a:r>
              <a:rPr lang="es-MX" sz="2000" dirty="0" smtClean="0"/>
              <a:t>: </a:t>
            </a:r>
            <a:r>
              <a:rPr lang="es-MX" sz="2000" dirty="0"/>
              <a:t>Se desea identificar el producto con el precio unitario más alto dentro de cada almacén (</a:t>
            </a:r>
            <a:r>
              <a:rPr lang="es-MX" sz="2000" dirty="0" err="1"/>
              <a:t>Id_Almacen</a:t>
            </a:r>
            <a:r>
              <a:rPr lang="es-MX" sz="2000" dirty="0"/>
              <a:t>), mostrando el ID del almacén, el nombre del producto (</a:t>
            </a:r>
            <a:r>
              <a:rPr lang="es-MX" sz="2000" dirty="0" err="1"/>
              <a:t>Descripcion</a:t>
            </a:r>
            <a:r>
              <a:rPr lang="es-MX" sz="2000" dirty="0"/>
              <a:t>) y el precio unitario (</a:t>
            </a:r>
            <a:r>
              <a:rPr lang="es-MX" sz="2000" dirty="0" err="1"/>
              <a:t>Precio_Unitario</a:t>
            </a:r>
            <a:r>
              <a:rPr lang="es-MX" sz="2000" dirty="0"/>
              <a:t>).</a:t>
            </a:r>
          </a:p>
          <a:p>
            <a:pPr algn="just"/>
            <a:endParaRPr lang="es-MX" sz="2000" dirty="0" smtClean="0"/>
          </a:p>
          <a:p>
            <a:pPr marL="0" indent="0">
              <a:buNone/>
            </a:pPr>
            <a:r>
              <a:rPr lang="es-MX" sz="2000" b="1" dirty="0"/>
              <a:t>Problema 7: Calcular el promedio de sueldo de los encargados por almacén</a:t>
            </a:r>
          </a:p>
          <a:p>
            <a:r>
              <a:rPr lang="es-MX" sz="2000" b="1" dirty="0"/>
              <a:t>Enunciado ajustado:</a:t>
            </a:r>
            <a:r>
              <a:rPr lang="es-MX" sz="2000" dirty="0"/>
              <a:t> Se requiere obtener el sueldo promedio de los encargados agrupados por el almacén al que están asignados. La salida debe mostrar la dirección del almacén y el sueldo promedio, redondeado a dos decimales.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948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24947" y="738947"/>
            <a:ext cx="10515600" cy="260060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sz="2000" b="1" dirty="0"/>
              <a:t>Problema 8: Listar los productos que tienen el menor stock en cada almacén</a:t>
            </a:r>
          </a:p>
          <a:p>
            <a:pPr algn="just"/>
            <a:r>
              <a:rPr lang="es-MX" sz="2000" b="1" dirty="0"/>
              <a:t>Enunciado ajustado:</a:t>
            </a:r>
            <a:r>
              <a:rPr lang="es-MX" sz="2000" dirty="0"/>
              <a:t> Se desea conocer los productos que tienen el menor stock dentro de cada almacén. La consulta debe mostrar la descripción del producto, la dirección del almacén y la cantidad de stock.</a:t>
            </a:r>
          </a:p>
          <a:p>
            <a:pPr algn="just"/>
            <a:endParaRPr lang="es-MX" sz="2000" dirty="0"/>
          </a:p>
          <a:p>
            <a:pPr marL="0" indent="0" algn="just">
              <a:buNone/>
            </a:pPr>
            <a:r>
              <a:rPr lang="es-MX" sz="2000" b="1" dirty="0"/>
              <a:t>Problema 9: Determinar los productos más costosos por almacén</a:t>
            </a:r>
          </a:p>
          <a:p>
            <a:pPr algn="just"/>
            <a:r>
              <a:rPr lang="es-MX" sz="2000" b="1" dirty="0"/>
              <a:t>Enunciado ajustado:</a:t>
            </a:r>
            <a:r>
              <a:rPr lang="es-MX" sz="2000" dirty="0"/>
              <a:t> Se desea identificar el producto más costoso en cada almacén. La consulta debe mostrar la dirección del almacén, el nombre del producto (descripción) y su precio </a:t>
            </a:r>
            <a:r>
              <a:rPr lang="es-MX" sz="2000" dirty="0" smtClean="0"/>
              <a:t>unitario.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4197460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MX" sz="3200" u="sng" dirty="0">
                <a:solidFill>
                  <a:schemeClr val="accent1">
                    <a:lumMod val="75000"/>
                  </a:schemeClr>
                </a:solidFill>
              </a:rPr>
              <a:t>Realizar </a:t>
            </a:r>
            <a:r>
              <a:rPr lang="es-MX" sz="3200" u="sng" dirty="0" smtClean="0">
                <a:solidFill>
                  <a:schemeClr val="accent1">
                    <a:lumMod val="75000"/>
                  </a:schemeClr>
                </a:solidFill>
              </a:rPr>
              <a:t>cinco sentencias DML </a:t>
            </a:r>
            <a:r>
              <a:rPr lang="es-MX" sz="3200" u="sng" dirty="0">
                <a:solidFill>
                  <a:schemeClr val="accent1">
                    <a:lumMod val="75000"/>
                  </a:schemeClr>
                </a:solidFill>
              </a:rPr>
              <a:t>que contenga las condiciones lógicas de AND y OR explicando sus prioridades para obtener el resultado.</a:t>
            </a:r>
            <a:endParaRPr lang="en-US" sz="3200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b="1" dirty="0"/>
              <a:t>Problema 1: Actualizar el sueldo de los encargados que tienen un celular que comienza con '9' y cuyo sueldo es menor a 3200</a:t>
            </a:r>
          </a:p>
          <a:p>
            <a:pPr algn="just"/>
            <a:r>
              <a:rPr lang="es-MX" b="1" dirty="0"/>
              <a:t>Explicación</a:t>
            </a:r>
            <a:r>
              <a:rPr lang="es-MX" dirty="0"/>
              <a:t>: La condición lógica AND tiene mayor prioridad que OR. Primero se evalúan las condiciones individuales y luego se combinan. La siguiente consulta actualiza el sueldo de los encargados cuyo celular comienza con '9' y cuyo sueldo es menor a 3200</a:t>
            </a:r>
            <a:r>
              <a:rPr lang="es-MX" dirty="0" smtClean="0"/>
              <a:t>.</a:t>
            </a:r>
          </a:p>
          <a:p>
            <a:pPr marL="0" indent="0" algn="just">
              <a:buNone/>
            </a:pPr>
            <a:r>
              <a:rPr lang="es-MX" b="1" dirty="0"/>
              <a:t>Problema 2: Incrementar el stock de productos cuyo precio unitario es mayor a 20 o cuyo </a:t>
            </a:r>
            <a:r>
              <a:rPr lang="es-MX" b="1" dirty="0" err="1"/>
              <a:t>Id_Almacen</a:t>
            </a:r>
            <a:r>
              <a:rPr lang="es-MX" b="1" dirty="0"/>
              <a:t> es 5</a:t>
            </a:r>
          </a:p>
          <a:p>
            <a:pPr algn="just"/>
            <a:r>
              <a:rPr lang="es-MX" b="1" dirty="0"/>
              <a:t>Explicación</a:t>
            </a:r>
            <a:r>
              <a:rPr lang="es-MX" dirty="0"/>
              <a:t>: Se usan paréntesis para asegurar la correcta evaluación de las condiciones lógicas. Primero se evalúan las condiciones dentro de los paréntesis, luego se aplican las operaciones lógicas AND y OR.</a:t>
            </a:r>
          </a:p>
          <a:p>
            <a:pPr algn="just"/>
            <a:endParaRPr lang="es-MX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59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70722" y="606424"/>
            <a:ext cx="10515600" cy="578112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MX" b="1" dirty="0"/>
              <a:t>Problema 3: Eliminar productos que están en almacenes con </a:t>
            </a:r>
            <a:r>
              <a:rPr lang="es-MX" b="1" dirty="0" err="1"/>
              <a:t>Id_Almacen</a:t>
            </a:r>
            <a:r>
              <a:rPr lang="es-MX" b="1" dirty="0"/>
              <a:t> 1 o 2 y que tienen un stock menor a 50</a:t>
            </a:r>
          </a:p>
          <a:p>
            <a:pPr algn="just"/>
            <a:r>
              <a:rPr lang="es-MX" b="1" dirty="0"/>
              <a:t>Explicación</a:t>
            </a:r>
            <a:r>
              <a:rPr lang="es-MX" dirty="0"/>
              <a:t>: Primero se evalúan las condiciones dentro de los paréntesis y luego se aplica la operación lógica AND para filtrar los resultados.</a:t>
            </a:r>
          </a:p>
          <a:p>
            <a:pPr marL="0" indent="0" algn="just">
              <a:buNone/>
            </a:pPr>
            <a:endParaRPr lang="es-MX" b="1" dirty="0" smtClean="0"/>
          </a:p>
          <a:p>
            <a:pPr marL="0" indent="0" algn="just">
              <a:buNone/>
            </a:pPr>
            <a:r>
              <a:rPr lang="es-MX" b="1" dirty="0" smtClean="0"/>
              <a:t>Problema </a:t>
            </a:r>
            <a:r>
              <a:rPr lang="es-MX" b="1" dirty="0"/>
              <a:t>4: Insertar un nuevo producto en el almacén con </a:t>
            </a:r>
            <a:r>
              <a:rPr lang="es-MX" b="1" dirty="0" err="1"/>
              <a:t>Id_Almacen</a:t>
            </a:r>
            <a:r>
              <a:rPr lang="es-MX" b="1" dirty="0"/>
              <a:t> 3 solo si existe un encargado con un sueldo mayor a 3000 y el correo contiene 'example.com'</a:t>
            </a:r>
          </a:p>
          <a:p>
            <a:pPr algn="just"/>
            <a:r>
              <a:rPr lang="es-MX" b="1" dirty="0"/>
              <a:t>Explicación</a:t>
            </a:r>
            <a:r>
              <a:rPr lang="es-MX" dirty="0"/>
              <a:t>: La consulta utiliza una </a:t>
            </a:r>
            <a:r>
              <a:rPr lang="es-MX" dirty="0" err="1"/>
              <a:t>subconsulta</a:t>
            </a:r>
            <a:r>
              <a:rPr lang="es-MX" dirty="0"/>
              <a:t> para verificar las condiciones antes de insertar el nuevo producto. Las condiciones dentro de la </a:t>
            </a:r>
            <a:r>
              <a:rPr lang="es-MX" dirty="0" err="1"/>
              <a:t>subconsulta</a:t>
            </a:r>
            <a:r>
              <a:rPr lang="es-MX" dirty="0"/>
              <a:t> se evalúan primero debido a la prioridad de las operaciones lógicas</a:t>
            </a:r>
            <a:r>
              <a:rPr lang="es-MX" dirty="0" smtClean="0"/>
              <a:t>.</a:t>
            </a:r>
          </a:p>
          <a:p>
            <a:pPr marL="0" indent="0" algn="just">
              <a:buNone/>
            </a:pPr>
            <a:endParaRPr lang="es-MX" sz="1000" b="1" dirty="0" smtClean="0"/>
          </a:p>
          <a:p>
            <a:pPr marL="0" indent="0" algn="just">
              <a:buNone/>
            </a:pPr>
            <a:r>
              <a:rPr lang="es-MX" b="1" dirty="0" smtClean="0"/>
              <a:t>Problema </a:t>
            </a:r>
            <a:r>
              <a:rPr lang="es-MX" b="1" dirty="0"/>
              <a:t>5: Actualizar la dirección de los almacenes que tienen un teléfono que contiene '012' o '345' y el </a:t>
            </a:r>
            <a:r>
              <a:rPr lang="es-MX" b="1" dirty="0" err="1"/>
              <a:t>Id_Encargado</a:t>
            </a:r>
            <a:r>
              <a:rPr lang="es-MX" b="1" dirty="0"/>
              <a:t> es mayor a 5</a:t>
            </a:r>
          </a:p>
          <a:p>
            <a:pPr algn="just"/>
            <a:r>
              <a:rPr lang="es-MX" b="1" dirty="0"/>
              <a:t>Explicación</a:t>
            </a:r>
            <a:r>
              <a:rPr lang="es-MX" dirty="0"/>
              <a:t>: Se evalúan primero las condiciones dentro de los paréntesis para garantizar la correcta evaluación lógica de AND y OR.</a:t>
            </a:r>
          </a:p>
          <a:p>
            <a:pPr algn="just"/>
            <a:endParaRPr lang="es-MX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7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477078"/>
            <a:ext cx="10515600" cy="569988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sz="2000" b="1" dirty="0"/>
              <a:t>Problema 6: </a:t>
            </a:r>
            <a:r>
              <a:rPr lang="es-MX" sz="2000" dirty="0"/>
              <a:t>Actualizar el stock de productos que tienen el precio más bajo en cada almacén</a:t>
            </a:r>
          </a:p>
          <a:p>
            <a:pPr algn="just"/>
            <a:r>
              <a:rPr lang="es-MX" sz="2000" b="1" dirty="0"/>
              <a:t>Explicación:</a:t>
            </a:r>
            <a:r>
              <a:rPr lang="es-MX" sz="2000" dirty="0"/>
              <a:t> Se utiliza una </a:t>
            </a:r>
            <a:r>
              <a:rPr lang="es-MX" sz="2000" dirty="0" err="1"/>
              <a:t>subconsulta</a:t>
            </a:r>
            <a:r>
              <a:rPr lang="es-MX" sz="2000" dirty="0"/>
              <a:t> para identificar el precio más bajo por almacén y actualizar el stock de los productos que coinciden</a:t>
            </a:r>
            <a:r>
              <a:rPr lang="es-MX" sz="2000" dirty="0" smtClean="0"/>
              <a:t>.</a:t>
            </a:r>
            <a:endParaRPr lang="es-MX" sz="2000" b="1" dirty="0" smtClean="0">
              <a:latin typeface="+mj-lt"/>
            </a:endParaRPr>
          </a:p>
          <a:p>
            <a:pPr marL="0" indent="0">
              <a:buNone/>
            </a:pPr>
            <a:endParaRPr lang="es-MX" sz="2000" b="1" dirty="0">
              <a:latin typeface="+mj-lt"/>
            </a:endParaRPr>
          </a:p>
          <a:p>
            <a:pPr marL="0" indent="0">
              <a:buNone/>
            </a:pPr>
            <a:r>
              <a:rPr lang="es-MX" sz="2000" b="1" dirty="0" smtClean="0">
                <a:latin typeface="+mj-lt"/>
              </a:rPr>
              <a:t>Problema 7: </a:t>
            </a:r>
            <a:r>
              <a:rPr lang="es-MX" sz="2000" b="1" dirty="0">
                <a:latin typeface="+mj-lt"/>
              </a:rPr>
              <a:t>Insertar un nuevo almacén si no existe ya un almacén con la misma dirección</a:t>
            </a:r>
          </a:p>
          <a:p>
            <a:r>
              <a:rPr lang="es-MX" sz="2000" b="1" dirty="0">
                <a:latin typeface="+mj-lt"/>
              </a:rPr>
              <a:t>Explicación:</a:t>
            </a:r>
            <a:r>
              <a:rPr lang="es-MX" sz="2000" dirty="0">
                <a:latin typeface="+mj-lt"/>
              </a:rPr>
              <a:t/>
            </a:r>
            <a:br>
              <a:rPr lang="es-MX" sz="2000" dirty="0">
                <a:latin typeface="+mj-lt"/>
              </a:rPr>
            </a:br>
            <a:r>
              <a:rPr lang="es-MX" sz="2000" dirty="0">
                <a:latin typeface="+mj-lt"/>
              </a:rPr>
              <a:t>La consulta utiliza una </a:t>
            </a:r>
            <a:r>
              <a:rPr lang="es-MX" sz="2000" dirty="0" err="1">
                <a:latin typeface="+mj-lt"/>
              </a:rPr>
              <a:t>subconsulta</a:t>
            </a:r>
            <a:r>
              <a:rPr lang="es-MX" sz="2000" dirty="0">
                <a:latin typeface="+mj-lt"/>
              </a:rPr>
              <a:t> para verificar si ya existe un almacén con la dirección especificada antes de realizar la inserción. Esto garantiza que no haya duplicados</a:t>
            </a:r>
            <a:r>
              <a:rPr lang="es-MX" sz="2000" dirty="0" smtClean="0">
                <a:latin typeface="+mj-lt"/>
              </a:rPr>
              <a:t>.</a:t>
            </a:r>
          </a:p>
          <a:p>
            <a:endParaRPr lang="es-MX" sz="20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latin typeface="+mj-lt"/>
              </a:rPr>
              <a:t>Problema 8: </a:t>
            </a:r>
            <a:r>
              <a:rPr lang="en-US" altLang="en-US" sz="2000" b="1" dirty="0" err="1">
                <a:latin typeface="+mj-lt"/>
              </a:rPr>
              <a:t>Insertar</a:t>
            </a:r>
            <a:r>
              <a:rPr lang="en-US" altLang="en-US" sz="2000" b="1" dirty="0">
                <a:latin typeface="+mj-lt"/>
              </a:rPr>
              <a:t> un </a:t>
            </a:r>
            <a:r>
              <a:rPr lang="en-US" altLang="en-US" sz="2000" b="1" dirty="0" err="1">
                <a:latin typeface="+mj-lt"/>
              </a:rPr>
              <a:t>nuevo</a:t>
            </a:r>
            <a:r>
              <a:rPr lang="en-US" altLang="en-US" sz="2000" b="1" dirty="0">
                <a:latin typeface="+mj-lt"/>
              </a:rPr>
              <a:t> </a:t>
            </a:r>
            <a:r>
              <a:rPr lang="en-US" altLang="en-US" sz="2000" b="1" dirty="0" err="1">
                <a:latin typeface="+mj-lt"/>
              </a:rPr>
              <a:t>producto</a:t>
            </a:r>
            <a:r>
              <a:rPr lang="en-US" altLang="en-US" sz="2000" b="1" dirty="0">
                <a:latin typeface="+mj-lt"/>
              </a:rPr>
              <a:t> </a:t>
            </a:r>
            <a:r>
              <a:rPr lang="en-US" altLang="en-US" sz="2000" b="1" dirty="0" err="1">
                <a:latin typeface="+mj-lt"/>
              </a:rPr>
              <a:t>si</a:t>
            </a:r>
            <a:r>
              <a:rPr lang="en-US" altLang="en-US" sz="2000" b="1" dirty="0">
                <a:latin typeface="+mj-lt"/>
              </a:rPr>
              <a:t> el </a:t>
            </a:r>
            <a:r>
              <a:rPr lang="en-US" altLang="en-US" sz="2000" b="1" dirty="0" err="1">
                <a:latin typeface="+mj-lt"/>
              </a:rPr>
              <a:t>número</a:t>
            </a:r>
            <a:r>
              <a:rPr lang="en-US" altLang="en-US" sz="2000" b="1" dirty="0">
                <a:latin typeface="+mj-lt"/>
              </a:rPr>
              <a:t> total de </a:t>
            </a:r>
            <a:r>
              <a:rPr lang="en-US" altLang="en-US" sz="2000" b="1" dirty="0" err="1">
                <a:latin typeface="+mj-lt"/>
              </a:rPr>
              <a:t>productos</a:t>
            </a:r>
            <a:r>
              <a:rPr lang="en-US" altLang="en-US" sz="2000" b="1" dirty="0">
                <a:latin typeface="+mj-lt"/>
              </a:rPr>
              <a:t> en el </a:t>
            </a:r>
            <a:r>
              <a:rPr lang="en-US" altLang="en-US" sz="2000" b="1" dirty="0" err="1">
                <a:latin typeface="+mj-lt"/>
              </a:rPr>
              <a:t>almacén</a:t>
            </a:r>
            <a:r>
              <a:rPr lang="en-US" altLang="en-US" sz="2000" b="1" dirty="0">
                <a:latin typeface="+mj-lt"/>
              </a:rPr>
              <a:t> con </a:t>
            </a:r>
            <a:r>
              <a:rPr lang="en-US" altLang="en-US" sz="2000" b="1" dirty="0" err="1">
                <a:latin typeface="+mj-lt"/>
              </a:rPr>
              <a:t>Id_Almacen</a:t>
            </a:r>
            <a:r>
              <a:rPr lang="en-US" altLang="en-US" sz="2000" b="1" dirty="0">
                <a:latin typeface="+mj-lt"/>
              </a:rPr>
              <a:t> = 2 </a:t>
            </a:r>
            <a:r>
              <a:rPr lang="en-US" altLang="en-US" sz="2000" b="1" dirty="0" err="1">
                <a:latin typeface="+mj-lt"/>
              </a:rPr>
              <a:t>es</a:t>
            </a:r>
            <a:r>
              <a:rPr lang="en-US" altLang="en-US" sz="2000" b="1" dirty="0">
                <a:latin typeface="+mj-lt"/>
              </a:rPr>
              <a:t> </a:t>
            </a:r>
            <a:r>
              <a:rPr lang="en-US" altLang="en-US" sz="2000" b="1" dirty="0" err="1">
                <a:latin typeface="+mj-lt"/>
              </a:rPr>
              <a:t>menor</a:t>
            </a:r>
            <a:r>
              <a:rPr lang="en-US" altLang="en-US" sz="2000" b="1" dirty="0">
                <a:latin typeface="+mj-lt"/>
              </a:rPr>
              <a:t> a 50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 smtClean="0">
                <a:latin typeface="+mj-lt"/>
              </a:rPr>
              <a:t>Explicación</a:t>
            </a:r>
            <a:r>
              <a:rPr lang="en-US" altLang="en-US" sz="2000" b="1" dirty="0" smtClean="0">
                <a:latin typeface="+mj-lt"/>
              </a:rPr>
              <a:t>:</a:t>
            </a:r>
            <a:r>
              <a:rPr lang="en-US" altLang="en-US" sz="2000" dirty="0" smtClean="0">
                <a:latin typeface="+mj-lt"/>
              </a:rPr>
              <a:t> Se </a:t>
            </a:r>
            <a:r>
              <a:rPr lang="en-US" altLang="en-US" sz="2000" dirty="0" err="1">
                <a:latin typeface="+mj-lt"/>
              </a:rPr>
              <a:t>utiliza</a:t>
            </a:r>
            <a:r>
              <a:rPr lang="en-US" altLang="en-US" sz="2000" dirty="0">
                <a:latin typeface="+mj-lt"/>
              </a:rPr>
              <a:t> una </a:t>
            </a:r>
            <a:r>
              <a:rPr lang="en-US" altLang="en-US" sz="2000" dirty="0" err="1">
                <a:latin typeface="+mj-lt"/>
              </a:rPr>
              <a:t>subconsulta</a:t>
            </a:r>
            <a:r>
              <a:rPr lang="en-US" altLang="en-US" sz="2000" dirty="0">
                <a:latin typeface="+mj-lt"/>
              </a:rPr>
              <a:t> para </a:t>
            </a:r>
            <a:r>
              <a:rPr lang="en-US" altLang="en-US" sz="2000" dirty="0" err="1">
                <a:latin typeface="+mj-lt"/>
              </a:rPr>
              <a:t>contar</a:t>
            </a:r>
            <a:r>
              <a:rPr lang="en-US" altLang="en-US" sz="2000" dirty="0">
                <a:latin typeface="+mj-lt"/>
              </a:rPr>
              <a:t> los </a:t>
            </a:r>
            <a:r>
              <a:rPr lang="en-US" altLang="en-US" sz="2000" dirty="0" err="1">
                <a:latin typeface="+mj-lt"/>
              </a:rPr>
              <a:t>productos</a:t>
            </a:r>
            <a:r>
              <a:rPr lang="en-US" altLang="en-US" sz="2000" dirty="0">
                <a:latin typeface="+mj-lt"/>
              </a:rPr>
              <a:t> en el </a:t>
            </a:r>
            <a:r>
              <a:rPr lang="en-US" altLang="en-US" sz="2000" dirty="0" err="1">
                <a:latin typeface="+mj-lt"/>
              </a:rPr>
              <a:t>almacén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especificado</a:t>
            </a:r>
            <a:r>
              <a:rPr lang="en-US" altLang="en-US" sz="2000" dirty="0">
                <a:latin typeface="+mj-lt"/>
              </a:rPr>
              <a:t> antes de </a:t>
            </a:r>
            <a:r>
              <a:rPr lang="en-US" altLang="en-US" sz="2000" dirty="0" err="1">
                <a:latin typeface="+mj-lt"/>
              </a:rPr>
              <a:t>realizar</a:t>
            </a:r>
            <a:r>
              <a:rPr lang="en-US" altLang="en-US" sz="2000" dirty="0">
                <a:latin typeface="+mj-lt"/>
              </a:rPr>
              <a:t> la </a:t>
            </a:r>
            <a:r>
              <a:rPr lang="en-US" altLang="en-US" sz="2000" dirty="0" err="1" smtClean="0">
                <a:latin typeface="+mj-lt"/>
              </a:rPr>
              <a:t>inserción</a:t>
            </a:r>
            <a:r>
              <a:rPr lang="en-US" altLang="en-US" sz="2000" dirty="0" smtClean="0">
                <a:latin typeface="+mj-lt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PE" altLang="en-US" sz="2000" dirty="0">
              <a:latin typeface="+mj-lt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altLang="en-US" sz="2000" b="1" dirty="0" smtClean="0">
                <a:latin typeface="+mj-lt"/>
              </a:rPr>
              <a:t>Problema 9</a:t>
            </a:r>
            <a:r>
              <a:rPr lang="es-MX" altLang="en-US" sz="2000" dirty="0" smtClean="0">
                <a:latin typeface="+mj-lt"/>
              </a:rPr>
              <a:t>: </a:t>
            </a:r>
            <a:r>
              <a:rPr lang="es-MX" altLang="en-US" sz="2000" dirty="0">
                <a:latin typeface="+mj-lt"/>
              </a:rPr>
              <a:t>Aumentar el precio unitario de los productos en almacenes </a:t>
            </a:r>
            <a:r>
              <a:rPr lang="es-MX" altLang="en-US" sz="2000" dirty="0" smtClean="0">
                <a:latin typeface="+mj-lt"/>
              </a:rPr>
              <a:t>cuya </a:t>
            </a:r>
            <a:r>
              <a:rPr lang="es-MX" altLang="en-US" sz="2000" dirty="0" err="1" smtClean="0">
                <a:latin typeface="+mj-lt"/>
              </a:rPr>
              <a:t>descipcion</a:t>
            </a:r>
            <a:r>
              <a:rPr lang="es-MX" altLang="en-US" sz="2000" dirty="0" smtClean="0">
                <a:latin typeface="+mj-lt"/>
              </a:rPr>
              <a:t> contiene 'Central</a:t>
            </a:r>
            <a:r>
              <a:rPr lang="es-MX" altLang="en-US" sz="2000" dirty="0">
                <a:latin typeface="+mj-lt"/>
              </a:rPr>
              <a:t>' si su stock es mayor a 50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n-US" sz="2000" b="1" dirty="0" smtClean="0">
                <a:latin typeface="+mj-lt"/>
              </a:rPr>
              <a:t>Explicación</a:t>
            </a:r>
            <a:r>
              <a:rPr lang="es-MX" altLang="en-US" sz="2000" dirty="0" smtClean="0">
                <a:latin typeface="+mj-lt"/>
              </a:rPr>
              <a:t>: Se </a:t>
            </a:r>
            <a:r>
              <a:rPr lang="es-MX" altLang="en-US" sz="2000" dirty="0">
                <a:latin typeface="+mj-lt"/>
              </a:rPr>
              <a:t>usa LIKE para verificar que </a:t>
            </a:r>
            <a:r>
              <a:rPr lang="es-MX" altLang="en-US" sz="2000" dirty="0" smtClean="0">
                <a:latin typeface="+mj-lt"/>
              </a:rPr>
              <a:t>la descripción del </a:t>
            </a:r>
            <a:r>
              <a:rPr lang="es-MX" altLang="en-US" sz="2000" dirty="0">
                <a:latin typeface="+mj-lt"/>
              </a:rPr>
              <a:t>almacén contiene 'Central' y una </a:t>
            </a:r>
            <a:r>
              <a:rPr lang="es-MX" altLang="en-US" sz="2000" dirty="0" err="1">
                <a:latin typeface="+mj-lt"/>
              </a:rPr>
              <a:t>subconsulta</a:t>
            </a:r>
            <a:r>
              <a:rPr lang="es-MX" altLang="en-US" sz="2000" dirty="0">
                <a:latin typeface="+mj-lt"/>
              </a:rPr>
              <a:t> para evaluar el stock de los productos.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 smtClean="0">
              <a:latin typeface="+mj-lt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10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Ejercicio 3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35313"/>
            <a:ext cx="5153744" cy="150516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56" y="1782193"/>
            <a:ext cx="5153744" cy="189574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19" y="4535303"/>
            <a:ext cx="5106113" cy="128605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056" y="3769438"/>
            <a:ext cx="5153744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9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2982" y="467747"/>
            <a:ext cx="5125165" cy="266737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56" y="467747"/>
            <a:ext cx="5125165" cy="303889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564" y="3506646"/>
            <a:ext cx="5258534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989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785191" y="1017243"/>
            <a:ext cx="10515600" cy="4351338"/>
          </a:xfrm>
        </p:spPr>
        <p:txBody>
          <a:bodyPr>
            <a:normAutofit fontScale="92500"/>
          </a:bodyPr>
          <a:lstStyle/>
          <a:p>
            <a:pPr algn="just"/>
            <a:r>
              <a:rPr lang="es-MX" dirty="0"/>
              <a:t>1. Visualizar el stock de mis libros con combinaciones aritméticas</a:t>
            </a:r>
          </a:p>
          <a:p>
            <a:pPr algn="just"/>
            <a:r>
              <a:rPr lang="es-MX" dirty="0"/>
              <a:t>2. Visualizar el correo y el número de teléfono en una sola columna por cliente</a:t>
            </a:r>
          </a:p>
          <a:p>
            <a:pPr algn="just"/>
            <a:r>
              <a:rPr lang="es-MX" dirty="0"/>
              <a:t>3. Visualizar la información completa de los clientes en una sola columna</a:t>
            </a:r>
          </a:p>
          <a:p>
            <a:pPr algn="just"/>
            <a:r>
              <a:rPr lang="es-MX" dirty="0"/>
              <a:t>4. Visualizar la información completa de los libros en una sola columna</a:t>
            </a:r>
          </a:p>
          <a:p>
            <a:pPr algn="just"/>
            <a:r>
              <a:rPr lang="es-MX" dirty="0"/>
              <a:t>5. Visualizar los correos y los nombres de los encargados cuyos nombres contengan la letra 'o</a:t>
            </a:r>
            <a:r>
              <a:rPr lang="es-MX" dirty="0" smtClean="0"/>
              <a:t>‘.</a:t>
            </a:r>
          </a:p>
          <a:p>
            <a:pPr algn="just"/>
            <a:r>
              <a:rPr lang="es-MX" smtClean="0"/>
              <a:t>6. Visualizar </a:t>
            </a:r>
            <a:r>
              <a:rPr lang="es-MX" dirty="0"/>
              <a:t>el nombre y el correo del encargado cuyos números telefónicos terminen en 127</a:t>
            </a:r>
          </a:p>
          <a:p>
            <a:pPr algn="just"/>
            <a:endParaRPr lang="es-MX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24746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3743</TotalTime>
  <Words>1080</Words>
  <Application>Microsoft Office PowerPoint</Application>
  <PresentationFormat>Panorámica</PresentationFormat>
  <Paragraphs>72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BASE DE DATOS</vt:lpstr>
      <vt:lpstr>Ejercicio 1</vt:lpstr>
      <vt:lpstr>Realizar las siguientes consultas</vt:lpstr>
      <vt:lpstr>Crear 5 sentencias SELECT CON EXPRESIONES ARITMETICAS, ALIAS, CONCATENACIÓN, DISTINCT</vt:lpstr>
      <vt:lpstr>Presentación de PowerPoint</vt:lpstr>
      <vt:lpstr>Presentación de PowerPoint</vt:lpstr>
      <vt:lpstr>Realizar cinco sentencias DML que contenga las condiciones lógicas de AND y OR explicando sus prioridades para obtener el resultado.</vt:lpstr>
      <vt:lpstr>Presentación de PowerPoint</vt:lpstr>
      <vt:lpstr>Presentación de PowerPoint</vt:lpstr>
      <vt:lpstr>Ejercicio 3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gabriel</dc:creator>
  <cp:lastModifiedBy>gabriel</cp:lastModifiedBy>
  <cp:revision>78</cp:revision>
  <dcterms:created xsi:type="dcterms:W3CDTF">2024-06-05T12:35:53Z</dcterms:created>
  <dcterms:modified xsi:type="dcterms:W3CDTF">2025-06-10T00:31:14Z</dcterms:modified>
</cp:coreProperties>
</file>