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92" r:id="rId3"/>
    <p:sldId id="287" r:id="rId4"/>
    <p:sldId id="288" r:id="rId5"/>
    <p:sldId id="289" r:id="rId6"/>
    <p:sldId id="290" r:id="rId7"/>
    <p:sldId id="291" r:id="rId8"/>
    <p:sldId id="280" r:id="rId9"/>
    <p:sldId id="281" r:id="rId10"/>
    <p:sldId id="282" r:id="rId11"/>
    <p:sldId id="293" r:id="rId12"/>
    <p:sldId id="294" r:id="rId13"/>
    <p:sldId id="295" r:id="rId14"/>
    <p:sldId id="296" r:id="rId15"/>
    <p:sldId id="297" r:id="rId16"/>
    <p:sldId id="283" r:id="rId17"/>
    <p:sldId id="284" r:id="rId18"/>
    <p:sldId id="285" r:id="rId19"/>
    <p:sldId id="286" r:id="rId20"/>
    <p:sldId id="331" r:id="rId21"/>
    <p:sldId id="332" r:id="rId22"/>
    <p:sldId id="333" r:id="rId23"/>
    <p:sldId id="307" r:id="rId24"/>
    <p:sldId id="308" r:id="rId25"/>
    <p:sldId id="309" r:id="rId26"/>
    <p:sldId id="317" r:id="rId27"/>
    <p:sldId id="303" r:id="rId28"/>
    <p:sldId id="304" r:id="rId29"/>
    <p:sldId id="305" r:id="rId30"/>
    <p:sldId id="306" r:id="rId31"/>
    <p:sldId id="301" r:id="rId32"/>
    <p:sldId id="302" r:id="rId33"/>
    <p:sldId id="334" r:id="rId34"/>
    <p:sldId id="257" r:id="rId35"/>
    <p:sldId id="258" r:id="rId36"/>
    <p:sldId id="259" r:id="rId37"/>
    <p:sldId id="319" r:id="rId38"/>
    <p:sldId id="320" r:id="rId39"/>
    <p:sldId id="321" r:id="rId40"/>
    <p:sldId id="322" r:id="rId41"/>
    <p:sldId id="323" r:id="rId42"/>
    <p:sldId id="335" r:id="rId43"/>
    <p:sldId id="261" r:id="rId4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72" d="100"/>
          <a:sy n="72" d="100"/>
        </p:scale>
        <p:origin x="660"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p:cNvSpPr>
            <a:spLocks noGrp="1"/>
          </p:cNvSpPr>
          <p:nvPr>
            <p:ph type="ctrTitle"/>
          </p:nvPr>
        </p:nvSpPr>
        <p:spPr>
          <a:xfrm>
            <a:off x="1524000" y="1122363"/>
            <a:ext cx="9144000" cy="2387600"/>
          </a:xfrm>
        </p:spPr>
        <p:txBody>
          <a:bodyPr anchor="b"/>
          <a:lstStyle>
            <a:lvl1pPr algn="ctr">
              <a:defRPr sz="6000"/>
            </a:lvl1pPr>
          </a:lstStyle>
          <a:p>
            <a:r>
              <a:rPr lang="es-ES" smtClean="0"/>
              <a:t>Haga clic para modificar el estilo de título del patrón</a:t>
            </a:r>
            <a:endParaRPr lang="en-US"/>
          </a:p>
        </p:txBody>
      </p:sp>
      <p:sp>
        <p:nvSpPr>
          <p:cNvPr id="3" name="Subtítulo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smtClean="0"/>
              <a:t>Haga clic para editar el estilo de subtítulo del patrón</a:t>
            </a:r>
            <a:endParaRPr lang="en-US"/>
          </a:p>
        </p:txBody>
      </p:sp>
      <p:sp>
        <p:nvSpPr>
          <p:cNvPr id="4" name="Marcador de fecha 3"/>
          <p:cNvSpPr>
            <a:spLocks noGrp="1"/>
          </p:cNvSpPr>
          <p:nvPr>
            <p:ph type="dt" sz="half" idx="10"/>
          </p:nvPr>
        </p:nvSpPr>
        <p:spPr/>
        <p:txBody>
          <a:bodyPr/>
          <a:lstStyle/>
          <a:p>
            <a:fld id="{39CC7AE2-60BB-4D63-883A-F19CE71763D6}" type="datetimeFigureOut">
              <a:rPr lang="en-US" smtClean="0"/>
              <a:t>1/20/2025</a:t>
            </a:fld>
            <a:endParaRPr lang="en-US"/>
          </a:p>
        </p:txBody>
      </p:sp>
      <p:sp>
        <p:nvSpPr>
          <p:cNvPr id="5" name="Marcador de pie de página 4"/>
          <p:cNvSpPr>
            <a:spLocks noGrp="1"/>
          </p:cNvSpPr>
          <p:nvPr>
            <p:ph type="ftr" sz="quarter" idx="11"/>
          </p:nvPr>
        </p:nvSpPr>
        <p:spPr/>
        <p:txBody>
          <a:bodyPr/>
          <a:lstStyle/>
          <a:p>
            <a:endParaRPr lang="en-US"/>
          </a:p>
        </p:txBody>
      </p:sp>
      <p:sp>
        <p:nvSpPr>
          <p:cNvPr id="6" name="Marcador de número de diapositiva 5"/>
          <p:cNvSpPr>
            <a:spLocks noGrp="1"/>
          </p:cNvSpPr>
          <p:nvPr>
            <p:ph type="sldNum" sz="quarter" idx="12"/>
          </p:nvPr>
        </p:nvSpPr>
        <p:spPr/>
        <p:txBody>
          <a:bodyPr/>
          <a:lstStyle/>
          <a:p>
            <a:fld id="{74463F35-EF24-4E97-B901-88CB07C8C120}" type="slidenum">
              <a:rPr lang="en-US" smtClean="0"/>
              <a:t>‹Nº›</a:t>
            </a:fld>
            <a:endParaRPr lang="en-US"/>
          </a:p>
        </p:txBody>
      </p:sp>
    </p:spTree>
    <p:extLst>
      <p:ext uri="{BB962C8B-B14F-4D97-AF65-F5344CB8AC3E}">
        <p14:creationId xmlns:p14="http://schemas.microsoft.com/office/powerpoint/2010/main" val="19265618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smtClean="0"/>
              <a:t>Haga clic para modificar el estilo de título del patrón</a:t>
            </a:r>
            <a:endParaRPr lang="en-US"/>
          </a:p>
        </p:txBody>
      </p:sp>
      <p:sp>
        <p:nvSpPr>
          <p:cNvPr id="3" name="Marcador de contenido 2"/>
          <p:cNvSpPr>
            <a:spLocks noGrp="1"/>
          </p:cNvSpPr>
          <p:nvPr>
            <p:ph idx="1"/>
          </p:nvPr>
        </p:nvSpPr>
        <p:spPr/>
        <p:txBody>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a:p>
        </p:txBody>
      </p:sp>
      <p:sp>
        <p:nvSpPr>
          <p:cNvPr id="4" name="Marcador de fecha 3"/>
          <p:cNvSpPr>
            <a:spLocks noGrp="1"/>
          </p:cNvSpPr>
          <p:nvPr>
            <p:ph type="dt" sz="half" idx="10"/>
          </p:nvPr>
        </p:nvSpPr>
        <p:spPr/>
        <p:txBody>
          <a:bodyPr/>
          <a:lstStyle/>
          <a:p>
            <a:fld id="{39CC7AE2-60BB-4D63-883A-F19CE71763D6}" type="datetimeFigureOut">
              <a:rPr lang="en-US" smtClean="0"/>
              <a:t>1/20/2025</a:t>
            </a:fld>
            <a:endParaRPr lang="en-US"/>
          </a:p>
        </p:txBody>
      </p:sp>
      <p:sp>
        <p:nvSpPr>
          <p:cNvPr id="5" name="Marcador de pie de página 4"/>
          <p:cNvSpPr>
            <a:spLocks noGrp="1"/>
          </p:cNvSpPr>
          <p:nvPr>
            <p:ph type="ftr" sz="quarter" idx="11"/>
          </p:nvPr>
        </p:nvSpPr>
        <p:spPr/>
        <p:txBody>
          <a:bodyPr/>
          <a:lstStyle/>
          <a:p>
            <a:endParaRPr lang="en-US"/>
          </a:p>
        </p:txBody>
      </p:sp>
      <p:sp>
        <p:nvSpPr>
          <p:cNvPr id="6" name="Marcador de número de diapositiva 5"/>
          <p:cNvSpPr>
            <a:spLocks noGrp="1"/>
          </p:cNvSpPr>
          <p:nvPr>
            <p:ph type="sldNum" sz="quarter" idx="12"/>
          </p:nvPr>
        </p:nvSpPr>
        <p:spPr/>
        <p:txBody>
          <a:bodyPr/>
          <a:lstStyle/>
          <a:p>
            <a:fld id="{74463F35-EF24-4E97-B901-88CB07C8C120}" type="slidenum">
              <a:rPr lang="en-US" smtClean="0"/>
              <a:t>‹Nº›</a:t>
            </a:fld>
            <a:endParaRPr lang="en-US"/>
          </a:p>
        </p:txBody>
      </p:sp>
    </p:spTree>
    <p:extLst>
      <p:ext uri="{BB962C8B-B14F-4D97-AF65-F5344CB8AC3E}">
        <p14:creationId xmlns:p14="http://schemas.microsoft.com/office/powerpoint/2010/main" val="416043584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p:cNvSpPr>
            <a:spLocks noGrp="1"/>
          </p:cNvSpPr>
          <p:nvPr>
            <p:ph type="title"/>
          </p:nvPr>
        </p:nvSpPr>
        <p:spPr>
          <a:xfrm>
            <a:off x="831850" y="1709738"/>
            <a:ext cx="10515600" cy="2852737"/>
          </a:xfrm>
        </p:spPr>
        <p:txBody>
          <a:bodyPr anchor="b"/>
          <a:lstStyle>
            <a:lvl1pPr>
              <a:defRPr sz="6000"/>
            </a:lvl1pPr>
          </a:lstStyle>
          <a:p>
            <a:r>
              <a:rPr lang="es-ES" smtClean="0"/>
              <a:t>Haga clic para modificar el estilo de título del patrón</a:t>
            </a:r>
            <a:endParaRPr lang="en-US"/>
          </a:p>
        </p:txBody>
      </p:sp>
      <p:sp>
        <p:nvSpPr>
          <p:cNvPr id="3" name="Marcador de texto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smtClean="0"/>
              <a:t>Editar el estilo de texto del patrón</a:t>
            </a:r>
          </a:p>
        </p:txBody>
      </p:sp>
      <p:sp>
        <p:nvSpPr>
          <p:cNvPr id="4" name="Marcador de fecha 3"/>
          <p:cNvSpPr>
            <a:spLocks noGrp="1"/>
          </p:cNvSpPr>
          <p:nvPr>
            <p:ph type="dt" sz="half" idx="10"/>
          </p:nvPr>
        </p:nvSpPr>
        <p:spPr/>
        <p:txBody>
          <a:bodyPr/>
          <a:lstStyle/>
          <a:p>
            <a:fld id="{39CC7AE2-60BB-4D63-883A-F19CE71763D6}" type="datetimeFigureOut">
              <a:rPr lang="en-US" smtClean="0"/>
              <a:t>1/20/2025</a:t>
            </a:fld>
            <a:endParaRPr lang="en-US"/>
          </a:p>
        </p:txBody>
      </p:sp>
      <p:sp>
        <p:nvSpPr>
          <p:cNvPr id="5" name="Marcador de pie de página 4"/>
          <p:cNvSpPr>
            <a:spLocks noGrp="1"/>
          </p:cNvSpPr>
          <p:nvPr>
            <p:ph type="ftr" sz="quarter" idx="11"/>
          </p:nvPr>
        </p:nvSpPr>
        <p:spPr/>
        <p:txBody>
          <a:bodyPr/>
          <a:lstStyle/>
          <a:p>
            <a:endParaRPr lang="en-US"/>
          </a:p>
        </p:txBody>
      </p:sp>
      <p:sp>
        <p:nvSpPr>
          <p:cNvPr id="6" name="Marcador de número de diapositiva 5"/>
          <p:cNvSpPr>
            <a:spLocks noGrp="1"/>
          </p:cNvSpPr>
          <p:nvPr>
            <p:ph type="sldNum" sz="quarter" idx="12"/>
          </p:nvPr>
        </p:nvSpPr>
        <p:spPr/>
        <p:txBody>
          <a:bodyPr/>
          <a:lstStyle/>
          <a:p>
            <a:fld id="{74463F35-EF24-4E97-B901-88CB07C8C120}" type="slidenum">
              <a:rPr lang="en-US" smtClean="0"/>
              <a:t>‹Nº›</a:t>
            </a:fld>
            <a:endParaRPr lang="en-US"/>
          </a:p>
        </p:txBody>
      </p:sp>
    </p:spTree>
    <p:extLst>
      <p:ext uri="{BB962C8B-B14F-4D97-AF65-F5344CB8AC3E}">
        <p14:creationId xmlns:p14="http://schemas.microsoft.com/office/powerpoint/2010/main" val="30277667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smtClean="0"/>
              <a:t>Haga clic para modificar el estilo de título del patrón</a:t>
            </a:r>
            <a:endParaRPr lang="en-US"/>
          </a:p>
        </p:txBody>
      </p:sp>
      <p:sp>
        <p:nvSpPr>
          <p:cNvPr id="3" name="Marcador de contenido 2"/>
          <p:cNvSpPr>
            <a:spLocks noGrp="1"/>
          </p:cNvSpPr>
          <p:nvPr>
            <p:ph sz="half" idx="1"/>
          </p:nvPr>
        </p:nvSpPr>
        <p:spPr>
          <a:xfrm>
            <a:off x="838200" y="1825625"/>
            <a:ext cx="5181600" cy="4351338"/>
          </a:xfrm>
        </p:spPr>
        <p:txBody>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a:p>
        </p:txBody>
      </p:sp>
      <p:sp>
        <p:nvSpPr>
          <p:cNvPr id="4" name="Marcador de contenido 3"/>
          <p:cNvSpPr>
            <a:spLocks noGrp="1"/>
          </p:cNvSpPr>
          <p:nvPr>
            <p:ph sz="half" idx="2"/>
          </p:nvPr>
        </p:nvSpPr>
        <p:spPr>
          <a:xfrm>
            <a:off x="6172200" y="1825625"/>
            <a:ext cx="5181600" cy="4351338"/>
          </a:xfrm>
        </p:spPr>
        <p:txBody>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a:p>
        </p:txBody>
      </p:sp>
      <p:sp>
        <p:nvSpPr>
          <p:cNvPr id="5" name="Marcador de fecha 4"/>
          <p:cNvSpPr>
            <a:spLocks noGrp="1"/>
          </p:cNvSpPr>
          <p:nvPr>
            <p:ph type="dt" sz="half" idx="10"/>
          </p:nvPr>
        </p:nvSpPr>
        <p:spPr/>
        <p:txBody>
          <a:bodyPr/>
          <a:lstStyle/>
          <a:p>
            <a:fld id="{39CC7AE2-60BB-4D63-883A-F19CE71763D6}" type="datetimeFigureOut">
              <a:rPr lang="en-US" smtClean="0"/>
              <a:t>1/20/2025</a:t>
            </a:fld>
            <a:endParaRPr lang="en-US"/>
          </a:p>
        </p:txBody>
      </p:sp>
      <p:sp>
        <p:nvSpPr>
          <p:cNvPr id="6" name="Marcador de pie de página 5"/>
          <p:cNvSpPr>
            <a:spLocks noGrp="1"/>
          </p:cNvSpPr>
          <p:nvPr>
            <p:ph type="ftr" sz="quarter" idx="11"/>
          </p:nvPr>
        </p:nvSpPr>
        <p:spPr/>
        <p:txBody>
          <a:bodyPr/>
          <a:lstStyle/>
          <a:p>
            <a:endParaRPr lang="en-US"/>
          </a:p>
        </p:txBody>
      </p:sp>
      <p:sp>
        <p:nvSpPr>
          <p:cNvPr id="7" name="Marcador de número de diapositiva 6"/>
          <p:cNvSpPr>
            <a:spLocks noGrp="1"/>
          </p:cNvSpPr>
          <p:nvPr>
            <p:ph type="sldNum" sz="quarter" idx="12"/>
          </p:nvPr>
        </p:nvSpPr>
        <p:spPr/>
        <p:txBody>
          <a:bodyPr/>
          <a:lstStyle/>
          <a:p>
            <a:fld id="{74463F35-EF24-4E97-B901-88CB07C8C120}" type="slidenum">
              <a:rPr lang="en-US" smtClean="0"/>
              <a:t>‹Nº›</a:t>
            </a:fld>
            <a:endParaRPr lang="en-US"/>
          </a:p>
        </p:txBody>
      </p:sp>
    </p:spTree>
    <p:extLst>
      <p:ext uri="{BB962C8B-B14F-4D97-AF65-F5344CB8AC3E}">
        <p14:creationId xmlns:p14="http://schemas.microsoft.com/office/powerpoint/2010/main" val="4888580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p:cNvSpPr>
            <a:spLocks noGrp="1"/>
          </p:cNvSpPr>
          <p:nvPr>
            <p:ph type="title"/>
          </p:nvPr>
        </p:nvSpPr>
        <p:spPr>
          <a:xfrm>
            <a:off x="839788" y="365125"/>
            <a:ext cx="10515600" cy="1325563"/>
          </a:xfrm>
        </p:spPr>
        <p:txBody>
          <a:bodyPr/>
          <a:lstStyle/>
          <a:p>
            <a:r>
              <a:rPr lang="es-ES" smtClean="0"/>
              <a:t>Haga clic para modificar el estilo de título del patrón</a:t>
            </a:r>
            <a:endParaRPr lang="en-US"/>
          </a:p>
        </p:txBody>
      </p:sp>
      <p:sp>
        <p:nvSpPr>
          <p:cNvPr id="3" name="Marcador de texto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Editar el estilo de texto del patrón</a:t>
            </a:r>
          </a:p>
        </p:txBody>
      </p:sp>
      <p:sp>
        <p:nvSpPr>
          <p:cNvPr id="4" name="Marcador de contenido 3"/>
          <p:cNvSpPr>
            <a:spLocks noGrp="1"/>
          </p:cNvSpPr>
          <p:nvPr>
            <p:ph sz="half" idx="2"/>
          </p:nvPr>
        </p:nvSpPr>
        <p:spPr>
          <a:xfrm>
            <a:off x="839788" y="2505075"/>
            <a:ext cx="5157787" cy="3684588"/>
          </a:xfrm>
        </p:spPr>
        <p:txBody>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a:p>
        </p:txBody>
      </p:sp>
      <p:sp>
        <p:nvSpPr>
          <p:cNvPr id="5" name="Marcador de texto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Editar el estilo de texto del patrón</a:t>
            </a:r>
          </a:p>
        </p:txBody>
      </p:sp>
      <p:sp>
        <p:nvSpPr>
          <p:cNvPr id="6" name="Marcador de contenido 5"/>
          <p:cNvSpPr>
            <a:spLocks noGrp="1"/>
          </p:cNvSpPr>
          <p:nvPr>
            <p:ph sz="quarter" idx="4"/>
          </p:nvPr>
        </p:nvSpPr>
        <p:spPr>
          <a:xfrm>
            <a:off x="6172200" y="2505075"/>
            <a:ext cx="5183188" cy="3684588"/>
          </a:xfrm>
        </p:spPr>
        <p:txBody>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a:p>
        </p:txBody>
      </p:sp>
      <p:sp>
        <p:nvSpPr>
          <p:cNvPr id="7" name="Marcador de fecha 6"/>
          <p:cNvSpPr>
            <a:spLocks noGrp="1"/>
          </p:cNvSpPr>
          <p:nvPr>
            <p:ph type="dt" sz="half" idx="10"/>
          </p:nvPr>
        </p:nvSpPr>
        <p:spPr/>
        <p:txBody>
          <a:bodyPr/>
          <a:lstStyle/>
          <a:p>
            <a:fld id="{39CC7AE2-60BB-4D63-883A-F19CE71763D6}" type="datetimeFigureOut">
              <a:rPr lang="en-US" smtClean="0"/>
              <a:t>1/20/2025</a:t>
            </a:fld>
            <a:endParaRPr lang="en-US"/>
          </a:p>
        </p:txBody>
      </p:sp>
      <p:sp>
        <p:nvSpPr>
          <p:cNvPr id="8" name="Marcador de pie de página 7"/>
          <p:cNvSpPr>
            <a:spLocks noGrp="1"/>
          </p:cNvSpPr>
          <p:nvPr>
            <p:ph type="ftr" sz="quarter" idx="11"/>
          </p:nvPr>
        </p:nvSpPr>
        <p:spPr/>
        <p:txBody>
          <a:bodyPr/>
          <a:lstStyle/>
          <a:p>
            <a:endParaRPr lang="en-US"/>
          </a:p>
        </p:txBody>
      </p:sp>
      <p:sp>
        <p:nvSpPr>
          <p:cNvPr id="9" name="Marcador de número de diapositiva 8"/>
          <p:cNvSpPr>
            <a:spLocks noGrp="1"/>
          </p:cNvSpPr>
          <p:nvPr>
            <p:ph type="sldNum" sz="quarter" idx="12"/>
          </p:nvPr>
        </p:nvSpPr>
        <p:spPr/>
        <p:txBody>
          <a:bodyPr/>
          <a:lstStyle/>
          <a:p>
            <a:fld id="{74463F35-EF24-4E97-B901-88CB07C8C120}" type="slidenum">
              <a:rPr lang="en-US" smtClean="0"/>
              <a:t>‹Nº›</a:t>
            </a:fld>
            <a:endParaRPr lang="en-US"/>
          </a:p>
        </p:txBody>
      </p:sp>
    </p:spTree>
    <p:extLst>
      <p:ext uri="{BB962C8B-B14F-4D97-AF65-F5344CB8AC3E}">
        <p14:creationId xmlns:p14="http://schemas.microsoft.com/office/powerpoint/2010/main" val="35784777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smtClean="0"/>
              <a:t>Haga clic para modificar el estilo de título del patrón</a:t>
            </a:r>
            <a:endParaRPr lang="en-US"/>
          </a:p>
        </p:txBody>
      </p:sp>
      <p:sp>
        <p:nvSpPr>
          <p:cNvPr id="3" name="Marcador de fecha 2"/>
          <p:cNvSpPr>
            <a:spLocks noGrp="1"/>
          </p:cNvSpPr>
          <p:nvPr>
            <p:ph type="dt" sz="half" idx="10"/>
          </p:nvPr>
        </p:nvSpPr>
        <p:spPr/>
        <p:txBody>
          <a:bodyPr/>
          <a:lstStyle/>
          <a:p>
            <a:fld id="{39CC7AE2-60BB-4D63-883A-F19CE71763D6}" type="datetimeFigureOut">
              <a:rPr lang="en-US" smtClean="0"/>
              <a:t>1/20/2025</a:t>
            </a:fld>
            <a:endParaRPr lang="en-US"/>
          </a:p>
        </p:txBody>
      </p:sp>
      <p:sp>
        <p:nvSpPr>
          <p:cNvPr id="4" name="Marcador de pie de página 3"/>
          <p:cNvSpPr>
            <a:spLocks noGrp="1"/>
          </p:cNvSpPr>
          <p:nvPr>
            <p:ph type="ftr" sz="quarter" idx="11"/>
          </p:nvPr>
        </p:nvSpPr>
        <p:spPr/>
        <p:txBody>
          <a:bodyPr/>
          <a:lstStyle/>
          <a:p>
            <a:endParaRPr lang="en-US"/>
          </a:p>
        </p:txBody>
      </p:sp>
      <p:sp>
        <p:nvSpPr>
          <p:cNvPr id="5" name="Marcador de número de diapositiva 4"/>
          <p:cNvSpPr>
            <a:spLocks noGrp="1"/>
          </p:cNvSpPr>
          <p:nvPr>
            <p:ph type="sldNum" sz="quarter" idx="12"/>
          </p:nvPr>
        </p:nvSpPr>
        <p:spPr/>
        <p:txBody>
          <a:bodyPr/>
          <a:lstStyle/>
          <a:p>
            <a:fld id="{74463F35-EF24-4E97-B901-88CB07C8C120}" type="slidenum">
              <a:rPr lang="en-US" smtClean="0"/>
              <a:t>‹Nº›</a:t>
            </a:fld>
            <a:endParaRPr lang="en-US"/>
          </a:p>
        </p:txBody>
      </p:sp>
    </p:spTree>
    <p:extLst>
      <p:ext uri="{BB962C8B-B14F-4D97-AF65-F5344CB8AC3E}">
        <p14:creationId xmlns:p14="http://schemas.microsoft.com/office/powerpoint/2010/main" val="36472206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p:cNvSpPr>
            <a:spLocks noGrp="1"/>
          </p:cNvSpPr>
          <p:nvPr>
            <p:ph type="dt" sz="half" idx="10"/>
          </p:nvPr>
        </p:nvSpPr>
        <p:spPr/>
        <p:txBody>
          <a:bodyPr/>
          <a:lstStyle/>
          <a:p>
            <a:fld id="{39CC7AE2-60BB-4D63-883A-F19CE71763D6}" type="datetimeFigureOut">
              <a:rPr lang="en-US" smtClean="0"/>
              <a:t>1/20/2025</a:t>
            </a:fld>
            <a:endParaRPr lang="en-US"/>
          </a:p>
        </p:txBody>
      </p:sp>
      <p:sp>
        <p:nvSpPr>
          <p:cNvPr id="3" name="Marcador de pie de página 2"/>
          <p:cNvSpPr>
            <a:spLocks noGrp="1"/>
          </p:cNvSpPr>
          <p:nvPr>
            <p:ph type="ftr" sz="quarter" idx="11"/>
          </p:nvPr>
        </p:nvSpPr>
        <p:spPr/>
        <p:txBody>
          <a:bodyPr/>
          <a:lstStyle/>
          <a:p>
            <a:endParaRPr lang="en-US"/>
          </a:p>
        </p:txBody>
      </p:sp>
      <p:sp>
        <p:nvSpPr>
          <p:cNvPr id="4" name="Marcador de número de diapositiva 3"/>
          <p:cNvSpPr>
            <a:spLocks noGrp="1"/>
          </p:cNvSpPr>
          <p:nvPr>
            <p:ph type="sldNum" sz="quarter" idx="12"/>
          </p:nvPr>
        </p:nvSpPr>
        <p:spPr/>
        <p:txBody>
          <a:bodyPr/>
          <a:lstStyle/>
          <a:p>
            <a:fld id="{74463F35-EF24-4E97-B901-88CB07C8C120}" type="slidenum">
              <a:rPr lang="en-US" smtClean="0"/>
              <a:t>‹Nº›</a:t>
            </a:fld>
            <a:endParaRPr lang="en-US"/>
          </a:p>
        </p:txBody>
      </p:sp>
    </p:spTree>
    <p:extLst>
      <p:ext uri="{BB962C8B-B14F-4D97-AF65-F5344CB8AC3E}">
        <p14:creationId xmlns:p14="http://schemas.microsoft.com/office/powerpoint/2010/main" val="2461385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smtClean="0"/>
              <a:t>Haga clic para modificar el estilo de título del patrón</a:t>
            </a:r>
            <a:endParaRPr lang="en-US"/>
          </a:p>
        </p:txBody>
      </p:sp>
      <p:sp>
        <p:nvSpPr>
          <p:cNvPr id="3" name="Marcador de contenido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smtClean="0"/>
              <a:t>Editar el estilo de texto del patrón</a:t>
            </a:r>
          </a:p>
        </p:txBody>
      </p:sp>
      <p:sp>
        <p:nvSpPr>
          <p:cNvPr id="5" name="Marcador de fecha 4"/>
          <p:cNvSpPr>
            <a:spLocks noGrp="1"/>
          </p:cNvSpPr>
          <p:nvPr>
            <p:ph type="dt" sz="half" idx="10"/>
          </p:nvPr>
        </p:nvSpPr>
        <p:spPr/>
        <p:txBody>
          <a:bodyPr/>
          <a:lstStyle/>
          <a:p>
            <a:fld id="{39CC7AE2-60BB-4D63-883A-F19CE71763D6}" type="datetimeFigureOut">
              <a:rPr lang="en-US" smtClean="0"/>
              <a:t>1/20/2025</a:t>
            </a:fld>
            <a:endParaRPr lang="en-US"/>
          </a:p>
        </p:txBody>
      </p:sp>
      <p:sp>
        <p:nvSpPr>
          <p:cNvPr id="6" name="Marcador de pie de página 5"/>
          <p:cNvSpPr>
            <a:spLocks noGrp="1"/>
          </p:cNvSpPr>
          <p:nvPr>
            <p:ph type="ftr" sz="quarter" idx="11"/>
          </p:nvPr>
        </p:nvSpPr>
        <p:spPr/>
        <p:txBody>
          <a:bodyPr/>
          <a:lstStyle/>
          <a:p>
            <a:endParaRPr lang="en-US"/>
          </a:p>
        </p:txBody>
      </p:sp>
      <p:sp>
        <p:nvSpPr>
          <p:cNvPr id="7" name="Marcador de número de diapositiva 6"/>
          <p:cNvSpPr>
            <a:spLocks noGrp="1"/>
          </p:cNvSpPr>
          <p:nvPr>
            <p:ph type="sldNum" sz="quarter" idx="12"/>
          </p:nvPr>
        </p:nvSpPr>
        <p:spPr/>
        <p:txBody>
          <a:bodyPr/>
          <a:lstStyle/>
          <a:p>
            <a:fld id="{74463F35-EF24-4E97-B901-88CB07C8C120}" type="slidenum">
              <a:rPr lang="en-US" smtClean="0"/>
              <a:t>‹Nº›</a:t>
            </a:fld>
            <a:endParaRPr lang="en-US"/>
          </a:p>
        </p:txBody>
      </p:sp>
    </p:spTree>
    <p:extLst>
      <p:ext uri="{BB962C8B-B14F-4D97-AF65-F5344CB8AC3E}">
        <p14:creationId xmlns:p14="http://schemas.microsoft.com/office/powerpoint/2010/main" val="42551751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smtClean="0"/>
              <a:t>Haga clic para modificar el estilo de título del patrón</a:t>
            </a:r>
            <a:endParaRPr lang="en-US"/>
          </a:p>
        </p:txBody>
      </p:sp>
      <p:sp>
        <p:nvSpPr>
          <p:cNvPr id="3" name="Marcador de posición de imagen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smtClean="0"/>
              <a:t>Editar el estilo de texto del patrón</a:t>
            </a:r>
          </a:p>
        </p:txBody>
      </p:sp>
      <p:sp>
        <p:nvSpPr>
          <p:cNvPr id="5" name="Marcador de fecha 4"/>
          <p:cNvSpPr>
            <a:spLocks noGrp="1"/>
          </p:cNvSpPr>
          <p:nvPr>
            <p:ph type="dt" sz="half" idx="10"/>
          </p:nvPr>
        </p:nvSpPr>
        <p:spPr/>
        <p:txBody>
          <a:bodyPr/>
          <a:lstStyle/>
          <a:p>
            <a:fld id="{39CC7AE2-60BB-4D63-883A-F19CE71763D6}" type="datetimeFigureOut">
              <a:rPr lang="en-US" smtClean="0"/>
              <a:t>1/20/2025</a:t>
            </a:fld>
            <a:endParaRPr lang="en-US"/>
          </a:p>
        </p:txBody>
      </p:sp>
      <p:sp>
        <p:nvSpPr>
          <p:cNvPr id="6" name="Marcador de pie de página 5"/>
          <p:cNvSpPr>
            <a:spLocks noGrp="1"/>
          </p:cNvSpPr>
          <p:nvPr>
            <p:ph type="ftr" sz="quarter" idx="11"/>
          </p:nvPr>
        </p:nvSpPr>
        <p:spPr/>
        <p:txBody>
          <a:bodyPr/>
          <a:lstStyle/>
          <a:p>
            <a:endParaRPr lang="en-US"/>
          </a:p>
        </p:txBody>
      </p:sp>
      <p:sp>
        <p:nvSpPr>
          <p:cNvPr id="7" name="Marcador de número de diapositiva 6"/>
          <p:cNvSpPr>
            <a:spLocks noGrp="1"/>
          </p:cNvSpPr>
          <p:nvPr>
            <p:ph type="sldNum" sz="quarter" idx="12"/>
          </p:nvPr>
        </p:nvSpPr>
        <p:spPr/>
        <p:txBody>
          <a:bodyPr/>
          <a:lstStyle/>
          <a:p>
            <a:fld id="{74463F35-EF24-4E97-B901-88CB07C8C120}" type="slidenum">
              <a:rPr lang="en-US" smtClean="0"/>
              <a:t>‹Nº›</a:t>
            </a:fld>
            <a:endParaRPr lang="en-US"/>
          </a:p>
        </p:txBody>
      </p:sp>
    </p:spTree>
    <p:extLst>
      <p:ext uri="{BB962C8B-B14F-4D97-AF65-F5344CB8AC3E}">
        <p14:creationId xmlns:p14="http://schemas.microsoft.com/office/powerpoint/2010/main" val="19091488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smtClean="0"/>
              <a:t>Haga clic para modificar el estilo de título del patrón</a:t>
            </a:r>
            <a:endParaRPr lang="en-US"/>
          </a:p>
        </p:txBody>
      </p:sp>
      <p:sp>
        <p:nvSpPr>
          <p:cNvPr id="3" name="Marcador de texto vertical 2"/>
          <p:cNvSpPr>
            <a:spLocks noGrp="1"/>
          </p:cNvSpPr>
          <p:nvPr>
            <p:ph type="body" orient="vert" idx="1"/>
          </p:nvPr>
        </p:nvSpPr>
        <p:spPr/>
        <p:txBody>
          <a:bodyPr vert="eaVert"/>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a:p>
        </p:txBody>
      </p:sp>
      <p:sp>
        <p:nvSpPr>
          <p:cNvPr id="4" name="Marcador de fecha 3"/>
          <p:cNvSpPr>
            <a:spLocks noGrp="1"/>
          </p:cNvSpPr>
          <p:nvPr>
            <p:ph type="dt" sz="half" idx="10"/>
          </p:nvPr>
        </p:nvSpPr>
        <p:spPr/>
        <p:txBody>
          <a:bodyPr/>
          <a:lstStyle/>
          <a:p>
            <a:fld id="{39CC7AE2-60BB-4D63-883A-F19CE71763D6}" type="datetimeFigureOut">
              <a:rPr lang="en-US" smtClean="0"/>
              <a:t>1/20/2025</a:t>
            </a:fld>
            <a:endParaRPr lang="en-US"/>
          </a:p>
        </p:txBody>
      </p:sp>
      <p:sp>
        <p:nvSpPr>
          <p:cNvPr id="5" name="Marcador de pie de página 4"/>
          <p:cNvSpPr>
            <a:spLocks noGrp="1"/>
          </p:cNvSpPr>
          <p:nvPr>
            <p:ph type="ftr" sz="quarter" idx="11"/>
          </p:nvPr>
        </p:nvSpPr>
        <p:spPr/>
        <p:txBody>
          <a:bodyPr/>
          <a:lstStyle/>
          <a:p>
            <a:endParaRPr lang="en-US"/>
          </a:p>
        </p:txBody>
      </p:sp>
      <p:sp>
        <p:nvSpPr>
          <p:cNvPr id="6" name="Marcador de número de diapositiva 5"/>
          <p:cNvSpPr>
            <a:spLocks noGrp="1"/>
          </p:cNvSpPr>
          <p:nvPr>
            <p:ph type="sldNum" sz="quarter" idx="12"/>
          </p:nvPr>
        </p:nvSpPr>
        <p:spPr/>
        <p:txBody>
          <a:bodyPr/>
          <a:lstStyle/>
          <a:p>
            <a:fld id="{74463F35-EF24-4E97-B901-88CB07C8C120}" type="slidenum">
              <a:rPr lang="en-US" smtClean="0"/>
              <a:t>‹Nº›</a:t>
            </a:fld>
            <a:endParaRPr lang="en-US"/>
          </a:p>
        </p:txBody>
      </p:sp>
    </p:spTree>
    <p:extLst>
      <p:ext uri="{BB962C8B-B14F-4D97-AF65-F5344CB8AC3E}">
        <p14:creationId xmlns:p14="http://schemas.microsoft.com/office/powerpoint/2010/main" val="40553333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8724900" y="365125"/>
            <a:ext cx="2628900" cy="5811838"/>
          </a:xfrm>
        </p:spPr>
        <p:txBody>
          <a:bodyPr vert="eaVert"/>
          <a:lstStyle/>
          <a:p>
            <a:r>
              <a:rPr lang="es-ES" smtClean="0"/>
              <a:t>Haga clic para modificar el estilo de título del patrón</a:t>
            </a:r>
            <a:endParaRPr lang="en-US"/>
          </a:p>
        </p:txBody>
      </p:sp>
      <p:sp>
        <p:nvSpPr>
          <p:cNvPr id="3" name="Marcador de texto vertical 2"/>
          <p:cNvSpPr>
            <a:spLocks noGrp="1"/>
          </p:cNvSpPr>
          <p:nvPr>
            <p:ph type="body" orient="vert" idx="1"/>
          </p:nvPr>
        </p:nvSpPr>
        <p:spPr>
          <a:xfrm>
            <a:off x="838200" y="365125"/>
            <a:ext cx="7734300" cy="5811838"/>
          </a:xfrm>
        </p:spPr>
        <p:txBody>
          <a:bodyPr vert="eaVert"/>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a:p>
        </p:txBody>
      </p:sp>
      <p:sp>
        <p:nvSpPr>
          <p:cNvPr id="4" name="Marcador de fecha 3"/>
          <p:cNvSpPr>
            <a:spLocks noGrp="1"/>
          </p:cNvSpPr>
          <p:nvPr>
            <p:ph type="dt" sz="half" idx="10"/>
          </p:nvPr>
        </p:nvSpPr>
        <p:spPr/>
        <p:txBody>
          <a:bodyPr/>
          <a:lstStyle/>
          <a:p>
            <a:fld id="{39CC7AE2-60BB-4D63-883A-F19CE71763D6}" type="datetimeFigureOut">
              <a:rPr lang="en-US" smtClean="0"/>
              <a:t>1/20/2025</a:t>
            </a:fld>
            <a:endParaRPr lang="en-US"/>
          </a:p>
        </p:txBody>
      </p:sp>
      <p:sp>
        <p:nvSpPr>
          <p:cNvPr id="5" name="Marcador de pie de página 4"/>
          <p:cNvSpPr>
            <a:spLocks noGrp="1"/>
          </p:cNvSpPr>
          <p:nvPr>
            <p:ph type="ftr" sz="quarter" idx="11"/>
          </p:nvPr>
        </p:nvSpPr>
        <p:spPr/>
        <p:txBody>
          <a:bodyPr/>
          <a:lstStyle/>
          <a:p>
            <a:endParaRPr lang="en-US"/>
          </a:p>
        </p:txBody>
      </p:sp>
      <p:sp>
        <p:nvSpPr>
          <p:cNvPr id="6" name="Marcador de número de diapositiva 5"/>
          <p:cNvSpPr>
            <a:spLocks noGrp="1"/>
          </p:cNvSpPr>
          <p:nvPr>
            <p:ph type="sldNum" sz="quarter" idx="12"/>
          </p:nvPr>
        </p:nvSpPr>
        <p:spPr/>
        <p:txBody>
          <a:bodyPr/>
          <a:lstStyle/>
          <a:p>
            <a:fld id="{74463F35-EF24-4E97-B901-88CB07C8C120}" type="slidenum">
              <a:rPr lang="en-US" smtClean="0"/>
              <a:t>‹Nº›</a:t>
            </a:fld>
            <a:endParaRPr lang="en-US"/>
          </a:p>
        </p:txBody>
      </p:sp>
    </p:spTree>
    <p:extLst>
      <p:ext uri="{BB962C8B-B14F-4D97-AF65-F5344CB8AC3E}">
        <p14:creationId xmlns:p14="http://schemas.microsoft.com/office/powerpoint/2010/main" val="5705024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smtClean="0"/>
              <a:t>Haga clic para modificar el estilo de título del patrón</a:t>
            </a:r>
            <a:endParaRPr lang="en-US"/>
          </a:p>
        </p:txBody>
      </p:sp>
      <p:sp>
        <p:nvSpPr>
          <p:cNvPr id="3" name="Marcador de texto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a:p>
        </p:txBody>
      </p:sp>
      <p:sp>
        <p:nvSpPr>
          <p:cNvPr id="4" name="Marcador de fecha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9CC7AE2-60BB-4D63-883A-F19CE71763D6}" type="datetimeFigureOut">
              <a:rPr lang="en-US" smtClean="0"/>
              <a:t>1/20/2025</a:t>
            </a:fld>
            <a:endParaRPr lang="en-US"/>
          </a:p>
        </p:txBody>
      </p:sp>
      <p:sp>
        <p:nvSpPr>
          <p:cNvPr id="5" name="Marcador de pie de página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Marcador de número de diapositiva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4463F35-EF24-4E97-B901-88CB07C8C120}" type="slidenum">
              <a:rPr lang="en-US" smtClean="0"/>
              <a:t>‹Nº›</a:t>
            </a:fld>
            <a:endParaRPr lang="en-US"/>
          </a:p>
        </p:txBody>
      </p:sp>
    </p:spTree>
    <p:extLst>
      <p:ext uri="{BB962C8B-B14F-4D97-AF65-F5344CB8AC3E}">
        <p14:creationId xmlns:p14="http://schemas.microsoft.com/office/powerpoint/2010/main" val="352853148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6.gif"/><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hyperlink" Target="https://learnsql.es/blog/que-es-un-dialecto-sql-y-cual-deberia-aprender/" TargetMode="Externa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p:txBody>
          <a:bodyPr/>
          <a:lstStyle/>
          <a:p>
            <a:r>
              <a:rPr lang="es-PE" dirty="0" smtClean="0"/>
              <a:t>BASE DE DATOS</a:t>
            </a:r>
            <a:endParaRPr lang="en-US" dirty="0"/>
          </a:p>
        </p:txBody>
      </p:sp>
      <p:sp>
        <p:nvSpPr>
          <p:cNvPr id="3" name="Subtítulo 2"/>
          <p:cNvSpPr>
            <a:spLocks noGrp="1"/>
          </p:cNvSpPr>
          <p:nvPr>
            <p:ph type="subTitle" idx="1"/>
          </p:nvPr>
        </p:nvSpPr>
        <p:spPr/>
        <p:txBody>
          <a:bodyPr/>
          <a:lstStyle/>
          <a:p>
            <a:r>
              <a:rPr lang="es-PE" dirty="0" smtClean="0"/>
              <a:t>SQL-SERVER</a:t>
            </a:r>
            <a:endParaRPr lang="en-US" dirty="0"/>
          </a:p>
        </p:txBody>
      </p:sp>
    </p:spTree>
    <p:extLst>
      <p:ext uri="{BB962C8B-B14F-4D97-AF65-F5344CB8AC3E}">
        <p14:creationId xmlns:p14="http://schemas.microsoft.com/office/powerpoint/2010/main" val="323429392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PE" dirty="0" smtClean="0"/>
              <a:t>¿Qué es una base de datos?</a:t>
            </a:r>
            <a:endParaRPr lang="en-US" dirty="0"/>
          </a:p>
        </p:txBody>
      </p:sp>
      <p:sp>
        <p:nvSpPr>
          <p:cNvPr id="3" name="Marcador de contenido 2"/>
          <p:cNvSpPr>
            <a:spLocks noGrp="1"/>
          </p:cNvSpPr>
          <p:nvPr>
            <p:ph idx="1"/>
          </p:nvPr>
        </p:nvSpPr>
        <p:spPr>
          <a:xfrm>
            <a:off x="838200" y="1825625"/>
            <a:ext cx="4595191" cy="3846305"/>
          </a:xfrm>
        </p:spPr>
        <p:txBody>
          <a:bodyPr>
            <a:normAutofit fontScale="70000" lnSpcReduction="20000"/>
          </a:bodyPr>
          <a:lstStyle/>
          <a:p>
            <a:pPr algn="just"/>
            <a:r>
              <a:rPr lang="es-MX" dirty="0"/>
              <a:t>Una Base de Datos (BD) es un “almacén” que nos permite</a:t>
            </a:r>
            <a:br>
              <a:rPr lang="es-MX" dirty="0"/>
            </a:br>
            <a:r>
              <a:rPr lang="es-MX" dirty="0"/>
              <a:t>guardar grandes cantidades de información de forma</a:t>
            </a:r>
            <a:br>
              <a:rPr lang="es-MX" dirty="0"/>
            </a:br>
            <a:r>
              <a:rPr lang="es-MX" dirty="0"/>
              <a:t>organizada, para que luego podamos encontrar y utilizar</a:t>
            </a:r>
            <a:br>
              <a:rPr lang="es-MX" dirty="0"/>
            </a:br>
            <a:r>
              <a:rPr lang="es-MX" dirty="0"/>
              <a:t>fácilmente</a:t>
            </a:r>
            <a:r>
              <a:rPr lang="es-MX" dirty="0" smtClean="0"/>
              <a:t>.</a:t>
            </a:r>
          </a:p>
          <a:p>
            <a:pPr algn="just"/>
            <a:r>
              <a:rPr lang="es-MX" dirty="0"/>
              <a:t>Conjunto de datos pertenecientes a un </a:t>
            </a:r>
            <a:r>
              <a:rPr lang="es-MX" dirty="0" smtClean="0"/>
              <a:t>mismo contexto y almacenados </a:t>
            </a:r>
            <a:r>
              <a:rPr lang="es-MX" dirty="0"/>
              <a:t>sistemáticamente para </a:t>
            </a:r>
            <a:r>
              <a:rPr lang="es-MX" dirty="0" smtClean="0"/>
              <a:t>su posterior </a:t>
            </a:r>
            <a:r>
              <a:rPr lang="es-MX" dirty="0"/>
              <a:t>uso</a:t>
            </a:r>
            <a:r>
              <a:rPr lang="es-MX" dirty="0" smtClean="0"/>
              <a:t>.</a:t>
            </a:r>
          </a:p>
          <a:p>
            <a:pPr algn="just"/>
            <a:r>
              <a:rPr lang="es-MX" dirty="0" smtClean="0"/>
              <a:t>Conjunto </a:t>
            </a:r>
            <a:r>
              <a:rPr lang="es-MX" dirty="0"/>
              <a:t>de datos ordenados, tales como </a:t>
            </a:r>
            <a:r>
              <a:rPr lang="es-MX" dirty="0" smtClean="0"/>
              <a:t>esquemas, tablas</a:t>
            </a:r>
            <a:r>
              <a:rPr lang="es-MX" dirty="0"/>
              <a:t>, consultas, reportes, vistas y otros objetos</a:t>
            </a:r>
            <a:r>
              <a:rPr lang="es-MX" dirty="0" smtClean="0"/>
              <a:t>.</a:t>
            </a:r>
            <a:r>
              <a:rPr lang="es-MX" dirty="0"/>
              <a:t/>
            </a:r>
            <a:br>
              <a:rPr lang="es-MX" dirty="0"/>
            </a:br>
            <a:endParaRPr lang="es-MX" dirty="0"/>
          </a:p>
          <a:p>
            <a:pPr marL="0" indent="0">
              <a:buNone/>
            </a:pPr>
            <a:endParaRPr lang="en-US" dirty="0"/>
          </a:p>
        </p:txBody>
      </p:sp>
      <p:pic>
        <p:nvPicPr>
          <p:cNvPr id="1026" name="Picture 2" descr="Qué es una Base de Datos? ¿para qué sirven? | Blog HN"/>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33922" y="2444749"/>
            <a:ext cx="5419878" cy="190196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7541569"/>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PE" dirty="0" smtClean="0"/>
              <a:t>BASE DE DATOS</a:t>
            </a:r>
            <a:endParaRPr lang="en-US" dirty="0"/>
          </a:p>
        </p:txBody>
      </p:sp>
      <p:sp>
        <p:nvSpPr>
          <p:cNvPr id="3" name="Marcador de contenido 2"/>
          <p:cNvSpPr>
            <a:spLocks noGrp="1"/>
          </p:cNvSpPr>
          <p:nvPr>
            <p:ph idx="1"/>
          </p:nvPr>
        </p:nvSpPr>
        <p:spPr>
          <a:xfrm>
            <a:off x="838200" y="1825625"/>
            <a:ext cx="4409661" cy="4323384"/>
          </a:xfrm>
        </p:spPr>
        <p:txBody>
          <a:bodyPr>
            <a:normAutofit fontScale="70000" lnSpcReduction="20000"/>
          </a:bodyPr>
          <a:lstStyle/>
          <a:p>
            <a:pPr marL="0" indent="0" algn="just">
              <a:buNone/>
            </a:pPr>
            <a:r>
              <a:rPr lang="es-MX" sz="3400" dirty="0"/>
              <a:t>Las bases de datos </a:t>
            </a:r>
            <a:r>
              <a:rPr lang="es-MX" sz="3400" b="1" dirty="0">
                <a:solidFill>
                  <a:srgbClr val="FF0000"/>
                </a:solidFill>
              </a:rPr>
              <a:t>relacionales y no relacionales </a:t>
            </a:r>
            <a:r>
              <a:rPr lang="es-MX" sz="3400" dirty="0"/>
              <a:t>son dos tipos de sistemas de gestión de bases de datos que se diferencian principalmente en la </a:t>
            </a:r>
            <a:r>
              <a:rPr lang="es-MX" sz="3400" b="1" dirty="0">
                <a:solidFill>
                  <a:srgbClr val="FF0000"/>
                </a:solidFill>
              </a:rPr>
              <a:t>manera en que almacenan y gestionan los datos.</a:t>
            </a:r>
            <a:r>
              <a:rPr lang="es-MX" sz="3400" dirty="0"/>
              <a:t> Aquí se detallan las características de cada uno</a:t>
            </a:r>
            <a:r>
              <a:rPr lang="es-MX" sz="3400" dirty="0" smtClean="0"/>
              <a:t>:</a:t>
            </a:r>
          </a:p>
          <a:p>
            <a:pPr marL="0" indent="0" algn="just">
              <a:buNone/>
            </a:pPr>
            <a:r>
              <a:rPr lang="es-MX" sz="3400" b="1" dirty="0"/>
              <a:t>Base de Datos Relacional</a:t>
            </a:r>
          </a:p>
          <a:p>
            <a:pPr algn="just"/>
            <a:r>
              <a:rPr lang="es-MX" sz="3400" b="1" dirty="0"/>
              <a:t>Definición</a:t>
            </a:r>
            <a:r>
              <a:rPr lang="es-MX" sz="3400" dirty="0"/>
              <a:t>: Una base de datos relacional (</a:t>
            </a:r>
            <a:r>
              <a:rPr lang="es-MX" sz="3400" b="1" dirty="0">
                <a:solidFill>
                  <a:srgbClr val="FF0000"/>
                </a:solidFill>
              </a:rPr>
              <a:t>RDBMS</a:t>
            </a:r>
            <a:r>
              <a:rPr lang="es-MX" sz="3400" dirty="0"/>
              <a:t>) almacena datos en tablas organizadas en </a:t>
            </a:r>
            <a:r>
              <a:rPr lang="es-MX" sz="3400" b="1" dirty="0">
                <a:solidFill>
                  <a:srgbClr val="FF0000"/>
                </a:solidFill>
              </a:rPr>
              <a:t>filas y columnas. </a:t>
            </a:r>
            <a:r>
              <a:rPr lang="es-MX" sz="3400" dirty="0"/>
              <a:t>Estas tablas pueden estar relacionadas entre sí mediante claves foráneas.</a:t>
            </a:r>
          </a:p>
          <a:p>
            <a:endParaRPr lang="en-US" dirty="0"/>
          </a:p>
        </p:txBody>
      </p:sp>
      <p:pic>
        <p:nvPicPr>
          <p:cNvPr id="7" name="Imagen 6"/>
          <p:cNvPicPr>
            <a:picLocks noChangeAspect="1"/>
          </p:cNvPicPr>
          <p:nvPr/>
        </p:nvPicPr>
        <p:blipFill>
          <a:blip r:embed="rId2"/>
          <a:stretch>
            <a:fillRect/>
          </a:stretch>
        </p:blipFill>
        <p:spPr>
          <a:xfrm>
            <a:off x="6096000" y="1825625"/>
            <a:ext cx="4691270" cy="4104861"/>
          </a:xfrm>
          <a:prstGeom prst="rect">
            <a:avLst/>
          </a:prstGeom>
        </p:spPr>
      </p:pic>
    </p:spTree>
    <p:extLst>
      <p:ext uri="{BB962C8B-B14F-4D97-AF65-F5344CB8AC3E}">
        <p14:creationId xmlns:p14="http://schemas.microsoft.com/office/powerpoint/2010/main" val="476500818"/>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PE" dirty="0" smtClean="0"/>
              <a:t>Base de datos Relacionales</a:t>
            </a:r>
            <a:endParaRPr lang="en-US" dirty="0"/>
          </a:p>
        </p:txBody>
      </p:sp>
      <p:sp>
        <p:nvSpPr>
          <p:cNvPr id="3" name="Marcador de contenido 2"/>
          <p:cNvSpPr>
            <a:spLocks noGrp="1"/>
          </p:cNvSpPr>
          <p:nvPr>
            <p:ph idx="1"/>
          </p:nvPr>
        </p:nvSpPr>
        <p:spPr/>
        <p:txBody>
          <a:bodyPr>
            <a:normAutofit fontScale="77500" lnSpcReduction="20000"/>
          </a:bodyPr>
          <a:lstStyle/>
          <a:p>
            <a:pPr marL="0" indent="0" algn="just">
              <a:buNone/>
            </a:pPr>
            <a:r>
              <a:rPr lang="es-MX" b="1" dirty="0"/>
              <a:t>Características Principales</a:t>
            </a:r>
            <a:r>
              <a:rPr lang="es-MX" dirty="0"/>
              <a:t>:</a:t>
            </a:r>
          </a:p>
          <a:p>
            <a:pPr algn="just"/>
            <a:r>
              <a:rPr lang="es-MX" b="1" dirty="0"/>
              <a:t>Estructura Tabular</a:t>
            </a:r>
            <a:r>
              <a:rPr lang="es-MX" dirty="0"/>
              <a:t>: Los datos se organizan en tablas con filas y columnas, donde cada fila </a:t>
            </a:r>
            <a:r>
              <a:rPr lang="es-MX" b="1" dirty="0">
                <a:solidFill>
                  <a:srgbClr val="FF0000"/>
                </a:solidFill>
              </a:rPr>
              <a:t>representa un registro </a:t>
            </a:r>
            <a:r>
              <a:rPr lang="es-MX" dirty="0"/>
              <a:t>y cada columna un atributo del registro.</a:t>
            </a:r>
          </a:p>
          <a:p>
            <a:pPr algn="just"/>
            <a:r>
              <a:rPr lang="es-MX" b="1" dirty="0"/>
              <a:t>Relaciones</a:t>
            </a:r>
            <a:r>
              <a:rPr lang="es-MX" dirty="0"/>
              <a:t>: Las tablas pueden relacionarse entre sí mediante </a:t>
            </a:r>
            <a:r>
              <a:rPr lang="es-MX" dirty="0">
                <a:solidFill>
                  <a:srgbClr val="FF0000"/>
                </a:solidFill>
              </a:rPr>
              <a:t>claves primarias y foráneas</a:t>
            </a:r>
            <a:r>
              <a:rPr lang="es-MX" dirty="0"/>
              <a:t>, permitiendo la integridad referencial y la eliminación de redundancias.</a:t>
            </a:r>
          </a:p>
          <a:p>
            <a:pPr algn="just"/>
            <a:r>
              <a:rPr lang="es-MX" b="1" dirty="0"/>
              <a:t>SQL (</a:t>
            </a:r>
            <a:r>
              <a:rPr lang="es-MX" b="1" dirty="0" err="1"/>
              <a:t>Structured</a:t>
            </a:r>
            <a:r>
              <a:rPr lang="es-MX" b="1" dirty="0"/>
              <a:t> </a:t>
            </a:r>
            <a:r>
              <a:rPr lang="es-MX" b="1" dirty="0" err="1"/>
              <a:t>Query</a:t>
            </a:r>
            <a:r>
              <a:rPr lang="es-MX" b="1" dirty="0"/>
              <a:t> </a:t>
            </a:r>
            <a:r>
              <a:rPr lang="es-MX" b="1" dirty="0" err="1"/>
              <a:t>Language</a:t>
            </a:r>
            <a:r>
              <a:rPr lang="es-MX" b="1" dirty="0"/>
              <a:t>)</a:t>
            </a:r>
            <a:r>
              <a:rPr lang="es-MX" dirty="0"/>
              <a:t>: Utilizan SQL para definir, manipular y consultar datos.</a:t>
            </a:r>
          </a:p>
          <a:p>
            <a:pPr algn="just"/>
            <a:r>
              <a:rPr lang="es-MX" b="1" dirty="0"/>
              <a:t>ACID (</a:t>
            </a:r>
            <a:r>
              <a:rPr lang="es-MX" b="1" dirty="0" err="1"/>
              <a:t>Atomicity</a:t>
            </a:r>
            <a:r>
              <a:rPr lang="es-MX" b="1" dirty="0"/>
              <a:t>, </a:t>
            </a:r>
            <a:r>
              <a:rPr lang="es-MX" b="1" dirty="0" err="1"/>
              <a:t>Consistency</a:t>
            </a:r>
            <a:r>
              <a:rPr lang="es-MX" b="1" dirty="0"/>
              <a:t>, </a:t>
            </a:r>
            <a:r>
              <a:rPr lang="es-MX" b="1" dirty="0" err="1"/>
              <a:t>Isolation</a:t>
            </a:r>
            <a:r>
              <a:rPr lang="es-MX" b="1" dirty="0"/>
              <a:t>, </a:t>
            </a:r>
            <a:r>
              <a:rPr lang="es-MX" b="1" dirty="0" err="1"/>
              <a:t>Durability</a:t>
            </a:r>
            <a:r>
              <a:rPr lang="es-MX" b="1" dirty="0"/>
              <a:t>)</a:t>
            </a:r>
            <a:r>
              <a:rPr lang="es-MX" dirty="0"/>
              <a:t>: Cumplen con las propiedades ACID, asegurando transacciones seguras y coherentes.</a:t>
            </a:r>
          </a:p>
          <a:p>
            <a:pPr algn="just"/>
            <a:r>
              <a:rPr lang="es-MX" b="1" dirty="0"/>
              <a:t>Esquema Fijo</a:t>
            </a:r>
            <a:r>
              <a:rPr lang="es-MX" dirty="0"/>
              <a:t>: Requieren un esquema predefinido que define la estructura de las tablas antes de insertar datos</a:t>
            </a:r>
            <a:r>
              <a:rPr lang="es-MX" dirty="0" smtClean="0"/>
              <a:t>.</a:t>
            </a:r>
          </a:p>
          <a:p>
            <a:pPr marL="0" indent="0" algn="just">
              <a:buNone/>
            </a:pPr>
            <a:r>
              <a:rPr lang="es-MX" b="1" dirty="0"/>
              <a:t>Ejemplos</a:t>
            </a:r>
            <a:r>
              <a:rPr lang="es-MX" b="1" dirty="0">
                <a:solidFill>
                  <a:srgbClr val="FF0000"/>
                </a:solidFill>
              </a:rPr>
              <a:t>: SQL Server</a:t>
            </a:r>
            <a:r>
              <a:rPr lang="es-MX" dirty="0"/>
              <a:t>, </a:t>
            </a:r>
            <a:r>
              <a:rPr lang="es-MX" dirty="0" err="1"/>
              <a:t>MySQL</a:t>
            </a:r>
            <a:r>
              <a:rPr lang="es-MX" dirty="0"/>
              <a:t>, </a:t>
            </a:r>
            <a:r>
              <a:rPr lang="es-MX" dirty="0" err="1"/>
              <a:t>PostgreSQL</a:t>
            </a:r>
            <a:r>
              <a:rPr lang="es-MX" dirty="0"/>
              <a:t>, Oracle </a:t>
            </a:r>
            <a:r>
              <a:rPr lang="es-MX" dirty="0" err="1"/>
              <a:t>Database</a:t>
            </a:r>
            <a:r>
              <a:rPr lang="es-MX" dirty="0"/>
              <a:t>.</a:t>
            </a:r>
          </a:p>
          <a:p>
            <a:pPr marL="0" indent="0" algn="just">
              <a:buNone/>
            </a:pPr>
            <a:r>
              <a:rPr lang="es-MX" b="1" dirty="0"/>
              <a:t>Uso Común</a:t>
            </a:r>
            <a:r>
              <a:rPr lang="es-MX" dirty="0"/>
              <a:t>:</a:t>
            </a:r>
          </a:p>
          <a:p>
            <a:pPr algn="just"/>
            <a:r>
              <a:rPr lang="es-MX" dirty="0"/>
              <a:t>Aplicaciones </a:t>
            </a:r>
            <a:r>
              <a:rPr lang="es-MX" dirty="0" smtClean="0"/>
              <a:t>empresariales; Sistemas financieros; Gestión </a:t>
            </a:r>
            <a:r>
              <a:rPr lang="es-MX" dirty="0"/>
              <a:t>de información estructurada.</a:t>
            </a:r>
          </a:p>
          <a:p>
            <a:pPr marL="0" indent="0">
              <a:buNone/>
            </a:pPr>
            <a:endParaRPr lang="es-MX" dirty="0"/>
          </a:p>
          <a:p>
            <a:endParaRPr lang="en-US" dirty="0"/>
          </a:p>
        </p:txBody>
      </p:sp>
    </p:spTree>
    <p:extLst>
      <p:ext uri="{BB962C8B-B14F-4D97-AF65-F5344CB8AC3E}">
        <p14:creationId xmlns:p14="http://schemas.microsoft.com/office/powerpoint/2010/main" val="5177600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838200" y="556591"/>
            <a:ext cx="10515600" cy="463827"/>
          </a:xfrm>
        </p:spPr>
        <p:txBody>
          <a:bodyPr>
            <a:normAutofit fontScale="90000"/>
          </a:bodyPr>
          <a:lstStyle/>
          <a:p>
            <a:r>
              <a:rPr lang="es-MX" sz="3600" b="1" dirty="0"/>
              <a:t>Base de Datos No </a:t>
            </a:r>
            <a:r>
              <a:rPr lang="es-MX" sz="3600" b="1" dirty="0" smtClean="0"/>
              <a:t>Relacional</a:t>
            </a:r>
            <a:endParaRPr lang="en-US" sz="3600" dirty="0"/>
          </a:p>
        </p:txBody>
      </p:sp>
      <p:sp>
        <p:nvSpPr>
          <p:cNvPr id="3" name="Marcador de contenido 2"/>
          <p:cNvSpPr>
            <a:spLocks noGrp="1"/>
          </p:cNvSpPr>
          <p:nvPr>
            <p:ph idx="1"/>
          </p:nvPr>
        </p:nvSpPr>
        <p:spPr>
          <a:xfrm>
            <a:off x="838200" y="1136511"/>
            <a:ext cx="10515600" cy="5131767"/>
          </a:xfrm>
        </p:spPr>
        <p:txBody>
          <a:bodyPr>
            <a:noAutofit/>
          </a:bodyPr>
          <a:lstStyle/>
          <a:p>
            <a:pPr marL="0" indent="0" algn="just">
              <a:buNone/>
            </a:pPr>
            <a:r>
              <a:rPr lang="es-MX" sz="2000" dirty="0" smtClean="0"/>
              <a:t>Una </a:t>
            </a:r>
            <a:r>
              <a:rPr lang="es-MX" sz="2000" dirty="0"/>
              <a:t>base de datos no relacional (</a:t>
            </a:r>
            <a:r>
              <a:rPr lang="es-MX" sz="2000" b="1" dirty="0" err="1">
                <a:solidFill>
                  <a:srgbClr val="FF0000"/>
                </a:solidFill>
              </a:rPr>
              <a:t>NoSQL</a:t>
            </a:r>
            <a:r>
              <a:rPr lang="es-MX" sz="2000" dirty="0"/>
              <a:t>) almacena datos de maneras distintas a las tablas relacionales, </a:t>
            </a:r>
            <a:r>
              <a:rPr lang="es-MX" sz="2000" b="1" dirty="0">
                <a:solidFill>
                  <a:srgbClr val="FF0000"/>
                </a:solidFill>
              </a:rPr>
              <a:t>como documentos</a:t>
            </a:r>
            <a:r>
              <a:rPr lang="es-MX" sz="2000" dirty="0"/>
              <a:t>, grafos, columnas amplias o pares </a:t>
            </a:r>
            <a:r>
              <a:rPr lang="es-MX" sz="2000" b="1" dirty="0">
                <a:solidFill>
                  <a:srgbClr val="FF0000"/>
                </a:solidFill>
              </a:rPr>
              <a:t>clave-valor</a:t>
            </a:r>
            <a:r>
              <a:rPr lang="es-MX" sz="2000" b="1" dirty="0" smtClean="0">
                <a:solidFill>
                  <a:srgbClr val="FF0000"/>
                </a:solidFill>
              </a:rPr>
              <a:t>.</a:t>
            </a:r>
          </a:p>
          <a:p>
            <a:pPr marL="0" indent="0" algn="just">
              <a:buNone/>
            </a:pPr>
            <a:r>
              <a:rPr lang="es-MX" sz="2000" b="1" dirty="0"/>
              <a:t>Características Principales</a:t>
            </a:r>
            <a:r>
              <a:rPr lang="es-MX" sz="2000" dirty="0"/>
              <a:t>:</a:t>
            </a:r>
          </a:p>
          <a:p>
            <a:pPr algn="just"/>
            <a:r>
              <a:rPr lang="es-MX" sz="2000" b="1" dirty="0"/>
              <a:t>Estructura Flexible</a:t>
            </a:r>
            <a:r>
              <a:rPr lang="es-MX" sz="2000" dirty="0"/>
              <a:t>: Los datos no se almacenan en tablas fijas, lo que permite estructuras de datos más flexibles y variadas.</a:t>
            </a:r>
          </a:p>
          <a:p>
            <a:pPr algn="just"/>
            <a:r>
              <a:rPr lang="es-MX" sz="2000" b="1" dirty="0"/>
              <a:t>Modelos de Datos Diversos</a:t>
            </a:r>
            <a:r>
              <a:rPr lang="es-MX" sz="2000" dirty="0"/>
              <a:t>:</a:t>
            </a:r>
          </a:p>
          <a:p>
            <a:pPr lvl="1" algn="just"/>
            <a:r>
              <a:rPr lang="es-MX" sz="2000" b="1" dirty="0"/>
              <a:t>Documentos</a:t>
            </a:r>
            <a:r>
              <a:rPr lang="es-MX" sz="2000" dirty="0"/>
              <a:t>: Almacenan datos en formatos como JSON, </a:t>
            </a:r>
            <a:r>
              <a:rPr lang="es-MX" sz="2000" b="1" dirty="0">
                <a:solidFill>
                  <a:srgbClr val="FF0000"/>
                </a:solidFill>
              </a:rPr>
              <a:t>BSON</a:t>
            </a:r>
            <a:r>
              <a:rPr lang="es-MX" sz="2000" dirty="0"/>
              <a:t>, XML. Ejemplo: </a:t>
            </a:r>
            <a:r>
              <a:rPr lang="es-MX" sz="2000" dirty="0" err="1"/>
              <a:t>MongoDB</a:t>
            </a:r>
            <a:r>
              <a:rPr lang="es-MX" sz="2000" dirty="0"/>
              <a:t>.</a:t>
            </a:r>
          </a:p>
          <a:p>
            <a:pPr lvl="1" algn="just"/>
            <a:r>
              <a:rPr lang="es-MX" sz="2000" b="1" dirty="0"/>
              <a:t>Columnas Amplias</a:t>
            </a:r>
            <a:r>
              <a:rPr lang="es-MX" sz="2000" dirty="0"/>
              <a:t>: Utilizan filas y columnas, pero permiten una estructura de columnas más flexible. Ejemplo:</a:t>
            </a:r>
            <a:r>
              <a:rPr lang="es-MX" sz="2000" b="1" dirty="0">
                <a:solidFill>
                  <a:srgbClr val="FF0000"/>
                </a:solidFill>
              </a:rPr>
              <a:t> </a:t>
            </a:r>
            <a:r>
              <a:rPr lang="es-MX" sz="2000" b="1" dirty="0" err="1">
                <a:solidFill>
                  <a:srgbClr val="FF0000"/>
                </a:solidFill>
              </a:rPr>
              <a:t>Cassandra</a:t>
            </a:r>
            <a:r>
              <a:rPr lang="es-MX" sz="2000" b="1" dirty="0">
                <a:solidFill>
                  <a:srgbClr val="FF0000"/>
                </a:solidFill>
              </a:rPr>
              <a:t>.</a:t>
            </a:r>
          </a:p>
          <a:p>
            <a:pPr lvl="1" algn="just"/>
            <a:r>
              <a:rPr lang="es-MX" sz="2000" b="1" dirty="0">
                <a:solidFill>
                  <a:srgbClr val="FF0000"/>
                </a:solidFill>
              </a:rPr>
              <a:t>Clave-Valor</a:t>
            </a:r>
            <a:r>
              <a:rPr lang="es-MX" sz="2000" dirty="0"/>
              <a:t>: Almacenan datos como pares clave-valor. Ejemplo: </a:t>
            </a:r>
            <a:r>
              <a:rPr lang="es-MX" sz="2000" dirty="0" err="1"/>
              <a:t>Redis</a:t>
            </a:r>
            <a:r>
              <a:rPr lang="es-MX" sz="2000" dirty="0"/>
              <a:t>.</a:t>
            </a:r>
          </a:p>
          <a:p>
            <a:pPr lvl="1" algn="just"/>
            <a:r>
              <a:rPr lang="es-MX" sz="2000" b="1" dirty="0">
                <a:solidFill>
                  <a:srgbClr val="FF0000"/>
                </a:solidFill>
              </a:rPr>
              <a:t>Grafos</a:t>
            </a:r>
            <a:r>
              <a:rPr lang="es-MX" sz="2000" dirty="0">
                <a:solidFill>
                  <a:srgbClr val="FF0000"/>
                </a:solidFill>
              </a:rPr>
              <a:t>: Almacenan datos en nodos </a:t>
            </a:r>
            <a:r>
              <a:rPr lang="es-MX" sz="2000" dirty="0"/>
              <a:t>y aristas para representar relaciones complejas. Ejemplo: Neo4j.</a:t>
            </a:r>
          </a:p>
          <a:p>
            <a:pPr algn="just"/>
            <a:r>
              <a:rPr lang="es-MX" sz="2000" b="1" dirty="0"/>
              <a:t>Escalabilidad Horizontal</a:t>
            </a:r>
            <a:r>
              <a:rPr lang="es-MX" sz="2000" dirty="0"/>
              <a:t>: Diseñadas para escalar fácilmente en múltiples servidores.</a:t>
            </a:r>
          </a:p>
          <a:p>
            <a:pPr algn="just"/>
            <a:r>
              <a:rPr lang="es-MX" sz="2000" b="1" dirty="0" smtClean="0"/>
              <a:t>No Requieren Esquema Fijo</a:t>
            </a:r>
            <a:r>
              <a:rPr lang="es-MX" sz="2000" dirty="0" smtClean="0"/>
              <a:t>: Permiten la inserción de datos sin necesidad de definir previamente la estructura.</a:t>
            </a:r>
            <a:endParaRPr lang="es-MX" sz="2000" dirty="0"/>
          </a:p>
          <a:p>
            <a:endParaRPr lang="en-US" sz="2000" dirty="0"/>
          </a:p>
        </p:txBody>
      </p:sp>
    </p:spTree>
    <p:extLst>
      <p:ext uri="{BB962C8B-B14F-4D97-AF65-F5344CB8AC3E}">
        <p14:creationId xmlns:p14="http://schemas.microsoft.com/office/powerpoint/2010/main" val="27276552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MX" b="1" dirty="0"/>
              <a:t>Base de Datos No Relacional</a:t>
            </a:r>
            <a:endParaRPr lang="en-US" dirty="0"/>
          </a:p>
        </p:txBody>
      </p:sp>
      <p:sp>
        <p:nvSpPr>
          <p:cNvPr id="3" name="Marcador de contenido 2"/>
          <p:cNvSpPr>
            <a:spLocks noGrp="1"/>
          </p:cNvSpPr>
          <p:nvPr>
            <p:ph idx="1"/>
          </p:nvPr>
        </p:nvSpPr>
        <p:spPr>
          <a:xfrm>
            <a:off x="838200" y="1825625"/>
            <a:ext cx="10757452" cy="2256045"/>
          </a:xfrm>
        </p:spPr>
        <p:txBody>
          <a:bodyPr>
            <a:normAutofit lnSpcReduction="10000"/>
          </a:bodyPr>
          <a:lstStyle/>
          <a:p>
            <a:pPr marL="0" indent="0">
              <a:buNone/>
            </a:pPr>
            <a:r>
              <a:rPr lang="es-MX" b="1" dirty="0"/>
              <a:t>Ejemplos</a:t>
            </a:r>
            <a:r>
              <a:rPr lang="es-MX" dirty="0"/>
              <a:t>: </a:t>
            </a:r>
            <a:r>
              <a:rPr lang="es-MX" dirty="0" err="1"/>
              <a:t>MongoDB</a:t>
            </a:r>
            <a:r>
              <a:rPr lang="es-MX" dirty="0"/>
              <a:t>, </a:t>
            </a:r>
            <a:r>
              <a:rPr lang="es-MX" dirty="0" err="1"/>
              <a:t>Cassandra</a:t>
            </a:r>
            <a:r>
              <a:rPr lang="es-MX" dirty="0"/>
              <a:t>, </a:t>
            </a:r>
            <a:r>
              <a:rPr lang="es-MX" dirty="0" err="1"/>
              <a:t>Redis</a:t>
            </a:r>
            <a:r>
              <a:rPr lang="es-MX" dirty="0"/>
              <a:t>, Neo4j, </a:t>
            </a:r>
            <a:r>
              <a:rPr lang="es-MX" dirty="0" err="1"/>
              <a:t>DynamoDB</a:t>
            </a:r>
            <a:r>
              <a:rPr lang="es-MX" dirty="0"/>
              <a:t>.</a:t>
            </a:r>
          </a:p>
          <a:p>
            <a:pPr marL="0" indent="0">
              <a:buNone/>
            </a:pPr>
            <a:r>
              <a:rPr lang="es-MX" b="1" dirty="0"/>
              <a:t>Uso Común</a:t>
            </a:r>
            <a:r>
              <a:rPr lang="es-MX" dirty="0"/>
              <a:t>:</a:t>
            </a:r>
          </a:p>
          <a:p>
            <a:r>
              <a:rPr lang="es-MX" dirty="0"/>
              <a:t>Aplicaciones web y móviles con grandes volúmenes de </a:t>
            </a:r>
            <a:r>
              <a:rPr lang="es-MX" dirty="0" smtClean="0"/>
              <a:t>datos; Sistemas </a:t>
            </a:r>
            <a:r>
              <a:rPr lang="es-MX" dirty="0"/>
              <a:t>de </a:t>
            </a:r>
            <a:r>
              <a:rPr lang="es-MX" dirty="0" smtClean="0"/>
              <a:t>recomendación; Gestión </a:t>
            </a:r>
            <a:r>
              <a:rPr lang="es-MX" dirty="0"/>
              <a:t>de datos no estructurados o </a:t>
            </a:r>
            <a:r>
              <a:rPr lang="es-MX" dirty="0" err="1" smtClean="0"/>
              <a:t>semi</a:t>
            </a:r>
            <a:r>
              <a:rPr lang="es-MX" dirty="0" smtClean="0"/>
              <a:t>-estructurados; Análisis </a:t>
            </a:r>
            <a:r>
              <a:rPr lang="es-MX" dirty="0"/>
              <a:t>de </a:t>
            </a:r>
            <a:r>
              <a:rPr lang="es-MX" dirty="0" err="1"/>
              <a:t>big</a:t>
            </a:r>
            <a:r>
              <a:rPr lang="es-MX" dirty="0"/>
              <a:t> data</a:t>
            </a:r>
            <a:r>
              <a:rPr lang="es-MX" dirty="0" smtClean="0"/>
              <a:t>.</a:t>
            </a:r>
          </a:p>
          <a:p>
            <a:pPr marL="0" indent="0">
              <a:buNone/>
            </a:pPr>
            <a:endParaRPr lang="es-MX" dirty="0"/>
          </a:p>
          <a:p>
            <a:endParaRPr lang="en-US" dirty="0"/>
          </a:p>
        </p:txBody>
      </p:sp>
      <p:pic>
        <p:nvPicPr>
          <p:cNvPr id="7" name="Imagen 6"/>
          <p:cNvPicPr>
            <a:picLocks noChangeAspect="1"/>
          </p:cNvPicPr>
          <p:nvPr/>
        </p:nvPicPr>
        <p:blipFill>
          <a:blip r:embed="rId2"/>
          <a:stretch>
            <a:fillRect/>
          </a:stretch>
        </p:blipFill>
        <p:spPr>
          <a:xfrm>
            <a:off x="2224452" y="4216607"/>
            <a:ext cx="7012313" cy="1942377"/>
          </a:xfrm>
          <a:prstGeom prst="rect">
            <a:avLst/>
          </a:prstGeom>
        </p:spPr>
      </p:pic>
    </p:spTree>
    <p:extLst>
      <p:ext uri="{BB962C8B-B14F-4D97-AF65-F5344CB8AC3E}">
        <p14:creationId xmlns:p14="http://schemas.microsoft.com/office/powerpoint/2010/main" val="5580051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838200" y="365126"/>
            <a:ext cx="10515600" cy="509518"/>
          </a:xfrm>
        </p:spPr>
        <p:txBody>
          <a:bodyPr>
            <a:normAutofit fontScale="90000"/>
          </a:bodyPr>
          <a:lstStyle/>
          <a:p>
            <a:r>
              <a:rPr lang="es-MX" sz="3600" b="1" dirty="0" smtClean="0"/>
              <a:t>Comparación</a:t>
            </a:r>
            <a:endParaRPr lang="en-US" sz="3600" dirty="0"/>
          </a:p>
        </p:txBody>
      </p:sp>
      <p:sp>
        <p:nvSpPr>
          <p:cNvPr id="3" name="Marcador de contenido 2"/>
          <p:cNvSpPr>
            <a:spLocks noGrp="1"/>
          </p:cNvSpPr>
          <p:nvPr>
            <p:ph idx="1"/>
          </p:nvPr>
        </p:nvSpPr>
        <p:spPr>
          <a:xfrm>
            <a:off x="838200" y="1033670"/>
            <a:ext cx="10515600" cy="5393634"/>
          </a:xfrm>
        </p:spPr>
        <p:txBody>
          <a:bodyPr>
            <a:normAutofit fontScale="40000" lnSpcReduction="20000"/>
          </a:bodyPr>
          <a:lstStyle/>
          <a:p>
            <a:pPr algn="just"/>
            <a:r>
              <a:rPr lang="es-MX" sz="5000" b="1" dirty="0" smtClean="0"/>
              <a:t>Flexibilidad</a:t>
            </a:r>
            <a:r>
              <a:rPr lang="es-MX" sz="5000" dirty="0"/>
              <a:t>:</a:t>
            </a:r>
          </a:p>
          <a:p>
            <a:pPr lvl="1" algn="just"/>
            <a:r>
              <a:rPr lang="es-MX" sz="5000" b="1" dirty="0"/>
              <a:t>Relacionales</a:t>
            </a:r>
            <a:r>
              <a:rPr lang="es-MX" sz="5000" dirty="0"/>
              <a:t>: Menos flexibles debido a la necesidad de un esquema predefinido.</a:t>
            </a:r>
          </a:p>
          <a:p>
            <a:pPr lvl="1" algn="just"/>
            <a:r>
              <a:rPr lang="es-MX" sz="5000" b="1" dirty="0"/>
              <a:t>No Relacionales</a:t>
            </a:r>
            <a:r>
              <a:rPr lang="es-MX" sz="5000" dirty="0"/>
              <a:t>: Más flexibles, permitiendo cambios en la estructura de datos sin necesidad de modificar el esquema.</a:t>
            </a:r>
          </a:p>
          <a:p>
            <a:pPr algn="just"/>
            <a:r>
              <a:rPr lang="es-MX" sz="5000" b="1" dirty="0"/>
              <a:t>Escalabilidad</a:t>
            </a:r>
            <a:r>
              <a:rPr lang="es-MX" sz="5000" dirty="0"/>
              <a:t>:</a:t>
            </a:r>
          </a:p>
          <a:p>
            <a:pPr lvl="1" algn="just"/>
            <a:r>
              <a:rPr lang="es-MX" sz="5000" b="1" dirty="0"/>
              <a:t>Relacionales</a:t>
            </a:r>
            <a:r>
              <a:rPr lang="es-MX" sz="5000" dirty="0"/>
              <a:t>: Principalmente escalabilidad vertical (aumentar la capacidad del servidor).</a:t>
            </a:r>
          </a:p>
          <a:p>
            <a:pPr lvl="1" algn="just"/>
            <a:r>
              <a:rPr lang="es-MX" sz="5000" b="1" dirty="0"/>
              <a:t>No Relacionales</a:t>
            </a:r>
            <a:r>
              <a:rPr lang="es-MX" sz="5000" dirty="0"/>
              <a:t>: Principalmente escalabilidad horizontal (añadir más servidores).</a:t>
            </a:r>
          </a:p>
          <a:p>
            <a:pPr algn="just"/>
            <a:r>
              <a:rPr lang="es-MX" sz="5000" b="1" dirty="0"/>
              <a:t>Transacciones</a:t>
            </a:r>
            <a:r>
              <a:rPr lang="es-MX" sz="5000" dirty="0"/>
              <a:t>:</a:t>
            </a:r>
          </a:p>
          <a:p>
            <a:pPr lvl="1" algn="just"/>
            <a:r>
              <a:rPr lang="es-MX" sz="5000" b="1" dirty="0"/>
              <a:t>Relacionales</a:t>
            </a:r>
            <a:r>
              <a:rPr lang="es-MX" sz="5000" dirty="0"/>
              <a:t>: Cumplen con las propiedades ACID, asegurando transacciones seguras.</a:t>
            </a:r>
          </a:p>
          <a:p>
            <a:pPr lvl="1" algn="just"/>
            <a:r>
              <a:rPr lang="es-MX" sz="5000" b="1" dirty="0"/>
              <a:t>No Relacionales</a:t>
            </a:r>
            <a:r>
              <a:rPr lang="es-MX" sz="5000" dirty="0"/>
              <a:t>: Pueden sacrificar algunas propiedades ACID por rendimiento y escalabilidad, adoptando modelos de consistencia eventual.</a:t>
            </a:r>
          </a:p>
          <a:p>
            <a:pPr algn="just"/>
            <a:r>
              <a:rPr lang="es-MX" sz="5000" b="1" dirty="0"/>
              <a:t>Uso</a:t>
            </a:r>
            <a:r>
              <a:rPr lang="es-MX" sz="5000" dirty="0"/>
              <a:t>:</a:t>
            </a:r>
          </a:p>
          <a:p>
            <a:pPr lvl="1" algn="just"/>
            <a:r>
              <a:rPr lang="es-MX" sz="5000" b="1" dirty="0"/>
              <a:t>Relacionales</a:t>
            </a:r>
            <a:r>
              <a:rPr lang="es-MX" sz="5000" dirty="0"/>
              <a:t>: Preferidas para aplicaciones que requieren integridad y relaciones complejas entre datos.</a:t>
            </a:r>
          </a:p>
          <a:p>
            <a:pPr lvl="1" algn="just"/>
            <a:r>
              <a:rPr lang="es-MX" sz="5000" b="1" dirty="0"/>
              <a:t>No Relacionales</a:t>
            </a:r>
            <a:r>
              <a:rPr lang="es-MX" sz="5000" dirty="0"/>
              <a:t>: Preferidas para aplicaciones que manejan grandes volúmenes de datos no estructurados y requieren alta escalabilidad y </a:t>
            </a:r>
            <a:r>
              <a:rPr lang="es-MX" sz="5000" dirty="0" smtClean="0"/>
              <a:t>flexibilidad.</a:t>
            </a:r>
          </a:p>
          <a:p>
            <a:pPr marL="457200" lvl="1" indent="0" algn="just">
              <a:buNone/>
            </a:pPr>
            <a:endParaRPr lang="es-MX" sz="5000" dirty="0" smtClean="0"/>
          </a:p>
          <a:p>
            <a:pPr marL="457200" lvl="1" indent="0" algn="just">
              <a:buNone/>
            </a:pPr>
            <a:r>
              <a:rPr lang="es-MX" sz="5000" dirty="0" smtClean="0"/>
              <a:t>En </a:t>
            </a:r>
            <a:r>
              <a:rPr lang="es-MX" sz="5000" dirty="0"/>
              <a:t>resumen, la elección entre una base de datos relacional y una no relacional depende de los requisitos específicos de la aplicación, como la necesidad de flexibilidad, escalabilidad, consistencia y tipo de datos a manejar.</a:t>
            </a:r>
          </a:p>
          <a:p>
            <a:endParaRPr lang="en-US" dirty="0"/>
          </a:p>
        </p:txBody>
      </p:sp>
    </p:spTree>
    <p:extLst>
      <p:ext uri="{BB962C8B-B14F-4D97-AF65-F5344CB8AC3E}">
        <p14:creationId xmlns:p14="http://schemas.microsoft.com/office/powerpoint/2010/main" val="4026450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pPr algn="ctr"/>
            <a:r>
              <a:rPr lang="es-PE" b="1" dirty="0" err="1" smtClean="0"/>
              <a:t>SqlServer</a:t>
            </a:r>
            <a:endParaRPr lang="en-US" b="1" dirty="0"/>
          </a:p>
        </p:txBody>
      </p:sp>
      <p:sp>
        <p:nvSpPr>
          <p:cNvPr id="3" name="Marcador de contenido 2"/>
          <p:cNvSpPr>
            <a:spLocks noGrp="1"/>
          </p:cNvSpPr>
          <p:nvPr>
            <p:ph idx="1"/>
          </p:nvPr>
        </p:nvSpPr>
        <p:spPr/>
        <p:txBody>
          <a:bodyPr/>
          <a:lstStyle/>
          <a:p>
            <a:pPr algn="just"/>
            <a:r>
              <a:rPr lang="es-MX" dirty="0"/>
              <a:t>SQL Server es un sistema de gestión de bases de datos relacional (RDBMS) desarrollado por Microsoft. Está diseñado para almacenar y gestionar grandes volúmenes de datos y permite a los usuarios realizar consultas, actualizaciones, inserciones y eliminaciones de datos de manera eficiente. Algunas características clave de SQL Server incluyen:</a:t>
            </a:r>
            <a:endParaRPr lang="en-US" dirty="0"/>
          </a:p>
        </p:txBody>
      </p:sp>
      <p:pic>
        <p:nvPicPr>
          <p:cNvPr id="6" name="Imagen 5"/>
          <p:cNvPicPr>
            <a:picLocks noChangeAspect="1"/>
          </p:cNvPicPr>
          <p:nvPr/>
        </p:nvPicPr>
        <p:blipFill>
          <a:blip r:embed="rId2"/>
          <a:stretch>
            <a:fillRect/>
          </a:stretch>
        </p:blipFill>
        <p:spPr>
          <a:xfrm>
            <a:off x="3133014" y="4212948"/>
            <a:ext cx="5925971" cy="1750529"/>
          </a:xfrm>
          <a:prstGeom prst="rect">
            <a:avLst/>
          </a:prstGeom>
        </p:spPr>
      </p:pic>
    </p:spTree>
    <p:extLst>
      <p:ext uri="{BB962C8B-B14F-4D97-AF65-F5344CB8AC3E}">
        <p14:creationId xmlns:p14="http://schemas.microsoft.com/office/powerpoint/2010/main" val="350845901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PE" b="1" dirty="0" smtClean="0"/>
              <a:t>Caracteristicas</a:t>
            </a:r>
            <a:endParaRPr lang="en-US" b="1" dirty="0"/>
          </a:p>
        </p:txBody>
      </p:sp>
      <p:sp>
        <p:nvSpPr>
          <p:cNvPr id="4" name="Rectangle 1"/>
          <p:cNvSpPr>
            <a:spLocks noGrp="1" noChangeArrowheads="1"/>
          </p:cNvSpPr>
          <p:nvPr>
            <p:ph idx="1"/>
          </p:nvPr>
        </p:nvSpPr>
        <p:spPr bwMode="auto">
          <a:xfrm>
            <a:off x="838200" y="1690688"/>
            <a:ext cx="10515600" cy="3785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err="1" smtClean="0">
                <a:ln>
                  <a:noFill/>
                </a:ln>
                <a:solidFill>
                  <a:schemeClr val="tx1"/>
                </a:solidFill>
                <a:effectLst/>
                <a:latin typeface="Arial" panose="020B0604020202020204" pitchFamily="34" charset="0"/>
              </a:rPr>
              <a:t>Almacenamiento</a:t>
            </a:r>
            <a:r>
              <a:rPr kumimoji="0" lang="en-US" altLang="en-US" sz="2400" b="1" i="0" u="none" strike="noStrike" cap="none" normalizeH="0" baseline="0" dirty="0" smtClean="0">
                <a:ln>
                  <a:noFill/>
                </a:ln>
                <a:solidFill>
                  <a:schemeClr val="tx1"/>
                </a:solidFill>
                <a:effectLst/>
                <a:latin typeface="Arial" panose="020B0604020202020204" pitchFamily="34" charset="0"/>
              </a:rPr>
              <a:t> y </a:t>
            </a:r>
            <a:r>
              <a:rPr kumimoji="0" lang="en-US" altLang="en-US" sz="2400" b="1" i="0" u="none" strike="noStrike" cap="none" normalizeH="0" baseline="0" dirty="0" err="1" smtClean="0">
                <a:ln>
                  <a:noFill/>
                </a:ln>
                <a:solidFill>
                  <a:schemeClr val="tx1"/>
                </a:solidFill>
                <a:effectLst/>
                <a:latin typeface="Arial" panose="020B0604020202020204" pitchFamily="34" charset="0"/>
              </a:rPr>
              <a:t>Gestión</a:t>
            </a:r>
            <a:r>
              <a:rPr kumimoji="0" lang="en-US" altLang="en-US" sz="2400" b="1" i="0" u="none" strike="noStrike" cap="none" normalizeH="0" baseline="0" dirty="0" smtClean="0">
                <a:ln>
                  <a:noFill/>
                </a:ln>
                <a:solidFill>
                  <a:schemeClr val="tx1"/>
                </a:solidFill>
                <a:effectLst/>
                <a:latin typeface="Arial" panose="020B0604020202020204" pitchFamily="34" charset="0"/>
              </a:rPr>
              <a:t> de </a:t>
            </a:r>
            <a:r>
              <a:rPr kumimoji="0" lang="en-US" altLang="en-US" sz="2400" b="1" i="0" u="none" strike="noStrike" cap="none" normalizeH="0" baseline="0" dirty="0" err="1" smtClean="0">
                <a:ln>
                  <a:noFill/>
                </a:ln>
                <a:solidFill>
                  <a:schemeClr val="tx1"/>
                </a:solidFill>
                <a:effectLst/>
                <a:latin typeface="Arial" panose="020B0604020202020204" pitchFamily="34" charset="0"/>
              </a:rPr>
              <a:t>Datos</a:t>
            </a:r>
            <a:r>
              <a:rPr kumimoji="0" lang="en-US" altLang="en-US" sz="2400" b="0" i="0" u="none" strike="noStrike" cap="none" normalizeH="0" baseline="0" dirty="0" smtClean="0">
                <a:ln>
                  <a:noFill/>
                </a:ln>
                <a:solidFill>
                  <a:schemeClr val="tx1"/>
                </a:solidFill>
                <a:effectLst/>
                <a:latin typeface="Arial" panose="020B0604020202020204" pitchFamily="34" charset="0"/>
              </a:rPr>
              <a:t>: </a:t>
            </a:r>
            <a:r>
              <a:rPr kumimoji="0" lang="en-US" altLang="en-US" sz="2400" b="0" i="0" u="none" strike="noStrike" cap="none" normalizeH="0" baseline="0" dirty="0" err="1" smtClean="0">
                <a:ln>
                  <a:noFill/>
                </a:ln>
                <a:solidFill>
                  <a:schemeClr val="tx1"/>
                </a:solidFill>
                <a:effectLst/>
                <a:latin typeface="Arial" panose="020B0604020202020204" pitchFamily="34" charset="0"/>
              </a:rPr>
              <a:t>Permite</a:t>
            </a:r>
            <a:r>
              <a:rPr kumimoji="0" lang="en-US" altLang="en-US" sz="2400" b="0" i="0" u="none" strike="noStrike" cap="none" normalizeH="0" baseline="0" dirty="0" smtClean="0">
                <a:ln>
                  <a:noFill/>
                </a:ln>
                <a:solidFill>
                  <a:schemeClr val="tx1"/>
                </a:solidFill>
                <a:effectLst/>
                <a:latin typeface="Arial" panose="020B0604020202020204" pitchFamily="34" charset="0"/>
              </a:rPr>
              <a:t> el </a:t>
            </a:r>
            <a:r>
              <a:rPr kumimoji="0" lang="en-US" altLang="en-US" sz="2400" b="0" i="0" u="none" strike="noStrike" cap="none" normalizeH="0" baseline="0" dirty="0" err="1" smtClean="0">
                <a:ln>
                  <a:noFill/>
                </a:ln>
                <a:solidFill>
                  <a:schemeClr val="tx1"/>
                </a:solidFill>
                <a:effectLst/>
                <a:latin typeface="Arial" panose="020B0604020202020204" pitchFamily="34" charset="0"/>
              </a:rPr>
              <a:t>almacenamiento</a:t>
            </a:r>
            <a:r>
              <a:rPr kumimoji="0" lang="en-US" altLang="en-US" sz="2400" b="0" i="0" u="none" strike="noStrike" cap="none" normalizeH="0" baseline="0" dirty="0" smtClean="0">
                <a:ln>
                  <a:noFill/>
                </a:ln>
                <a:solidFill>
                  <a:schemeClr val="tx1"/>
                </a:solidFill>
                <a:effectLst/>
                <a:latin typeface="Arial" panose="020B0604020202020204" pitchFamily="34" charset="0"/>
              </a:rPr>
              <a:t> </a:t>
            </a:r>
            <a:r>
              <a:rPr kumimoji="0" lang="en-US" altLang="en-US" sz="2400" b="0" i="0" u="none" strike="noStrike" cap="none" normalizeH="0" baseline="0" dirty="0" err="1" smtClean="0">
                <a:ln>
                  <a:noFill/>
                </a:ln>
                <a:solidFill>
                  <a:schemeClr val="tx1"/>
                </a:solidFill>
                <a:effectLst/>
                <a:latin typeface="Arial" panose="020B0604020202020204" pitchFamily="34" charset="0"/>
              </a:rPr>
              <a:t>estructurado</a:t>
            </a:r>
            <a:r>
              <a:rPr kumimoji="0" lang="en-US" altLang="en-US" sz="2400" b="0" i="0" u="none" strike="noStrike" cap="none" normalizeH="0" baseline="0" dirty="0" smtClean="0">
                <a:ln>
                  <a:noFill/>
                </a:ln>
                <a:solidFill>
                  <a:schemeClr val="tx1"/>
                </a:solidFill>
                <a:effectLst/>
                <a:latin typeface="Arial" panose="020B0604020202020204" pitchFamily="34" charset="0"/>
              </a:rPr>
              <a:t> de </a:t>
            </a:r>
            <a:r>
              <a:rPr kumimoji="0" lang="en-US" altLang="en-US" sz="2400" b="0" i="0" u="none" strike="noStrike" cap="none" normalizeH="0" baseline="0" dirty="0" err="1" smtClean="0">
                <a:ln>
                  <a:noFill/>
                </a:ln>
                <a:solidFill>
                  <a:schemeClr val="tx1"/>
                </a:solidFill>
                <a:effectLst/>
                <a:latin typeface="Arial" panose="020B0604020202020204" pitchFamily="34" charset="0"/>
              </a:rPr>
              <a:t>datos</a:t>
            </a:r>
            <a:r>
              <a:rPr kumimoji="0" lang="en-US" altLang="en-US" sz="2400" b="0" i="0" u="none" strike="noStrike" cap="none" normalizeH="0" baseline="0" dirty="0" smtClean="0">
                <a:ln>
                  <a:noFill/>
                </a:ln>
                <a:solidFill>
                  <a:schemeClr val="tx1"/>
                </a:solidFill>
                <a:effectLst/>
                <a:latin typeface="Arial" panose="020B0604020202020204" pitchFamily="34" charset="0"/>
              </a:rPr>
              <a:t> </a:t>
            </a:r>
            <a:r>
              <a:rPr kumimoji="0" lang="en-US" altLang="en-US" sz="2400" b="0" i="0" u="none" strike="noStrike" cap="none" normalizeH="0" baseline="0" dirty="0" err="1" smtClean="0">
                <a:ln>
                  <a:noFill/>
                </a:ln>
                <a:solidFill>
                  <a:schemeClr val="tx1"/>
                </a:solidFill>
                <a:effectLst/>
                <a:latin typeface="Arial" panose="020B0604020202020204" pitchFamily="34" charset="0"/>
              </a:rPr>
              <a:t>en</a:t>
            </a:r>
            <a:r>
              <a:rPr kumimoji="0" lang="en-US" altLang="en-US" sz="2400" b="0" i="0" u="none" strike="noStrike" cap="none" normalizeH="0" baseline="0" dirty="0" smtClean="0">
                <a:ln>
                  <a:noFill/>
                </a:ln>
                <a:solidFill>
                  <a:schemeClr val="tx1"/>
                </a:solidFill>
                <a:effectLst/>
                <a:latin typeface="Arial" panose="020B0604020202020204" pitchFamily="34" charset="0"/>
              </a:rPr>
              <a:t> </a:t>
            </a:r>
            <a:r>
              <a:rPr kumimoji="0" lang="en-US" altLang="en-US" sz="2400" b="0" i="0" u="none" strike="noStrike" cap="none" normalizeH="0" baseline="0" dirty="0" err="1" smtClean="0">
                <a:ln>
                  <a:noFill/>
                </a:ln>
                <a:solidFill>
                  <a:schemeClr val="tx1"/>
                </a:solidFill>
                <a:effectLst/>
                <a:latin typeface="Arial" panose="020B0604020202020204" pitchFamily="34" charset="0"/>
              </a:rPr>
              <a:t>tablas</a:t>
            </a:r>
            <a:r>
              <a:rPr kumimoji="0" lang="en-US" altLang="en-US" sz="2400" b="0" i="0" u="none" strike="noStrike" cap="none" normalizeH="0" baseline="0" dirty="0" smtClean="0">
                <a:ln>
                  <a:noFill/>
                </a:ln>
                <a:solidFill>
                  <a:schemeClr val="tx1"/>
                </a:solidFill>
                <a:effectLst/>
                <a:latin typeface="Arial" panose="020B0604020202020204" pitchFamily="34" charset="0"/>
              </a:rPr>
              <a:t>, las </a:t>
            </a:r>
            <a:r>
              <a:rPr kumimoji="0" lang="en-US" altLang="en-US" sz="2400" b="0" i="0" u="none" strike="noStrike" cap="none" normalizeH="0" baseline="0" dirty="0" err="1" smtClean="0">
                <a:ln>
                  <a:noFill/>
                </a:ln>
                <a:solidFill>
                  <a:schemeClr val="tx1"/>
                </a:solidFill>
                <a:effectLst/>
                <a:latin typeface="Arial" panose="020B0604020202020204" pitchFamily="34" charset="0"/>
              </a:rPr>
              <a:t>cuales</a:t>
            </a:r>
            <a:r>
              <a:rPr kumimoji="0" lang="en-US" altLang="en-US" sz="2400" b="0" i="0" u="none" strike="noStrike" cap="none" normalizeH="0" baseline="0" dirty="0" smtClean="0">
                <a:ln>
                  <a:noFill/>
                </a:ln>
                <a:solidFill>
                  <a:schemeClr val="tx1"/>
                </a:solidFill>
                <a:effectLst/>
                <a:latin typeface="Arial" panose="020B0604020202020204" pitchFamily="34" charset="0"/>
              </a:rPr>
              <a:t> </a:t>
            </a:r>
            <a:r>
              <a:rPr kumimoji="0" lang="en-US" altLang="en-US" sz="2400" b="0" i="0" u="none" strike="noStrike" cap="none" normalizeH="0" baseline="0" dirty="0" err="1" smtClean="0">
                <a:ln>
                  <a:noFill/>
                </a:ln>
                <a:solidFill>
                  <a:schemeClr val="tx1"/>
                </a:solidFill>
                <a:effectLst/>
                <a:latin typeface="Arial" panose="020B0604020202020204" pitchFamily="34" charset="0"/>
              </a:rPr>
              <a:t>pueden</a:t>
            </a:r>
            <a:r>
              <a:rPr kumimoji="0" lang="en-US" altLang="en-US" sz="2400" b="0" i="0" u="none" strike="noStrike" cap="none" normalizeH="0" baseline="0" dirty="0" smtClean="0">
                <a:ln>
                  <a:noFill/>
                </a:ln>
                <a:solidFill>
                  <a:schemeClr val="tx1"/>
                </a:solidFill>
                <a:effectLst/>
                <a:latin typeface="Arial" panose="020B0604020202020204" pitchFamily="34" charset="0"/>
              </a:rPr>
              <a:t> </a:t>
            </a:r>
            <a:r>
              <a:rPr kumimoji="0" lang="en-US" altLang="en-US" sz="2400" b="0" i="0" u="none" strike="noStrike" cap="none" normalizeH="0" baseline="0" dirty="0" err="1" smtClean="0">
                <a:ln>
                  <a:noFill/>
                </a:ln>
                <a:solidFill>
                  <a:schemeClr val="tx1"/>
                </a:solidFill>
                <a:effectLst/>
                <a:latin typeface="Arial" panose="020B0604020202020204" pitchFamily="34" charset="0"/>
              </a:rPr>
              <a:t>estar</a:t>
            </a:r>
            <a:r>
              <a:rPr kumimoji="0" lang="en-US" altLang="en-US" sz="2400" b="0" i="0" u="none" strike="noStrike" cap="none" normalizeH="0" baseline="0" dirty="0" smtClean="0">
                <a:ln>
                  <a:noFill/>
                </a:ln>
                <a:solidFill>
                  <a:schemeClr val="tx1"/>
                </a:solidFill>
                <a:effectLst/>
                <a:latin typeface="Arial" panose="020B0604020202020204" pitchFamily="34" charset="0"/>
              </a:rPr>
              <a:t> </a:t>
            </a:r>
            <a:r>
              <a:rPr kumimoji="0" lang="en-US" altLang="en-US" sz="2400" b="0" i="0" u="none" strike="noStrike" cap="none" normalizeH="0" baseline="0" dirty="0" err="1" smtClean="0">
                <a:ln>
                  <a:noFill/>
                </a:ln>
                <a:solidFill>
                  <a:schemeClr val="tx1"/>
                </a:solidFill>
                <a:effectLst/>
                <a:latin typeface="Arial" panose="020B0604020202020204" pitchFamily="34" charset="0"/>
              </a:rPr>
              <a:t>relacionadas</a:t>
            </a:r>
            <a:r>
              <a:rPr kumimoji="0" lang="en-US" altLang="en-US" sz="2400" b="0" i="0" u="none" strike="noStrike" cap="none" normalizeH="0" baseline="0" dirty="0" smtClean="0">
                <a:ln>
                  <a:noFill/>
                </a:ln>
                <a:solidFill>
                  <a:schemeClr val="tx1"/>
                </a:solidFill>
                <a:effectLst/>
                <a:latin typeface="Arial" panose="020B0604020202020204" pitchFamily="34" charset="0"/>
              </a:rPr>
              <a:t> entre </a:t>
            </a:r>
            <a:r>
              <a:rPr kumimoji="0" lang="en-US" altLang="en-US" sz="2400" b="0" i="0" u="none" strike="noStrike" cap="none" normalizeH="0" baseline="0" dirty="0" err="1" smtClean="0">
                <a:ln>
                  <a:noFill/>
                </a:ln>
                <a:solidFill>
                  <a:schemeClr val="tx1"/>
                </a:solidFill>
                <a:effectLst/>
                <a:latin typeface="Arial" panose="020B0604020202020204" pitchFamily="34" charset="0"/>
              </a:rPr>
              <a:t>sí</a:t>
            </a:r>
            <a:r>
              <a:rPr kumimoji="0" lang="en-US" altLang="en-US" sz="2400" b="0" i="0" u="none" strike="noStrike" cap="none" normalizeH="0" baseline="0" dirty="0" smtClean="0">
                <a:ln>
                  <a:noFill/>
                </a:ln>
                <a:solidFill>
                  <a:schemeClr val="tx1"/>
                </a:solidFill>
                <a:effectLst/>
                <a:latin typeface="Arial" panose="020B0604020202020204" pitchFamily="34" charset="0"/>
              </a:rPr>
              <a:t> mediante claves </a:t>
            </a:r>
            <a:r>
              <a:rPr kumimoji="0" lang="en-US" altLang="en-US" sz="2400" b="0" i="0" u="none" strike="noStrike" cap="none" normalizeH="0" baseline="0" dirty="0" err="1" smtClean="0">
                <a:ln>
                  <a:noFill/>
                </a:ln>
                <a:solidFill>
                  <a:schemeClr val="tx1"/>
                </a:solidFill>
                <a:effectLst/>
                <a:latin typeface="Arial" panose="020B0604020202020204" pitchFamily="34" charset="0"/>
              </a:rPr>
              <a:t>foráneas</a:t>
            </a:r>
            <a:r>
              <a:rPr kumimoji="0" lang="en-US" altLang="en-US" sz="2400" b="0" i="0" u="none" strike="noStrike" cap="none" normalizeH="0" baseline="0" dirty="0" smtClean="0">
                <a:ln>
                  <a:noFill/>
                </a:ln>
                <a:solidFill>
                  <a:schemeClr val="tx1"/>
                </a:solidFill>
                <a:effectLst/>
                <a:latin typeface="Arial" panose="020B0604020202020204" pitchFamily="34" charset="0"/>
              </a:rPr>
              <a:t>. </a:t>
            </a:r>
            <a:r>
              <a:rPr kumimoji="0" lang="en-US" altLang="en-US" sz="2400" b="0" i="0" u="none" strike="noStrike" cap="none" normalizeH="0" baseline="0" dirty="0" err="1" smtClean="0">
                <a:ln>
                  <a:noFill/>
                </a:ln>
                <a:solidFill>
                  <a:schemeClr val="tx1"/>
                </a:solidFill>
                <a:effectLst/>
                <a:latin typeface="Arial" panose="020B0604020202020204" pitchFamily="34" charset="0"/>
              </a:rPr>
              <a:t>Esto</a:t>
            </a:r>
            <a:r>
              <a:rPr kumimoji="0" lang="en-US" altLang="en-US" sz="2400" b="0" i="0" u="none" strike="noStrike" cap="none" normalizeH="0" baseline="0" dirty="0" smtClean="0">
                <a:ln>
                  <a:noFill/>
                </a:ln>
                <a:solidFill>
                  <a:schemeClr val="tx1"/>
                </a:solidFill>
                <a:effectLst/>
                <a:latin typeface="Arial" panose="020B0604020202020204" pitchFamily="34" charset="0"/>
              </a:rPr>
              <a:t> </a:t>
            </a:r>
            <a:r>
              <a:rPr kumimoji="0" lang="en-US" altLang="en-US" sz="2400" b="0" i="0" u="none" strike="noStrike" cap="none" normalizeH="0" baseline="0" dirty="0" err="1" smtClean="0">
                <a:ln>
                  <a:noFill/>
                </a:ln>
                <a:solidFill>
                  <a:schemeClr val="tx1"/>
                </a:solidFill>
                <a:effectLst/>
                <a:latin typeface="Arial" panose="020B0604020202020204" pitchFamily="34" charset="0"/>
              </a:rPr>
              <a:t>facilita</a:t>
            </a:r>
            <a:r>
              <a:rPr kumimoji="0" lang="en-US" altLang="en-US" sz="2400" b="0" i="0" u="none" strike="noStrike" cap="none" normalizeH="0" baseline="0" dirty="0" smtClean="0">
                <a:ln>
                  <a:noFill/>
                </a:ln>
                <a:solidFill>
                  <a:schemeClr val="tx1"/>
                </a:solidFill>
                <a:effectLst/>
                <a:latin typeface="Arial" panose="020B0604020202020204" pitchFamily="34" charset="0"/>
              </a:rPr>
              <a:t> la </a:t>
            </a:r>
            <a:r>
              <a:rPr kumimoji="0" lang="en-US" altLang="en-US" sz="2400" b="0" i="0" u="none" strike="noStrike" cap="none" normalizeH="0" baseline="0" dirty="0" err="1" smtClean="0">
                <a:ln>
                  <a:noFill/>
                </a:ln>
                <a:solidFill>
                  <a:schemeClr val="tx1"/>
                </a:solidFill>
                <a:effectLst/>
                <a:latin typeface="Arial" panose="020B0604020202020204" pitchFamily="34" charset="0"/>
              </a:rPr>
              <a:t>organización</a:t>
            </a:r>
            <a:r>
              <a:rPr kumimoji="0" lang="en-US" altLang="en-US" sz="2400" b="0" i="0" u="none" strike="noStrike" cap="none" normalizeH="0" baseline="0" dirty="0" smtClean="0">
                <a:ln>
                  <a:noFill/>
                </a:ln>
                <a:solidFill>
                  <a:schemeClr val="tx1"/>
                </a:solidFill>
                <a:effectLst/>
                <a:latin typeface="Arial" panose="020B0604020202020204" pitchFamily="34" charset="0"/>
              </a:rPr>
              <a:t> y </a:t>
            </a:r>
            <a:r>
              <a:rPr kumimoji="0" lang="en-US" altLang="en-US" sz="2400" b="0" i="0" u="none" strike="noStrike" cap="none" normalizeH="0" baseline="0" dirty="0" err="1" smtClean="0">
                <a:ln>
                  <a:noFill/>
                </a:ln>
                <a:solidFill>
                  <a:schemeClr val="tx1"/>
                </a:solidFill>
                <a:effectLst/>
                <a:latin typeface="Arial" panose="020B0604020202020204" pitchFamily="34" charset="0"/>
              </a:rPr>
              <a:t>recuperación</a:t>
            </a:r>
            <a:r>
              <a:rPr kumimoji="0" lang="en-US" altLang="en-US" sz="2400" b="0" i="0" u="none" strike="noStrike" cap="none" normalizeH="0" baseline="0" dirty="0" smtClean="0">
                <a:ln>
                  <a:noFill/>
                </a:ln>
                <a:solidFill>
                  <a:schemeClr val="tx1"/>
                </a:solidFill>
                <a:effectLst/>
                <a:latin typeface="Arial" panose="020B0604020202020204" pitchFamily="34" charset="0"/>
              </a:rPr>
              <a:t> de </a:t>
            </a:r>
            <a:r>
              <a:rPr kumimoji="0" lang="en-US" altLang="en-US" sz="2400" b="0" i="0" u="none" strike="noStrike" cap="none" normalizeH="0" baseline="0" dirty="0" err="1" smtClean="0">
                <a:ln>
                  <a:noFill/>
                </a:ln>
                <a:solidFill>
                  <a:schemeClr val="tx1"/>
                </a:solidFill>
                <a:effectLst/>
                <a:latin typeface="Arial" panose="020B0604020202020204" pitchFamily="34" charset="0"/>
              </a:rPr>
              <a:t>datos</a:t>
            </a:r>
            <a:r>
              <a:rPr kumimoji="0" lang="en-US" altLang="en-US" sz="2400" b="0" i="0" u="none" strike="noStrike" cap="none" normalizeH="0" baseline="0" dirty="0" smtClean="0">
                <a:ln>
                  <a:noFill/>
                </a:ln>
                <a:solidFill>
                  <a:schemeClr val="tx1"/>
                </a:solidFill>
                <a:effectLst/>
                <a:latin typeface="Arial" panose="020B0604020202020204" pitchFamily="34" charset="0"/>
              </a:rPr>
              <a:t>.</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err="1" smtClean="0">
                <a:ln>
                  <a:noFill/>
                </a:ln>
                <a:solidFill>
                  <a:schemeClr val="tx1"/>
                </a:solidFill>
                <a:effectLst/>
                <a:latin typeface="Arial" panose="020B0604020202020204" pitchFamily="34" charset="0"/>
              </a:rPr>
              <a:t>Consultas</a:t>
            </a:r>
            <a:r>
              <a:rPr kumimoji="0" lang="en-US" altLang="en-US" sz="2400" b="1" i="0" u="none" strike="noStrike" cap="none" normalizeH="0" baseline="0" dirty="0" smtClean="0">
                <a:ln>
                  <a:noFill/>
                </a:ln>
                <a:solidFill>
                  <a:schemeClr val="tx1"/>
                </a:solidFill>
                <a:effectLst/>
                <a:latin typeface="Arial" panose="020B0604020202020204" pitchFamily="34" charset="0"/>
              </a:rPr>
              <a:t> y </a:t>
            </a:r>
            <a:r>
              <a:rPr kumimoji="0" lang="en-US" altLang="en-US" sz="2400" b="1" i="0" u="none" strike="noStrike" cap="none" normalizeH="0" baseline="0" dirty="0" err="1" smtClean="0">
                <a:ln>
                  <a:noFill/>
                </a:ln>
                <a:solidFill>
                  <a:schemeClr val="tx1"/>
                </a:solidFill>
                <a:effectLst/>
                <a:latin typeface="Arial" panose="020B0604020202020204" pitchFamily="34" charset="0"/>
              </a:rPr>
              <a:t>Transacciones</a:t>
            </a:r>
            <a:r>
              <a:rPr kumimoji="0" lang="en-US" altLang="en-US" sz="2400" b="0" i="0" u="none" strike="noStrike" cap="none" normalizeH="0" baseline="0" dirty="0" smtClean="0">
                <a:ln>
                  <a:noFill/>
                </a:ln>
                <a:solidFill>
                  <a:schemeClr val="tx1"/>
                </a:solidFill>
                <a:effectLst/>
                <a:latin typeface="Arial" panose="020B0604020202020204" pitchFamily="34" charset="0"/>
              </a:rPr>
              <a:t>: </a:t>
            </a:r>
            <a:r>
              <a:rPr kumimoji="0" lang="en-US" altLang="en-US" sz="2400" b="0" i="0" u="none" strike="noStrike" cap="none" normalizeH="0" baseline="0" dirty="0" err="1" smtClean="0">
                <a:ln>
                  <a:noFill/>
                </a:ln>
                <a:solidFill>
                  <a:schemeClr val="tx1"/>
                </a:solidFill>
                <a:effectLst/>
                <a:latin typeface="Arial" panose="020B0604020202020204" pitchFamily="34" charset="0"/>
              </a:rPr>
              <a:t>Utiliza</a:t>
            </a:r>
            <a:r>
              <a:rPr kumimoji="0" lang="en-US" altLang="en-US" sz="2400" b="0" i="0" u="none" strike="noStrike" cap="none" normalizeH="0" baseline="0" dirty="0" smtClean="0">
                <a:ln>
                  <a:noFill/>
                </a:ln>
                <a:solidFill>
                  <a:schemeClr val="tx1"/>
                </a:solidFill>
                <a:effectLst/>
                <a:latin typeface="Arial" panose="020B0604020202020204" pitchFamily="34" charset="0"/>
              </a:rPr>
              <a:t> el </a:t>
            </a:r>
            <a:r>
              <a:rPr kumimoji="0" lang="en-US" altLang="en-US" sz="2400" b="0" i="0" u="none" strike="noStrike" cap="none" normalizeH="0" baseline="0" dirty="0" err="1" smtClean="0">
                <a:ln>
                  <a:noFill/>
                </a:ln>
                <a:solidFill>
                  <a:schemeClr val="tx1"/>
                </a:solidFill>
                <a:effectLst/>
                <a:latin typeface="Arial" panose="020B0604020202020204" pitchFamily="34" charset="0"/>
              </a:rPr>
              <a:t>lenguaje</a:t>
            </a:r>
            <a:r>
              <a:rPr kumimoji="0" lang="en-US" altLang="en-US" sz="2400" b="0" i="0" u="none" strike="noStrike" cap="none" normalizeH="0" baseline="0" dirty="0" smtClean="0">
                <a:ln>
                  <a:noFill/>
                </a:ln>
                <a:solidFill>
                  <a:schemeClr val="tx1"/>
                </a:solidFill>
                <a:effectLst/>
                <a:latin typeface="Arial" panose="020B0604020202020204" pitchFamily="34" charset="0"/>
              </a:rPr>
              <a:t> SQL (Structured Query Language) para </a:t>
            </a:r>
            <a:r>
              <a:rPr kumimoji="0" lang="en-US" altLang="en-US" sz="2400" b="0" i="0" u="none" strike="noStrike" cap="none" normalizeH="0" baseline="0" dirty="0" err="1" smtClean="0">
                <a:ln>
                  <a:noFill/>
                </a:ln>
                <a:solidFill>
                  <a:schemeClr val="tx1"/>
                </a:solidFill>
                <a:effectLst/>
                <a:latin typeface="Arial" panose="020B0604020202020204" pitchFamily="34" charset="0"/>
              </a:rPr>
              <a:t>realizar</a:t>
            </a:r>
            <a:r>
              <a:rPr kumimoji="0" lang="en-US" altLang="en-US" sz="2400" b="0" i="0" u="none" strike="noStrike" cap="none" normalizeH="0" baseline="0" dirty="0" smtClean="0">
                <a:ln>
                  <a:noFill/>
                </a:ln>
                <a:solidFill>
                  <a:schemeClr val="tx1"/>
                </a:solidFill>
                <a:effectLst/>
                <a:latin typeface="Arial" panose="020B0604020202020204" pitchFamily="34" charset="0"/>
              </a:rPr>
              <a:t> </a:t>
            </a:r>
            <a:r>
              <a:rPr kumimoji="0" lang="en-US" altLang="en-US" sz="2400" b="0" i="0" u="none" strike="noStrike" cap="none" normalizeH="0" baseline="0" dirty="0" err="1" smtClean="0">
                <a:ln>
                  <a:noFill/>
                </a:ln>
                <a:solidFill>
                  <a:schemeClr val="tx1"/>
                </a:solidFill>
                <a:effectLst/>
                <a:latin typeface="Arial" panose="020B0604020202020204" pitchFamily="34" charset="0"/>
              </a:rPr>
              <a:t>consultas</a:t>
            </a:r>
            <a:r>
              <a:rPr kumimoji="0" lang="en-US" altLang="en-US" sz="2400" b="0" i="0" u="none" strike="noStrike" cap="none" normalizeH="0" baseline="0" dirty="0" smtClean="0">
                <a:ln>
                  <a:noFill/>
                </a:ln>
                <a:solidFill>
                  <a:schemeClr val="tx1"/>
                </a:solidFill>
                <a:effectLst/>
                <a:latin typeface="Arial" panose="020B0604020202020204" pitchFamily="34" charset="0"/>
              </a:rPr>
              <a:t> y </a:t>
            </a:r>
            <a:r>
              <a:rPr kumimoji="0" lang="en-US" altLang="en-US" sz="2400" b="0" i="0" u="none" strike="noStrike" cap="none" normalizeH="0" baseline="0" dirty="0" err="1" smtClean="0">
                <a:ln>
                  <a:noFill/>
                </a:ln>
                <a:solidFill>
                  <a:schemeClr val="tx1"/>
                </a:solidFill>
                <a:effectLst/>
                <a:latin typeface="Arial" panose="020B0604020202020204" pitchFamily="34" charset="0"/>
              </a:rPr>
              <a:t>transacciones</a:t>
            </a:r>
            <a:r>
              <a:rPr kumimoji="0" lang="en-US" altLang="en-US" sz="2400" b="0" i="0" u="none" strike="noStrike" cap="none" normalizeH="0" baseline="0" dirty="0" smtClean="0">
                <a:ln>
                  <a:noFill/>
                </a:ln>
                <a:solidFill>
                  <a:schemeClr val="tx1"/>
                </a:solidFill>
                <a:effectLst/>
                <a:latin typeface="Arial" panose="020B0604020202020204" pitchFamily="34" charset="0"/>
              </a:rPr>
              <a:t> </a:t>
            </a:r>
            <a:r>
              <a:rPr kumimoji="0" lang="en-US" altLang="en-US" sz="2400" b="0" i="0" u="none" strike="noStrike" cap="none" normalizeH="0" baseline="0" dirty="0" err="1" smtClean="0">
                <a:ln>
                  <a:noFill/>
                </a:ln>
                <a:solidFill>
                  <a:schemeClr val="tx1"/>
                </a:solidFill>
                <a:effectLst/>
                <a:latin typeface="Arial" panose="020B0604020202020204" pitchFamily="34" charset="0"/>
              </a:rPr>
              <a:t>sobre</a:t>
            </a:r>
            <a:r>
              <a:rPr kumimoji="0" lang="en-US" altLang="en-US" sz="2400" b="0" i="0" u="none" strike="noStrike" cap="none" normalizeH="0" baseline="0" dirty="0" smtClean="0">
                <a:ln>
                  <a:noFill/>
                </a:ln>
                <a:solidFill>
                  <a:schemeClr val="tx1"/>
                </a:solidFill>
                <a:effectLst/>
                <a:latin typeface="Arial" panose="020B0604020202020204" pitchFamily="34" charset="0"/>
              </a:rPr>
              <a:t> </a:t>
            </a:r>
            <a:r>
              <a:rPr kumimoji="0" lang="en-US" altLang="en-US" sz="2400" b="0" i="0" u="none" strike="noStrike" cap="none" normalizeH="0" baseline="0" dirty="0" err="1" smtClean="0">
                <a:ln>
                  <a:noFill/>
                </a:ln>
                <a:solidFill>
                  <a:schemeClr val="tx1"/>
                </a:solidFill>
                <a:effectLst/>
                <a:latin typeface="Arial" panose="020B0604020202020204" pitchFamily="34" charset="0"/>
              </a:rPr>
              <a:t>los</a:t>
            </a:r>
            <a:r>
              <a:rPr kumimoji="0" lang="en-US" altLang="en-US" sz="2400" b="0" i="0" u="none" strike="noStrike" cap="none" normalizeH="0" baseline="0" dirty="0" smtClean="0">
                <a:ln>
                  <a:noFill/>
                </a:ln>
                <a:solidFill>
                  <a:schemeClr val="tx1"/>
                </a:solidFill>
                <a:effectLst/>
                <a:latin typeface="Arial" panose="020B0604020202020204" pitchFamily="34" charset="0"/>
              </a:rPr>
              <a:t> </a:t>
            </a:r>
            <a:r>
              <a:rPr kumimoji="0" lang="en-US" altLang="en-US" sz="2400" b="0" i="0" u="none" strike="noStrike" cap="none" normalizeH="0" baseline="0" dirty="0" err="1" smtClean="0">
                <a:ln>
                  <a:noFill/>
                </a:ln>
                <a:solidFill>
                  <a:schemeClr val="tx1"/>
                </a:solidFill>
                <a:effectLst/>
                <a:latin typeface="Arial" panose="020B0604020202020204" pitchFamily="34" charset="0"/>
              </a:rPr>
              <a:t>datos</a:t>
            </a:r>
            <a:r>
              <a:rPr kumimoji="0" lang="en-US" altLang="en-US" sz="2400" b="0" i="0" u="none" strike="noStrike" cap="none" normalizeH="0" baseline="0" dirty="0" smtClean="0">
                <a:ln>
                  <a:noFill/>
                </a:ln>
                <a:solidFill>
                  <a:schemeClr val="tx1"/>
                </a:solidFill>
                <a:effectLst/>
                <a:latin typeface="Arial" panose="020B0604020202020204" pitchFamily="34" charset="0"/>
              </a:rPr>
              <a:t> </a:t>
            </a:r>
            <a:r>
              <a:rPr kumimoji="0" lang="en-US" altLang="en-US" sz="2400" b="0" i="0" u="none" strike="noStrike" cap="none" normalizeH="0" baseline="0" dirty="0" err="1" smtClean="0">
                <a:ln>
                  <a:noFill/>
                </a:ln>
                <a:solidFill>
                  <a:schemeClr val="tx1"/>
                </a:solidFill>
                <a:effectLst/>
                <a:latin typeface="Arial" panose="020B0604020202020204" pitchFamily="34" charset="0"/>
              </a:rPr>
              <a:t>almacenados</a:t>
            </a:r>
            <a:r>
              <a:rPr kumimoji="0" lang="en-US" altLang="en-US" sz="2400" b="0" i="0" u="none" strike="noStrike" cap="none" normalizeH="0" baseline="0" dirty="0" smtClean="0">
                <a:ln>
                  <a:noFill/>
                </a:ln>
                <a:solidFill>
                  <a:schemeClr val="tx1"/>
                </a:solidFill>
                <a:effectLst/>
                <a:latin typeface="Arial" panose="020B0604020202020204" pitchFamily="34" charset="0"/>
              </a:rPr>
              <a:t>. SQL Server </a:t>
            </a:r>
            <a:r>
              <a:rPr kumimoji="0" lang="en-US" altLang="en-US" sz="2400" b="0" i="0" u="none" strike="noStrike" cap="none" normalizeH="0" baseline="0" dirty="0" err="1" smtClean="0">
                <a:ln>
                  <a:noFill/>
                </a:ln>
                <a:solidFill>
                  <a:schemeClr val="tx1"/>
                </a:solidFill>
                <a:effectLst/>
                <a:latin typeface="Arial" panose="020B0604020202020204" pitchFamily="34" charset="0"/>
              </a:rPr>
              <a:t>soporta</a:t>
            </a:r>
            <a:r>
              <a:rPr kumimoji="0" lang="en-US" altLang="en-US" sz="2400" b="0" i="0" u="none" strike="noStrike" cap="none" normalizeH="0" baseline="0" dirty="0" smtClean="0">
                <a:ln>
                  <a:noFill/>
                </a:ln>
                <a:solidFill>
                  <a:schemeClr val="tx1"/>
                </a:solidFill>
                <a:effectLst/>
                <a:latin typeface="Arial" panose="020B0604020202020204" pitchFamily="34" charset="0"/>
              </a:rPr>
              <a:t> </a:t>
            </a:r>
            <a:r>
              <a:rPr kumimoji="0" lang="en-US" altLang="en-US" sz="2400" b="0" i="0" u="none" strike="noStrike" cap="none" normalizeH="0" baseline="0" dirty="0" err="1" smtClean="0">
                <a:ln>
                  <a:noFill/>
                </a:ln>
                <a:solidFill>
                  <a:schemeClr val="tx1"/>
                </a:solidFill>
                <a:effectLst/>
                <a:latin typeface="Arial" panose="020B0604020202020204" pitchFamily="34" charset="0"/>
              </a:rPr>
              <a:t>tanto</a:t>
            </a:r>
            <a:r>
              <a:rPr kumimoji="0" lang="en-US" altLang="en-US" sz="2400" b="0" i="0" u="none" strike="noStrike" cap="none" normalizeH="0" baseline="0" dirty="0" smtClean="0">
                <a:ln>
                  <a:noFill/>
                </a:ln>
                <a:solidFill>
                  <a:schemeClr val="tx1"/>
                </a:solidFill>
                <a:effectLst/>
                <a:latin typeface="Arial" panose="020B0604020202020204" pitchFamily="34" charset="0"/>
              </a:rPr>
              <a:t> SQL </a:t>
            </a:r>
            <a:r>
              <a:rPr kumimoji="0" lang="en-US" altLang="en-US" sz="2400" b="0" i="0" u="none" strike="noStrike" cap="none" normalizeH="0" baseline="0" dirty="0" err="1" smtClean="0">
                <a:ln>
                  <a:noFill/>
                </a:ln>
                <a:solidFill>
                  <a:schemeClr val="tx1"/>
                </a:solidFill>
                <a:effectLst/>
                <a:latin typeface="Arial" panose="020B0604020202020204" pitchFamily="34" charset="0"/>
              </a:rPr>
              <a:t>estándar</a:t>
            </a:r>
            <a:r>
              <a:rPr kumimoji="0" lang="en-US" altLang="en-US" sz="2400" b="0" i="0" u="none" strike="noStrike" cap="none" normalizeH="0" baseline="0" dirty="0" smtClean="0">
                <a:ln>
                  <a:noFill/>
                </a:ln>
                <a:solidFill>
                  <a:schemeClr val="tx1"/>
                </a:solidFill>
                <a:effectLst/>
                <a:latin typeface="Arial" panose="020B0604020202020204" pitchFamily="34" charset="0"/>
              </a:rPr>
              <a:t> como T-SQL (Transact-SQL), </a:t>
            </a:r>
            <a:r>
              <a:rPr kumimoji="0" lang="en-US" altLang="en-US" sz="2400" b="0" i="0" u="none" strike="noStrike" cap="none" normalizeH="0" baseline="0" dirty="0" err="1" smtClean="0">
                <a:ln>
                  <a:noFill/>
                </a:ln>
                <a:solidFill>
                  <a:schemeClr val="tx1"/>
                </a:solidFill>
                <a:effectLst/>
                <a:latin typeface="Arial" panose="020B0604020202020204" pitchFamily="34" charset="0"/>
              </a:rPr>
              <a:t>una</a:t>
            </a:r>
            <a:r>
              <a:rPr kumimoji="0" lang="en-US" altLang="en-US" sz="2400" b="0" i="0" u="none" strike="noStrike" cap="none" normalizeH="0" baseline="0" dirty="0" smtClean="0">
                <a:ln>
                  <a:noFill/>
                </a:ln>
                <a:solidFill>
                  <a:schemeClr val="tx1"/>
                </a:solidFill>
                <a:effectLst/>
                <a:latin typeface="Arial" panose="020B0604020202020204" pitchFamily="34" charset="0"/>
              </a:rPr>
              <a:t> </a:t>
            </a:r>
            <a:r>
              <a:rPr kumimoji="0" lang="en-US" altLang="en-US" sz="2400" b="0" i="0" u="none" strike="noStrike" cap="none" normalizeH="0" baseline="0" dirty="0" err="1" smtClean="0">
                <a:ln>
                  <a:noFill/>
                </a:ln>
                <a:solidFill>
                  <a:schemeClr val="tx1"/>
                </a:solidFill>
                <a:effectLst/>
                <a:latin typeface="Arial" panose="020B0604020202020204" pitchFamily="34" charset="0"/>
              </a:rPr>
              <a:t>extensión</a:t>
            </a:r>
            <a:r>
              <a:rPr kumimoji="0" lang="en-US" altLang="en-US" sz="2400" b="0" i="0" u="none" strike="noStrike" cap="none" normalizeH="0" baseline="0" dirty="0" smtClean="0">
                <a:ln>
                  <a:noFill/>
                </a:ln>
                <a:solidFill>
                  <a:schemeClr val="tx1"/>
                </a:solidFill>
                <a:effectLst/>
                <a:latin typeface="Arial" panose="020B0604020202020204" pitchFamily="34" charset="0"/>
              </a:rPr>
              <a:t> de SQL </a:t>
            </a:r>
            <a:r>
              <a:rPr kumimoji="0" lang="en-US" altLang="en-US" sz="2400" b="0" i="0" u="none" strike="noStrike" cap="none" normalizeH="0" baseline="0" dirty="0" err="1" smtClean="0">
                <a:ln>
                  <a:noFill/>
                </a:ln>
                <a:solidFill>
                  <a:schemeClr val="tx1"/>
                </a:solidFill>
                <a:effectLst/>
                <a:latin typeface="Arial" panose="020B0604020202020204" pitchFamily="34" charset="0"/>
              </a:rPr>
              <a:t>desarrollada</a:t>
            </a:r>
            <a:r>
              <a:rPr kumimoji="0" lang="en-US" altLang="en-US" sz="2400" b="0" i="0" u="none" strike="noStrike" cap="none" normalizeH="0" baseline="0" dirty="0" smtClean="0">
                <a:ln>
                  <a:noFill/>
                </a:ln>
                <a:solidFill>
                  <a:schemeClr val="tx1"/>
                </a:solidFill>
                <a:effectLst/>
                <a:latin typeface="Arial" panose="020B0604020202020204" pitchFamily="34" charset="0"/>
              </a:rPr>
              <a:t> </a:t>
            </a:r>
            <a:r>
              <a:rPr kumimoji="0" lang="en-US" altLang="en-US" sz="2400" b="0" i="0" u="none" strike="noStrike" cap="none" normalizeH="0" baseline="0" dirty="0" err="1" smtClean="0">
                <a:ln>
                  <a:noFill/>
                </a:ln>
                <a:solidFill>
                  <a:schemeClr val="tx1"/>
                </a:solidFill>
                <a:effectLst/>
                <a:latin typeface="Arial" panose="020B0604020202020204" pitchFamily="34" charset="0"/>
              </a:rPr>
              <a:t>por</a:t>
            </a:r>
            <a:r>
              <a:rPr kumimoji="0" lang="en-US" altLang="en-US" sz="2400" b="0" i="0" u="none" strike="noStrike" cap="none" normalizeH="0" baseline="0" dirty="0" smtClean="0">
                <a:ln>
                  <a:noFill/>
                </a:ln>
                <a:solidFill>
                  <a:schemeClr val="tx1"/>
                </a:solidFill>
                <a:effectLst/>
                <a:latin typeface="Arial" panose="020B0604020202020204" pitchFamily="34" charset="0"/>
              </a:rPr>
              <a:t> Microsoft.</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err="1" smtClean="0">
                <a:ln>
                  <a:noFill/>
                </a:ln>
                <a:solidFill>
                  <a:schemeClr val="tx1"/>
                </a:solidFill>
                <a:effectLst/>
                <a:latin typeface="Arial" panose="020B0604020202020204" pitchFamily="34" charset="0"/>
              </a:rPr>
              <a:t>Seguridad</a:t>
            </a:r>
            <a:r>
              <a:rPr kumimoji="0" lang="en-US" altLang="en-US" sz="2400" b="0" i="0" u="none" strike="noStrike" cap="none" normalizeH="0" baseline="0" dirty="0" smtClean="0">
                <a:ln>
                  <a:noFill/>
                </a:ln>
                <a:solidFill>
                  <a:schemeClr val="tx1"/>
                </a:solidFill>
                <a:effectLst/>
                <a:latin typeface="Arial" panose="020B0604020202020204" pitchFamily="34" charset="0"/>
              </a:rPr>
              <a:t>: </a:t>
            </a:r>
            <a:r>
              <a:rPr kumimoji="0" lang="en-US" altLang="en-US" sz="2400" b="0" i="0" u="none" strike="noStrike" cap="none" normalizeH="0" baseline="0" dirty="0" err="1" smtClean="0">
                <a:ln>
                  <a:noFill/>
                </a:ln>
                <a:solidFill>
                  <a:schemeClr val="tx1"/>
                </a:solidFill>
                <a:effectLst/>
                <a:latin typeface="Arial" panose="020B0604020202020204" pitchFamily="34" charset="0"/>
              </a:rPr>
              <a:t>Proporciona</a:t>
            </a:r>
            <a:r>
              <a:rPr kumimoji="0" lang="en-US" altLang="en-US" sz="2400" b="0" i="0" u="none" strike="noStrike" cap="none" normalizeH="0" baseline="0" dirty="0" smtClean="0">
                <a:ln>
                  <a:noFill/>
                </a:ln>
                <a:solidFill>
                  <a:schemeClr val="tx1"/>
                </a:solidFill>
                <a:effectLst/>
                <a:latin typeface="Arial" panose="020B0604020202020204" pitchFamily="34" charset="0"/>
              </a:rPr>
              <a:t> </a:t>
            </a:r>
            <a:r>
              <a:rPr kumimoji="0" lang="en-US" altLang="en-US" sz="2400" b="0" i="0" u="none" strike="noStrike" cap="none" normalizeH="0" baseline="0" dirty="0" err="1" smtClean="0">
                <a:ln>
                  <a:noFill/>
                </a:ln>
                <a:solidFill>
                  <a:schemeClr val="tx1"/>
                </a:solidFill>
                <a:effectLst/>
                <a:latin typeface="Arial" panose="020B0604020202020204" pitchFamily="34" charset="0"/>
              </a:rPr>
              <a:t>diversas</a:t>
            </a:r>
            <a:r>
              <a:rPr kumimoji="0" lang="en-US" altLang="en-US" sz="2400" b="0" i="0" u="none" strike="noStrike" cap="none" normalizeH="0" baseline="0" dirty="0" smtClean="0">
                <a:ln>
                  <a:noFill/>
                </a:ln>
                <a:solidFill>
                  <a:schemeClr val="tx1"/>
                </a:solidFill>
                <a:effectLst/>
                <a:latin typeface="Arial" panose="020B0604020202020204" pitchFamily="34" charset="0"/>
              </a:rPr>
              <a:t> </a:t>
            </a:r>
            <a:r>
              <a:rPr kumimoji="0" lang="en-US" altLang="en-US" sz="2400" b="0" i="0" u="none" strike="noStrike" cap="none" normalizeH="0" baseline="0" dirty="0" err="1" smtClean="0">
                <a:ln>
                  <a:noFill/>
                </a:ln>
                <a:solidFill>
                  <a:schemeClr val="tx1"/>
                </a:solidFill>
                <a:effectLst/>
                <a:latin typeface="Arial" panose="020B0604020202020204" pitchFamily="34" charset="0"/>
              </a:rPr>
              <a:t>características</a:t>
            </a:r>
            <a:r>
              <a:rPr kumimoji="0" lang="en-US" altLang="en-US" sz="2400" b="0" i="0" u="none" strike="noStrike" cap="none" normalizeH="0" baseline="0" dirty="0" smtClean="0">
                <a:ln>
                  <a:noFill/>
                </a:ln>
                <a:solidFill>
                  <a:schemeClr val="tx1"/>
                </a:solidFill>
                <a:effectLst/>
                <a:latin typeface="Arial" panose="020B0604020202020204" pitchFamily="34" charset="0"/>
              </a:rPr>
              <a:t> de </a:t>
            </a:r>
            <a:r>
              <a:rPr kumimoji="0" lang="en-US" altLang="en-US" sz="2400" b="0" i="0" u="none" strike="noStrike" cap="none" normalizeH="0" baseline="0" dirty="0" err="1" smtClean="0">
                <a:ln>
                  <a:noFill/>
                </a:ln>
                <a:solidFill>
                  <a:schemeClr val="tx1"/>
                </a:solidFill>
                <a:effectLst/>
                <a:latin typeface="Arial" panose="020B0604020202020204" pitchFamily="34" charset="0"/>
              </a:rPr>
              <a:t>seguridad</a:t>
            </a:r>
            <a:r>
              <a:rPr kumimoji="0" lang="en-US" altLang="en-US" sz="2400" b="0" i="0" u="none" strike="noStrike" cap="none" normalizeH="0" baseline="0" dirty="0" smtClean="0">
                <a:ln>
                  <a:noFill/>
                </a:ln>
                <a:solidFill>
                  <a:schemeClr val="tx1"/>
                </a:solidFill>
                <a:effectLst/>
                <a:latin typeface="Arial" panose="020B0604020202020204" pitchFamily="34" charset="0"/>
              </a:rPr>
              <a:t> para </a:t>
            </a:r>
            <a:r>
              <a:rPr kumimoji="0" lang="en-US" altLang="en-US" sz="2400" b="0" i="0" u="none" strike="noStrike" cap="none" normalizeH="0" baseline="0" dirty="0" err="1" smtClean="0">
                <a:ln>
                  <a:noFill/>
                </a:ln>
                <a:solidFill>
                  <a:schemeClr val="tx1"/>
                </a:solidFill>
                <a:effectLst/>
                <a:latin typeface="Arial" panose="020B0604020202020204" pitchFamily="34" charset="0"/>
              </a:rPr>
              <a:t>proteger</a:t>
            </a:r>
            <a:r>
              <a:rPr kumimoji="0" lang="en-US" altLang="en-US" sz="2400" b="0" i="0" u="none" strike="noStrike" cap="none" normalizeH="0" baseline="0" dirty="0" smtClean="0">
                <a:ln>
                  <a:noFill/>
                </a:ln>
                <a:solidFill>
                  <a:schemeClr val="tx1"/>
                </a:solidFill>
                <a:effectLst/>
                <a:latin typeface="Arial" panose="020B0604020202020204" pitchFamily="34" charset="0"/>
              </a:rPr>
              <a:t> </a:t>
            </a:r>
            <a:r>
              <a:rPr kumimoji="0" lang="en-US" altLang="en-US" sz="2400" b="0" i="0" u="none" strike="noStrike" cap="none" normalizeH="0" baseline="0" dirty="0" err="1" smtClean="0">
                <a:ln>
                  <a:noFill/>
                </a:ln>
                <a:solidFill>
                  <a:schemeClr val="tx1"/>
                </a:solidFill>
                <a:effectLst/>
                <a:latin typeface="Arial" panose="020B0604020202020204" pitchFamily="34" charset="0"/>
              </a:rPr>
              <a:t>los</a:t>
            </a:r>
            <a:r>
              <a:rPr kumimoji="0" lang="en-US" altLang="en-US" sz="2400" b="0" i="0" u="none" strike="noStrike" cap="none" normalizeH="0" baseline="0" dirty="0" smtClean="0">
                <a:ln>
                  <a:noFill/>
                </a:ln>
                <a:solidFill>
                  <a:schemeClr val="tx1"/>
                </a:solidFill>
                <a:effectLst/>
                <a:latin typeface="Arial" panose="020B0604020202020204" pitchFamily="34" charset="0"/>
              </a:rPr>
              <a:t> </a:t>
            </a:r>
            <a:r>
              <a:rPr kumimoji="0" lang="en-US" altLang="en-US" sz="2400" b="0" i="0" u="none" strike="noStrike" cap="none" normalizeH="0" baseline="0" dirty="0" err="1" smtClean="0">
                <a:ln>
                  <a:noFill/>
                </a:ln>
                <a:solidFill>
                  <a:schemeClr val="tx1"/>
                </a:solidFill>
                <a:effectLst/>
                <a:latin typeface="Arial" panose="020B0604020202020204" pitchFamily="34" charset="0"/>
              </a:rPr>
              <a:t>datos</a:t>
            </a:r>
            <a:r>
              <a:rPr kumimoji="0" lang="en-US" altLang="en-US" sz="2400" b="0" i="0" u="none" strike="noStrike" cap="none" normalizeH="0" baseline="0" dirty="0" smtClean="0">
                <a:ln>
                  <a:noFill/>
                </a:ln>
                <a:solidFill>
                  <a:schemeClr val="tx1"/>
                </a:solidFill>
                <a:effectLst/>
                <a:latin typeface="Arial" panose="020B0604020202020204" pitchFamily="34" charset="0"/>
              </a:rPr>
              <a:t>, como </a:t>
            </a:r>
            <a:r>
              <a:rPr kumimoji="0" lang="en-US" altLang="en-US" sz="2400" b="0" i="0" u="none" strike="noStrike" cap="none" normalizeH="0" baseline="0" dirty="0" err="1" smtClean="0">
                <a:ln>
                  <a:noFill/>
                </a:ln>
                <a:solidFill>
                  <a:schemeClr val="tx1"/>
                </a:solidFill>
                <a:effectLst/>
                <a:latin typeface="Arial" panose="020B0604020202020204" pitchFamily="34" charset="0"/>
              </a:rPr>
              <a:t>autenticación</a:t>
            </a:r>
            <a:r>
              <a:rPr kumimoji="0" lang="en-US" altLang="en-US" sz="2400" b="0" i="0" u="none" strike="noStrike" cap="none" normalizeH="0" baseline="0" dirty="0" smtClean="0">
                <a:ln>
                  <a:noFill/>
                </a:ln>
                <a:solidFill>
                  <a:schemeClr val="tx1"/>
                </a:solidFill>
                <a:effectLst/>
                <a:latin typeface="Arial" panose="020B0604020202020204" pitchFamily="34" charset="0"/>
              </a:rPr>
              <a:t>, </a:t>
            </a:r>
            <a:r>
              <a:rPr kumimoji="0" lang="en-US" altLang="en-US" sz="2400" b="0" i="0" u="none" strike="noStrike" cap="none" normalizeH="0" baseline="0" dirty="0" err="1" smtClean="0">
                <a:ln>
                  <a:noFill/>
                </a:ln>
                <a:solidFill>
                  <a:schemeClr val="tx1"/>
                </a:solidFill>
                <a:effectLst/>
                <a:latin typeface="Arial" panose="020B0604020202020204" pitchFamily="34" charset="0"/>
              </a:rPr>
              <a:t>autorización</a:t>
            </a:r>
            <a:r>
              <a:rPr kumimoji="0" lang="en-US" altLang="en-US" sz="2400" b="0" i="0" u="none" strike="noStrike" cap="none" normalizeH="0" baseline="0" dirty="0" smtClean="0">
                <a:ln>
                  <a:noFill/>
                </a:ln>
                <a:solidFill>
                  <a:schemeClr val="tx1"/>
                </a:solidFill>
                <a:effectLst/>
                <a:latin typeface="Arial" panose="020B0604020202020204" pitchFamily="34" charset="0"/>
              </a:rPr>
              <a:t>, </a:t>
            </a:r>
            <a:r>
              <a:rPr kumimoji="0" lang="en-US" altLang="en-US" sz="2400" b="0" i="0" u="none" strike="noStrike" cap="none" normalizeH="0" baseline="0" dirty="0" err="1" smtClean="0">
                <a:ln>
                  <a:noFill/>
                </a:ln>
                <a:solidFill>
                  <a:schemeClr val="tx1"/>
                </a:solidFill>
                <a:effectLst/>
                <a:latin typeface="Arial" panose="020B0604020202020204" pitchFamily="34" charset="0"/>
              </a:rPr>
              <a:t>cifrado</a:t>
            </a:r>
            <a:r>
              <a:rPr kumimoji="0" lang="en-US" altLang="en-US" sz="2400" b="0" i="0" u="none" strike="noStrike" cap="none" normalizeH="0" baseline="0" dirty="0" smtClean="0">
                <a:ln>
                  <a:noFill/>
                </a:ln>
                <a:solidFill>
                  <a:schemeClr val="tx1"/>
                </a:solidFill>
                <a:effectLst/>
                <a:latin typeface="Arial" panose="020B0604020202020204" pitchFamily="34" charset="0"/>
              </a:rPr>
              <a:t> y </a:t>
            </a:r>
            <a:r>
              <a:rPr kumimoji="0" lang="en-US" altLang="en-US" sz="2400" b="0" i="0" u="none" strike="noStrike" cap="none" normalizeH="0" baseline="0" dirty="0" err="1" smtClean="0">
                <a:ln>
                  <a:noFill/>
                </a:ln>
                <a:solidFill>
                  <a:schemeClr val="tx1"/>
                </a:solidFill>
                <a:effectLst/>
                <a:latin typeface="Arial" panose="020B0604020202020204" pitchFamily="34" charset="0"/>
              </a:rPr>
              <a:t>auditoría</a:t>
            </a:r>
            <a:r>
              <a:rPr kumimoji="0" lang="en-US" altLang="en-US" sz="2400" b="0" i="0" u="none" strike="noStrike" cap="none" normalizeH="0" baseline="0" dirty="0" smtClean="0">
                <a:ln>
                  <a:noFill/>
                </a:ln>
                <a:solidFill>
                  <a:schemeClr val="tx1"/>
                </a:solidFill>
                <a:effectLst/>
                <a:latin typeface="Arial" panose="020B0604020202020204" pitchFamily="34" charset="0"/>
              </a:rPr>
              <a:t>.</a:t>
            </a:r>
          </a:p>
        </p:txBody>
      </p:sp>
    </p:spTree>
    <p:extLst>
      <p:ext uri="{BB962C8B-B14F-4D97-AF65-F5344CB8AC3E}">
        <p14:creationId xmlns:p14="http://schemas.microsoft.com/office/powerpoint/2010/main" val="273436673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PE" b="1" dirty="0"/>
              <a:t>Caracteristicas</a:t>
            </a:r>
            <a:endParaRPr lang="en-US" b="1" dirty="0"/>
          </a:p>
        </p:txBody>
      </p:sp>
      <p:sp>
        <p:nvSpPr>
          <p:cNvPr id="4" name="Rectangle 1"/>
          <p:cNvSpPr>
            <a:spLocks noGrp="1" noChangeArrowheads="1"/>
          </p:cNvSpPr>
          <p:nvPr>
            <p:ph idx="1"/>
          </p:nvPr>
        </p:nvSpPr>
        <p:spPr bwMode="auto">
          <a:xfrm>
            <a:off x="838200" y="1382192"/>
            <a:ext cx="10515600" cy="48936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smtClean="0">
                <a:ln>
                  <a:noFill/>
                </a:ln>
                <a:solidFill>
                  <a:schemeClr val="tx1"/>
                </a:solidFill>
                <a:effectLst/>
                <a:latin typeface="Arial" panose="020B0604020202020204" pitchFamily="34" charset="0"/>
              </a:rPr>
              <a:t>Alta </a:t>
            </a:r>
            <a:r>
              <a:rPr kumimoji="0" lang="en-US" altLang="en-US" sz="2400" b="1" i="0" u="none" strike="noStrike" cap="none" normalizeH="0" baseline="0" dirty="0" err="1" smtClean="0">
                <a:ln>
                  <a:noFill/>
                </a:ln>
                <a:solidFill>
                  <a:schemeClr val="tx1"/>
                </a:solidFill>
                <a:effectLst/>
                <a:latin typeface="Arial" panose="020B0604020202020204" pitchFamily="34" charset="0"/>
              </a:rPr>
              <a:t>Disponibilidad</a:t>
            </a:r>
            <a:r>
              <a:rPr kumimoji="0" lang="en-US" altLang="en-US" sz="2400" b="1" i="0" u="none" strike="noStrike" cap="none" normalizeH="0" baseline="0" dirty="0" smtClean="0">
                <a:ln>
                  <a:noFill/>
                </a:ln>
                <a:solidFill>
                  <a:schemeClr val="tx1"/>
                </a:solidFill>
                <a:effectLst/>
                <a:latin typeface="Arial" panose="020B0604020202020204" pitchFamily="34" charset="0"/>
              </a:rPr>
              <a:t> y </a:t>
            </a:r>
            <a:r>
              <a:rPr kumimoji="0" lang="en-US" altLang="en-US" sz="2400" b="1" i="0" u="none" strike="noStrike" cap="none" normalizeH="0" baseline="0" dirty="0" err="1" smtClean="0">
                <a:ln>
                  <a:noFill/>
                </a:ln>
                <a:solidFill>
                  <a:schemeClr val="tx1"/>
                </a:solidFill>
                <a:effectLst/>
                <a:latin typeface="Arial" panose="020B0604020202020204" pitchFamily="34" charset="0"/>
              </a:rPr>
              <a:t>Recuperación</a:t>
            </a:r>
            <a:r>
              <a:rPr kumimoji="0" lang="en-US" altLang="en-US" sz="2400" b="1" i="0" u="none" strike="noStrike" cap="none" normalizeH="0" baseline="0" dirty="0" smtClean="0">
                <a:ln>
                  <a:noFill/>
                </a:ln>
                <a:solidFill>
                  <a:schemeClr val="tx1"/>
                </a:solidFill>
                <a:effectLst/>
                <a:latin typeface="Arial" panose="020B0604020202020204" pitchFamily="34" charset="0"/>
              </a:rPr>
              <a:t> ante </a:t>
            </a:r>
            <a:r>
              <a:rPr kumimoji="0" lang="en-US" altLang="en-US" sz="2400" b="1" i="0" u="none" strike="noStrike" cap="none" normalizeH="0" baseline="0" dirty="0" err="1" smtClean="0">
                <a:ln>
                  <a:noFill/>
                </a:ln>
                <a:solidFill>
                  <a:schemeClr val="tx1"/>
                </a:solidFill>
                <a:effectLst/>
                <a:latin typeface="Arial" panose="020B0604020202020204" pitchFamily="34" charset="0"/>
              </a:rPr>
              <a:t>Desastres</a:t>
            </a:r>
            <a:r>
              <a:rPr kumimoji="0" lang="en-US" altLang="en-US" sz="2400" b="0" i="0" u="none" strike="noStrike" cap="none" normalizeH="0" baseline="0" dirty="0" smtClean="0">
                <a:ln>
                  <a:noFill/>
                </a:ln>
                <a:solidFill>
                  <a:schemeClr val="tx1"/>
                </a:solidFill>
                <a:effectLst/>
                <a:latin typeface="Arial" panose="020B0604020202020204" pitchFamily="34" charset="0"/>
              </a:rPr>
              <a:t>: </a:t>
            </a:r>
            <a:r>
              <a:rPr kumimoji="0" lang="en-US" altLang="en-US" sz="2400" b="0" i="0" u="none" strike="noStrike" cap="none" normalizeH="0" baseline="0" dirty="0" err="1" smtClean="0">
                <a:ln>
                  <a:noFill/>
                </a:ln>
                <a:solidFill>
                  <a:schemeClr val="tx1"/>
                </a:solidFill>
                <a:effectLst/>
                <a:latin typeface="Arial" panose="020B0604020202020204" pitchFamily="34" charset="0"/>
              </a:rPr>
              <a:t>Ofrece</a:t>
            </a:r>
            <a:r>
              <a:rPr kumimoji="0" lang="en-US" altLang="en-US" sz="2400" b="0" i="0" u="none" strike="noStrike" cap="none" normalizeH="0" baseline="0" dirty="0" smtClean="0">
                <a:ln>
                  <a:noFill/>
                </a:ln>
                <a:solidFill>
                  <a:schemeClr val="tx1"/>
                </a:solidFill>
                <a:effectLst/>
                <a:latin typeface="Arial" panose="020B0604020202020204" pitchFamily="34" charset="0"/>
              </a:rPr>
              <a:t> </a:t>
            </a:r>
            <a:r>
              <a:rPr kumimoji="0" lang="en-US" altLang="en-US" sz="2400" b="0" i="0" u="none" strike="noStrike" cap="none" normalizeH="0" baseline="0" dirty="0" err="1" smtClean="0">
                <a:ln>
                  <a:noFill/>
                </a:ln>
                <a:solidFill>
                  <a:schemeClr val="tx1"/>
                </a:solidFill>
                <a:effectLst/>
                <a:latin typeface="Arial" panose="020B0604020202020204" pitchFamily="34" charset="0"/>
              </a:rPr>
              <a:t>opciones</a:t>
            </a:r>
            <a:r>
              <a:rPr kumimoji="0" lang="en-US" altLang="en-US" sz="2400" b="0" i="0" u="none" strike="noStrike" cap="none" normalizeH="0" baseline="0" dirty="0" smtClean="0">
                <a:ln>
                  <a:noFill/>
                </a:ln>
                <a:solidFill>
                  <a:schemeClr val="tx1"/>
                </a:solidFill>
                <a:effectLst/>
                <a:latin typeface="Arial" panose="020B0604020202020204" pitchFamily="34" charset="0"/>
              </a:rPr>
              <a:t> para la </a:t>
            </a:r>
            <a:r>
              <a:rPr kumimoji="0" lang="en-US" altLang="en-US" sz="2400" b="0" i="0" u="none" strike="noStrike" cap="none" normalizeH="0" baseline="0" dirty="0" err="1" smtClean="0">
                <a:ln>
                  <a:noFill/>
                </a:ln>
                <a:solidFill>
                  <a:schemeClr val="tx1"/>
                </a:solidFill>
                <a:effectLst/>
                <a:latin typeface="Arial" panose="020B0604020202020204" pitchFamily="34" charset="0"/>
              </a:rPr>
              <a:t>replicación</a:t>
            </a:r>
            <a:r>
              <a:rPr kumimoji="0" lang="en-US" altLang="en-US" sz="2400" b="0" i="0" u="none" strike="noStrike" cap="none" normalizeH="0" baseline="0" dirty="0" smtClean="0">
                <a:ln>
                  <a:noFill/>
                </a:ln>
                <a:solidFill>
                  <a:schemeClr val="tx1"/>
                </a:solidFill>
                <a:effectLst/>
                <a:latin typeface="Arial" panose="020B0604020202020204" pitchFamily="34" charset="0"/>
              </a:rPr>
              <a:t> de </a:t>
            </a:r>
            <a:r>
              <a:rPr kumimoji="0" lang="en-US" altLang="en-US" sz="2400" b="0" i="0" u="none" strike="noStrike" cap="none" normalizeH="0" baseline="0" dirty="0" err="1" smtClean="0">
                <a:ln>
                  <a:noFill/>
                </a:ln>
                <a:solidFill>
                  <a:schemeClr val="tx1"/>
                </a:solidFill>
                <a:effectLst/>
                <a:latin typeface="Arial" panose="020B0604020202020204" pitchFamily="34" charset="0"/>
              </a:rPr>
              <a:t>datos</a:t>
            </a:r>
            <a:r>
              <a:rPr kumimoji="0" lang="en-US" altLang="en-US" sz="2400" b="0" i="0" u="none" strike="noStrike" cap="none" normalizeH="0" baseline="0" dirty="0" smtClean="0">
                <a:ln>
                  <a:noFill/>
                </a:ln>
                <a:solidFill>
                  <a:schemeClr val="tx1"/>
                </a:solidFill>
                <a:effectLst/>
                <a:latin typeface="Arial" panose="020B0604020202020204" pitchFamily="34" charset="0"/>
              </a:rPr>
              <a:t>, el clustering y la </a:t>
            </a:r>
            <a:r>
              <a:rPr kumimoji="0" lang="en-US" altLang="en-US" sz="2400" b="0" i="0" u="none" strike="noStrike" cap="none" normalizeH="0" baseline="0" dirty="0" err="1" smtClean="0">
                <a:ln>
                  <a:noFill/>
                </a:ln>
                <a:solidFill>
                  <a:schemeClr val="tx1"/>
                </a:solidFill>
                <a:effectLst/>
                <a:latin typeface="Arial" panose="020B0604020202020204" pitchFamily="34" charset="0"/>
              </a:rPr>
              <a:t>recuperación</a:t>
            </a:r>
            <a:r>
              <a:rPr kumimoji="0" lang="en-US" altLang="en-US" sz="2400" b="0" i="0" u="none" strike="noStrike" cap="none" normalizeH="0" baseline="0" dirty="0" smtClean="0">
                <a:ln>
                  <a:noFill/>
                </a:ln>
                <a:solidFill>
                  <a:schemeClr val="tx1"/>
                </a:solidFill>
                <a:effectLst/>
                <a:latin typeface="Arial" panose="020B0604020202020204" pitchFamily="34" charset="0"/>
              </a:rPr>
              <a:t> ante </a:t>
            </a:r>
            <a:r>
              <a:rPr kumimoji="0" lang="en-US" altLang="en-US" sz="2400" b="0" i="0" u="none" strike="noStrike" cap="none" normalizeH="0" baseline="0" dirty="0" err="1" smtClean="0">
                <a:ln>
                  <a:noFill/>
                </a:ln>
                <a:solidFill>
                  <a:schemeClr val="tx1"/>
                </a:solidFill>
                <a:effectLst/>
                <a:latin typeface="Arial" panose="020B0604020202020204" pitchFamily="34" charset="0"/>
              </a:rPr>
              <a:t>desastres</a:t>
            </a:r>
            <a:r>
              <a:rPr kumimoji="0" lang="en-US" altLang="en-US" sz="2400" b="0" i="0" u="none" strike="noStrike" cap="none" normalizeH="0" baseline="0" dirty="0" smtClean="0">
                <a:ln>
                  <a:noFill/>
                </a:ln>
                <a:solidFill>
                  <a:schemeClr val="tx1"/>
                </a:solidFill>
                <a:effectLst/>
                <a:latin typeface="Arial" panose="020B0604020202020204" pitchFamily="34" charset="0"/>
              </a:rPr>
              <a:t>, </a:t>
            </a:r>
            <a:r>
              <a:rPr kumimoji="0" lang="en-US" altLang="en-US" sz="2400" b="0" i="0" u="none" strike="noStrike" cap="none" normalizeH="0" baseline="0" dirty="0" err="1" smtClean="0">
                <a:ln>
                  <a:noFill/>
                </a:ln>
                <a:solidFill>
                  <a:schemeClr val="tx1"/>
                </a:solidFill>
                <a:effectLst/>
                <a:latin typeface="Arial" panose="020B0604020202020204" pitchFamily="34" charset="0"/>
              </a:rPr>
              <a:t>garantizando</a:t>
            </a:r>
            <a:r>
              <a:rPr kumimoji="0" lang="en-US" altLang="en-US" sz="2400" b="0" i="0" u="none" strike="noStrike" cap="none" normalizeH="0" baseline="0" dirty="0" smtClean="0">
                <a:ln>
                  <a:noFill/>
                </a:ln>
                <a:solidFill>
                  <a:schemeClr val="tx1"/>
                </a:solidFill>
                <a:effectLst/>
                <a:latin typeface="Arial" panose="020B0604020202020204" pitchFamily="34" charset="0"/>
              </a:rPr>
              <a:t> la </a:t>
            </a:r>
            <a:r>
              <a:rPr kumimoji="0" lang="en-US" altLang="en-US" sz="2400" b="0" i="0" u="none" strike="noStrike" cap="none" normalizeH="0" baseline="0" dirty="0" err="1" smtClean="0">
                <a:ln>
                  <a:noFill/>
                </a:ln>
                <a:solidFill>
                  <a:schemeClr val="tx1"/>
                </a:solidFill>
                <a:effectLst/>
                <a:latin typeface="Arial" panose="020B0604020202020204" pitchFamily="34" charset="0"/>
              </a:rPr>
              <a:t>disponibilidad</a:t>
            </a:r>
            <a:r>
              <a:rPr kumimoji="0" lang="en-US" altLang="en-US" sz="2400" b="0" i="0" u="none" strike="noStrike" cap="none" normalizeH="0" baseline="0" dirty="0" smtClean="0">
                <a:ln>
                  <a:noFill/>
                </a:ln>
                <a:solidFill>
                  <a:schemeClr val="tx1"/>
                </a:solidFill>
                <a:effectLst/>
                <a:latin typeface="Arial" panose="020B0604020202020204" pitchFamily="34" charset="0"/>
              </a:rPr>
              <a:t> y la </a:t>
            </a:r>
            <a:r>
              <a:rPr kumimoji="0" lang="en-US" altLang="en-US" sz="2400" b="0" i="0" u="none" strike="noStrike" cap="none" normalizeH="0" baseline="0" dirty="0" err="1" smtClean="0">
                <a:ln>
                  <a:noFill/>
                </a:ln>
                <a:solidFill>
                  <a:schemeClr val="tx1"/>
                </a:solidFill>
                <a:effectLst/>
                <a:latin typeface="Arial" panose="020B0604020202020204" pitchFamily="34" charset="0"/>
              </a:rPr>
              <a:t>integridad</a:t>
            </a:r>
            <a:r>
              <a:rPr kumimoji="0" lang="en-US" altLang="en-US" sz="2400" b="0" i="0" u="none" strike="noStrike" cap="none" normalizeH="0" baseline="0" dirty="0" smtClean="0">
                <a:ln>
                  <a:noFill/>
                </a:ln>
                <a:solidFill>
                  <a:schemeClr val="tx1"/>
                </a:solidFill>
                <a:effectLst/>
                <a:latin typeface="Arial" panose="020B0604020202020204" pitchFamily="34" charset="0"/>
              </a:rPr>
              <a:t> de </a:t>
            </a:r>
            <a:r>
              <a:rPr kumimoji="0" lang="en-US" altLang="en-US" sz="2400" b="0" i="0" u="none" strike="noStrike" cap="none" normalizeH="0" baseline="0" dirty="0" err="1" smtClean="0">
                <a:ln>
                  <a:noFill/>
                </a:ln>
                <a:solidFill>
                  <a:schemeClr val="tx1"/>
                </a:solidFill>
                <a:effectLst/>
                <a:latin typeface="Arial" panose="020B0604020202020204" pitchFamily="34" charset="0"/>
              </a:rPr>
              <a:t>los</a:t>
            </a:r>
            <a:r>
              <a:rPr kumimoji="0" lang="en-US" altLang="en-US" sz="2400" b="0" i="0" u="none" strike="noStrike" cap="none" normalizeH="0" baseline="0" dirty="0" smtClean="0">
                <a:ln>
                  <a:noFill/>
                </a:ln>
                <a:solidFill>
                  <a:schemeClr val="tx1"/>
                </a:solidFill>
                <a:effectLst/>
                <a:latin typeface="Arial" panose="020B0604020202020204" pitchFamily="34" charset="0"/>
              </a:rPr>
              <a:t> </a:t>
            </a:r>
            <a:r>
              <a:rPr kumimoji="0" lang="en-US" altLang="en-US" sz="2400" b="0" i="0" u="none" strike="noStrike" cap="none" normalizeH="0" baseline="0" dirty="0" err="1" smtClean="0">
                <a:ln>
                  <a:noFill/>
                </a:ln>
                <a:solidFill>
                  <a:schemeClr val="tx1"/>
                </a:solidFill>
                <a:effectLst/>
                <a:latin typeface="Arial" panose="020B0604020202020204" pitchFamily="34" charset="0"/>
              </a:rPr>
              <a:t>datos</a:t>
            </a:r>
            <a:r>
              <a:rPr kumimoji="0" lang="en-US" altLang="en-US" sz="2400" b="0" i="0" u="none" strike="noStrike" cap="none" normalizeH="0" baseline="0" dirty="0" smtClean="0">
                <a:ln>
                  <a:noFill/>
                </a:ln>
                <a:solidFill>
                  <a:schemeClr val="tx1"/>
                </a:solidFill>
                <a:effectLst/>
                <a:latin typeface="Arial" panose="020B0604020202020204" pitchFamily="34" charset="0"/>
              </a:rPr>
              <a:t>.</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2400" b="0" i="0" u="none" strike="noStrike" cap="none" normalizeH="0" baseline="0" dirty="0" smtClean="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err="1" smtClean="0">
                <a:ln>
                  <a:noFill/>
                </a:ln>
                <a:solidFill>
                  <a:schemeClr val="tx1"/>
                </a:solidFill>
                <a:effectLst/>
                <a:latin typeface="Arial" panose="020B0604020202020204" pitchFamily="34" charset="0"/>
              </a:rPr>
              <a:t>Integración</a:t>
            </a:r>
            <a:r>
              <a:rPr kumimoji="0" lang="en-US" altLang="en-US" sz="2400" b="1" i="0" u="none" strike="noStrike" cap="none" normalizeH="0" baseline="0" dirty="0" smtClean="0">
                <a:ln>
                  <a:noFill/>
                </a:ln>
                <a:solidFill>
                  <a:schemeClr val="tx1"/>
                </a:solidFill>
                <a:effectLst/>
                <a:latin typeface="Arial" panose="020B0604020202020204" pitchFamily="34" charset="0"/>
              </a:rPr>
              <a:t> y </a:t>
            </a:r>
            <a:r>
              <a:rPr kumimoji="0" lang="en-US" altLang="en-US" sz="2400" b="1" i="0" u="none" strike="noStrike" cap="none" normalizeH="0" baseline="0" dirty="0" err="1" smtClean="0">
                <a:ln>
                  <a:noFill/>
                </a:ln>
                <a:solidFill>
                  <a:schemeClr val="tx1"/>
                </a:solidFill>
                <a:effectLst/>
                <a:latin typeface="Arial" panose="020B0604020202020204" pitchFamily="34" charset="0"/>
              </a:rPr>
              <a:t>Análisis</a:t>
            </a:r>
            <a:r>
              <a:rPr kumimoji="0" lang="en-US" altLang="en-US" sz="2400" b="1" i="0" u="none" strike="noStrike" cap="none" normalizeH="0" baseline="0" dirty="0" smtClean="0">
                <a:ln>
                  <a:noFill/>
                </a:ln>
                <a:solidFill>
                  <a:schemeClr val="tx1"/>
                </a:solidFill>
                <a:effectLst/>
                <a:latin typeface="Arial" panose="020B0604020202020204" pitchFamily="34" charset="0"/>
              </a:rPr>
              <a:t> de </a:t>
            </a:r>
            <a:r>
              <a:rPr kumimoji="0" lang="en-US" altLang="en-US" sz="2400" b="1" i="0" u="none" strike="noStrike" cap="none" normalizeH="0" baseline="0" dirty="0" err="1" smtClean="0">
                <a:ln>
                  <a:noFill/>
                </a:ln>
                <a:solidFill>
                  <a:schemeClr val="tx1"/>
                </a:solidFill>
                <a:effectLst/>
                <a:latin typeface="Arial" panose="020B0604020202020204" pitchFamily="34" charset="0"/>
              </a:rPr>
              <a:t>Datos</a:t>
            </a:r>
            <a:r>
              <a:rPr kumimoji="0" lang="en-US" altLang="en-US" sz="2400" b="0" i="0" u="none" strike="noStrike" cap="none" normalizeH="0" baseline="0" dirty="0" smtClean="0">
                <a:ln>
                  <a:noFill/>
                </a:ln>
                <a:solidFill>
                  <a:schemeClr val="tx1"/>
                </a:solidFill>
                <a:effectLst/>
                <a:latin typeface="Arial" panose="020B0604020202020204" pitchFamily="34" charset="0"/>
              </a:rPr>
              <a:t>: </a:t>
            </a:r>
            <a:r>
              <a:rPr kumimoji="0" lang="en-US" altLang="en-US" sz="2400" b="0" i="0" u="none" strike="noStrike" cap="none" normalizeH="0" baseline="0" dirty="0" err="1" smtClean="0">
                <a:ln>
                  <a:noFill/>
                </a:ln>
                <a:solidFill>
                  <a:schemeClr val="tx1"/>
                </a:solidFill>
                <a:effectLst/>
                <a:latin typeface="Arial" panose="020B0604020202020204" pitchFamily="34" charset="0"/>
              </a:rPr>
              <a:t>Incluye</a:t>
            </a:r>
            <a:r>
              <a:rPr kumimoji="0" lang="en-US" altLang="en-US" sz="2400" b="0" i="0" u="none" strike="noStrike" cap="none" normalizeH="0" baseline="0" dirty="0" smtClean="0">
                <a:ln>
                  <a:noFill/>
                </a:ln>
                <a:solidFill>
                  <a:schemeClr val="tx1"/>
                </a:solidFill>
                <a:effectLst/>
                <a:latin typeface="Arial" panose="020B0604020202020204" pitchFamily="34" charset="0"/>
              </a:rPr>
              <a:t> </a:t>
            </a:r>
            <a:r>
              <a:rPr kumimoji="0" lang="en-US" altLang="en-US" sz="2400" b="0" i="0" u="none" strike="noStrike" cap="none" normalizeH="0" baseline="0" dirty="0" err="1" smtClean="0">
                <a:ln>
                  <a:noFill/>
                </a:ln>
                <a:solidFill>
                  <a:schemeClr val="tx1"/>
                </a:solidFill>
                <a:effectLst/>
                <a:latin typeface="Arial" panose="020B0604020202020204" pitchFamily="34" charset="0"/>
              </a:rPr>
              <a:t>herramientas</a:t>
            </a:r>
            <a:r>
              <a:rPr kumimoji="0" lang="en-US" altLang="en-US" sz="2400" b="0" i="0" u="none" strike="noStrike" cap="none" normalizeH="0" baseline="0" dirty="0" smtClean="0">
                <a:ln>
                  <a:noFill/>
                </a:ln>
                <a:solidFill>
                  <a:schemeClr val="tx1"/>
                </a:solidFill>
                <a:effectLst/>
                <a:latin typeface="Arial" panose="020B0604020202020204" pitchFamily="34" charset="0"/>
              </a:rPr>
              <a:t> para la </a:t>
            </a:r>
            <a:r>
              <a:rPr kumimoji="0" lang="en-US" altLang="en-US" sz="2400" b="0" i="0" u="none" strike="noStrike" cap="none" normalizeH="0" baseline="0" dirty="0" err="1" smtClean="0">
                <a:ln>
                  <a:noFill/>
                </a:ln>
                <a:solidFill>
                  <a:schemeClr val="tx1"/>
                </a:solidFill>
                <a:effectLst/>
                <a:latin typeface="Arial" panose="020B0604020202020204" pitchFamily="34" charset="0"/>
              </a:rPr>
              <a:t>integración</a:t>
            </a:r>
            <a:r>
              <a:rPr kumimoji="0" lang="en-US" altLang="en-US" sz="2400" b="0" i="0" u="none" strike="noStrike" cap="none" normalizeH="0" baseline="0" dirty="0" smtClean="0">
                <a:ln>
                  <a:noFill/>
                </a:ln>
                <a:solidFill>
                  <a:schemeClr val="tx1"/>
                </a:solidFill>
                <a:effectLst/>
                <a:latin typeface="Arial" panose="020B0604020202020204" pitchFamily="34" charset="0"/>
              </a:rPr>
              <a:t> de </a:t>
            </a:r>
            <a:r>
              <a:rPr kumimoji="0" lang="en-US" altLang="en-US" sz="2400" b="0" i="0" u="none" strike="noStrike" cap="none" normalizeH="0" baseline="0" dirty="0" err="1" smtClean="0">
                <a:ln>
                  <a:noFill/>
                </a:ln>
                <a:solidFill>
                  <a:schemeClr val="tx1"/>
                </a:solidFill>
                <a:effectLst/>
                <a:latin typeface="Arial" panose="020B0604020202020204" pitchFamily="34" charset="0"/>
              </a:rPr>
              <a:t>datos</a:t>
            </a:r>
            <a:r>
              <a:rPr kumimoji="0" lang="en-US" altLang="en-US" sz="2400" b="0" i="0" u="none" strike="noStrike" cap="none" normalizeH="0" baseline="0" dirty="0" smtClean="0">
                <a:ln>
                  <a:noFill/>
                </a:ln>
                <a:solidFill>
                  <a:schemeClr val="tx1"/>
                </a:solidFill>
                <a:effectLst/>
                <a:latin typeface="Arial" panose="020B0604020202020204" pitchFamily="34" charset="0"/>
              </a:rPr>
              <a:t> (SSIS - SQL Server Integration Services), el </a:t>
            </a:r>
            <a:r>
              <a:rPr kumimoji="0" lang="en-US" altLang="en-US" sz="2400" b="0" i="0" u="none" strike="noStrike" cap="none" normalizeH="0" baseline="0" dirty="0" err="1" smtClean="0">
                <a:ln>
                  <a:noFill/>
                </a:ln>
                <a:solidFill>
                  <a:schemeClr val="tx1"/>
                </a:solidFill>
                <a:effectLst/>
                <a:latin typeface="Arial" panose="020B0604020202020204" pitchFamily="34" charset="0"/>
              </a:rPr>
              <a:t>análisis</a:t>
            </a:r>
            <a:r>
              <a:rPr kumimoji="0" lang="en-US" altLang="en-US" sz="2400" b="0" i="0" u="none" strike="noStrike" cap="none" normalizeH="0" baseline="0" dirty="0" smtClean="0">
                <a:ln>
                  <a:noFill/>
                </a:ln>
                <a:solidFill>
                  <a:schemeClr val="tx1"/>
                </a:solidFill>
                <a:effectLst/>
                <a:latin typeface="Arial" panose="020B0604020202020204" pitchFamily="34" charset="0"/>
              </a:rPr>
              <a:t> de </a:t>
            </a:r>
            <a:r>
              <a:rPr kumimoji="0" lang="en-US" altLang="en-US" sz="2400" b="0" i="0" u="none" strike="noStrike" cap="none" normalizeH="0" baseline="0" dirty="0" err="1" smtClean="0">
                <a:ln>
                  <a:noFill/>
                </a:ln>
                <a:solidFill>
                  <a:schemeClr val="tx1"/>
                </a:solidFill>
                <a:effectLst/>
                <a:latin typeface="Arial" panose="020B0604020202020204" pitchFamily="34" charset="0"/>
              </a:rPr>
              <a:t>datos</a:t>
            </a:r>
            <a:r>
              <a:rPr kumimoji="0" lang="en-US" altLang="en-US" sz="2400" b="0" i="0" u="none" strike="noStrike" cap="none" normalizeH="0" baseline="0" dirty="0" smtClean="0">
                <a:ln>
                  <a:noFill/>
                </a:ln>
                <a:solidFill>
                  <a:schemeClr val="tx1"/>
                </a:solidFill>
                <a:effectLst/>
                <a:latin typeface="Arial" panose="020B0604020202020204" pitchFamily="34" charset="0"/>
              </a:rPr>
              <a:t> (SSAS - SQL Server Analysis Services) y la </a:t>
            </a:r>
            <a:r>
              <a:rPr kumimoji="0" lang="en-US" altLang="en-US" sz="2400" b="0" i="0" u="none" strike="noStrike" cap="none" normalizeH="0" baseline="0" dirty="0" err="1" smtClean="0">
                <a:ln>
                  <a:noFill/>
                </a:ln>
                <a:solidFill>
                  <a:schemeClr val="tx1"/>
                </a:solidFill>
                <a:effectLst/>
                <a:latin typeface="Arial" panose="020B0604020202020204" pitchFamily="34" charset="0"/>
              </a:rPr>
              <a:t>generación</a:t>
            </a:r>
            <a:r>
              <a:rPr kumimoji="0" lang="en-US" altLang="en-US" sz="2400" b="0" i="0" u="none" strike="noStrike" cap="none" normalizeH="0" baseline="0" dirty="0" smtClean="0">
                <a:ln>
                  <a:noFill/>
                </a:ln>
                <a:solidFill>
                  <a:schemeClr val="tx1"/>
                </a:solidFill>
                <a:effectLst/>
                <a:latin typeface="Arial" panose="020B0604020202020204" pitchFamily="34" charset="0"/>
              </a:rPr>
              <a:t> de </a:t>
            </a:r>
            <a:r>
              <a:rPr kumimoji="0" lang="en-US" altLang="en-US" sz="2400" b="0" i="0" u="none" strike="noStrike" cap="none" normalizeH="0" baseline="0" dirty="0" err="1" smtClean="0">
                <a:ln>
                  <a:noFill/>
                </a:ln>
                <a:solidFill>
                  <a:schemeClr val="tx1"/>
                </a:solidFill>
                <a:effectLst/>
                <a:latin typeface="Arial" panose="020B0604020202020204" pitchFamily="34" charset="0"/>
              </a:rPr>
              <a:t>informes</a:t>
            </a:r>
            <a:r>
              <a:rPr kumimoji="0" lang="en-US" altLang="en-US" sz="2400" b="0" i="0" u="none" strike="noStrike" cap="none" normalizeH="0" baseline="0" dirty="0" smtClean="0">
                <a:ln>
                  <a:noFill/>
                </a:ln>
                <a:solidFill>
                  <a:schemeClr val="tx1"/>
                </a:solidFill>
                <a:effectLst/>
                <a:latin typeface="Arial" panose="020B0604020202020204" pitchFamily="34" charset="0"/>
              </a:rPr>
              <a:t> (SSRS - SQL Server Reporting Services).</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2400" b="0" i="0" u="none" strike="noStrike" cap="none" normalizeH="0" baseline="0" dirty="0" smtClean="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err="1" smtClean="0">
                <a:ln>
                  <a:noFill/>
                </a:ln>
                <a:solidFill>
                  <a:schemeClr val="tx1"/>
                </a:solidFill>
                <a:effectLst/>
                <a:latin typeface="Arial" panose="020B0604020202020204" pitchFamily="34" charset="0"/>
              </a:rPr>
              <a:t>Escalabilidad</a:t>
            </a:r>
            <a:r>
              <a:rPr kumimoji="0" lang="en-US" altLang="en-US" sz="2400" b="1" i="0" u="none" strike="noStrike" cap="none" normalizeH="0" baseline="0" dirty="0" smtClean="0">
                <a:ln>
                  <a:noFill/>
                </a:ln>
                <a:solidFill>
                  <a:schemeClr val="tx1"/>
                </a:solidFill>
                <a:effectLst/>
                <a:latin typeface="Arial" panose="020B0604020202020204" pitchFamily="34" charset="0"/>
              </a:rPr>
              <a:t> y </a:t>
            </a:r>
            <a:r>
              <a:rPr kumimoji="0" lang="en-US" altLang="en-US" sz="2400" b="1" i="0" u="none" strike="noStrike" cap="none" normalizeH="0" baseline="0" dirty="0" err="1" smtClean="0">
                <a:ln>
                  <a:noFill/>
                </a:ln>
                <a:solidFill>
                  <a:schemeClr val="tx1"/>
                </a:solidFill>
                <a:effectLst/>
                <a:latin typeface="Arial" panose="020B0604020202020204" pitchFamily="34" charset="0"/>
              </a:rPr>
              <a:t>Rendimiento</a:t>
            </a:r>
            <a:r>
              <a:rPr kumimoji="0" lang="en-US" altLang="en-US" sz="2400" b="0" i="0" u="none" strike="noStrike" cap="none" normalizeH="0" baseline="0" dirty="0" smtClean="0">
                <a:ln>
                  <a:noFill/>
                </a:ln>
                <a:solidFill>
                  <a:schemeClr val="tx1"/>
                </a:solidFill>
                <a:effectLst/>
                <a:latin typeface="Arial" panose="020B0604020202020204" pitchFamily="34" charset="0"/>
              </a:rPr>
              <a:t>: </a:t>
            </a:r>
            <a:r>
              <a:rPr kumimoji="0" lang="en-US" altLang="en-US" sz="2400" b="0" i="0" u="none" strike="noStrike" cap="none" normalizeH="0" baseline="0" dirty="0" err="1" smtClean="0">
                <a:ln>
                  <a:noFill/>
                </a:ln>
                <a:solidFill>
                  <a:schemeClr val="tx1"/>
                </a:solidFill>
                <a:effectLst/>
                <a:latin typeface="Arial" panose="020B0604020202020204" pitchFamily="34" charset="0"/>
              </a:rPr>
              <a:t>Está</a:t>
            </a:r>
            <a:r>
              <a:rPr kumimoji="0" lang="en-US" altLang="en-US" sz="2400" b="0" i="0" u="none" strike="noStrike" cap="none" normalizeH="0" baseline="0" dirty="0" smtClean="0">
                <a:ln>
                  <a:noFill/>
                </a:ln>
                <a:solidFill>
                  <a:schemeClr val="tx1"/>
                </a:solidFill>
                <a:effectLst/>
                <a:latin typeface="Arial" panose="020B0604020202020204" pitchFamily="34" charset="0"/>
              </a:rPr>
              <a:t> </a:t>
            </a:r>
            <a:r>
              <a:rPr kumimoji="0" lang="en-US" altLang="en-US" sz="2400" b="0" i="0" u="none" strike="noStrike" cap="none" normalizeH="0" baseline="0" dirty="0" err="1" smtClean="0">
                <a:ln>
                  <a:noFill/>
                </a:ln>
                <a:solidFill>
                  <a:schemeClr val="tx1"/>
                </a:solidFill>
                <a:effectLst/>
                <a:latin typeface="Arial" panose="020B0604020202020204" pitchFamily="34" charset="0"/>
              </a:rPr>
              <a:t>diseñado</a:t>
            </a:r>
            <a:r>
              <a:rPr kumimoji="0" lang="en-US" altLang="en-US" sz="2400" b="0" i="0" u="none" strike="noStrike" cap="none" normalizeH="0" baseline="0" dirty="0" smtClean="0">
                <a:ln>
                  <a:noFill/>
                </a:ln>
                <a:solidFill>
                  <a:schemeClr val="tx1"/>
                </a:solidFill>
                <a:effectLst/>
                <a:latin typeface="Arial" panose="020B0604020202020204" pitchFamily="34" charset="0"/>
              </a:rPr>
              <a:t> para </a:t>
            </a:r>
            <a:r>
              <a:rPr kumimoji="0" lang="en-US" altLang="en-US" sz="2400" b="0" i="0" u="none" strike="noStrike" cap="none" normalizeH="0" baseline="0" dirty="0" err="1" smtClean="0">
                <a:ln>
                  <a:noFill/>
                </a:ln>
                <a:solidFill>
                  <a:schemeClr val="tx1"/>
                </a:solidFill>
                <a:effectLst/>
                <a:latin typeface="Arial" panose="020B0604020202020204" pitchFamily="34" charset="0"/>
              </a:rPr>
              <a:t>manejar</a:t>
            </a:r>
            <a:r>
              <a:rPr kumimoji="0" lang="en-US" altLang="en-US" sz="2400" b="0" i="0" u="none" strike="noStrike" cap="none" normalizeH="0" baseline="0" dirty="0" smtClean="0">
                <a:ln>
                  <a:noFill/>
                </a:ln>
                <a:solidFill>
                  <a:schemeClr val="tx1"/>
                </a:solidFill>
                <a:effectLst/>
                <a:latin typeface="Arial" panose="020B0604020202020204" pitchFamily="34" charset="0"/>
              </a:rPr>
              <a:t> </a:t>
            </a:r>
            <a:r>
              <a:rPr kumimoji="0" lang="en-US" altLang="en-US" sz="2400" b="0" i="0" u="none" strike="noStrike" cap="none" normalizeH="0" baseline="0" dirty="0" err="1" smtClean="0">
                <a:ln>
                  <a:noFill/>
                </a:ln>
                <a:solidFill>
                  <a:schemeClr val="tx1"/>
                </a:solidFill>
                <a:effectLst/>
                <a:latin typeface="Arial" panose="020B0604020202020204" pitchFamily="34" charset="0"/>
              </a:rPr>
              <a:t>grandes</a:t>
            </a:r>
            <a:r>
              <a:rPr kumimoji="0" lang="en-US" altLang="en-US" sz="2400" b="0" i="0" u="none" strike="noStrike" cap="none" normalizeH="0" baseline="0" dirty="0" smtClean="0">
                <a:ln>
                  <a:noFill/>
                </a:ln>
                <a:solidFill>
                  <a:schemeClr val="tx1"/>
                </a:solidFill>
                <a:effectLst/>
                <a:latin typeface="Arial" panose="020B0604020202020204" pitchFamily="34" charset="0"/>
              </a:rPr>
              <a:t> </a:t>
            </a:r>
            <a:r>
              <a:rPr kumimoji="0" lang="en-US" altLang="en-US" sz="2400" b="0" i="0" u="none" strike="noStrike" cap="none" normalizeH="0" baseline="0" dirty="0" err="1" smtClean="0">
                <a:ln>
                  <a:noFill/>
                </a:ln>
                <a:solidFill>
                  <a:schemeClr val="tx1"/>
                </a:solidFill>
                <a:effectLst/>
                <a:latin typeface="Arial" panose="020B0604020202020204" pitchFamily="34" charset="0"/>
              </a:rPr>
              <a:t>volúmenes</a:t>
            </a:r>
            <a:r>
              <a:rPr kumimoji="0" lang="en-US" altLang="en-US" sz="2400" b="0" i="0" u="none" strike="noStrike" cap="none" normalizeH="0" baseline="0" dirty="0" smtClean="0">
                <a:ln>
                  <a:noFill/>
                </a:ln>
                <a:solidFill>
                  <a:schemeClr val="tx1"/>
                </a:solidFill>
                <a:effectLst/>
                <a:latin typeface="Arial" panose="020B0604020202020204" pitchFamily="34" charset="0"/>
              </a:rPr>
              <a:t> de </a:t>
            </a:r>
            <a:r>
              <a:rPr kumimoji="0" lang="en-US" altLang="en-US" sz="2400" b="0" i="0" u="none" strike="noStrike" cap="none" normalizeH="0" baseline="0" dirty="0" err="1" smtClean="0">
                <a:ln>
                  <a:noFill/>
                </a:ln>
                <a:solidFill>
                  <a:schemeClr val="tx1"/>
                </a:solidFill>
                <a:effectLst/>
                <a:latin typeface="Arial" panose="020B0604020202020204" pitchFamily="34" charset="0"/>
              </a:rPr>
              <a:t>datos</a:t>
            </a:r>
            <a:r>
              <a:rPr kumimoji="0" lang="en-US" altLang="en-US" sz="2400" b="0" i="0" u="none" strike="noStrike" cap="none" normalizeH="0" baseline="0" dirty="0" smtClean="0">
                <a:ln>
                  <a:noFill/>
                </a:ln>
                <a:solidFill>
                  <a:schemeClr val="tx1"/>
                </a:solidFill>
                <a:effectLst/>
                <a:latin typeface="Arial" panose="020B0604020202020204" pitchFamily="34" charset="0"/>
              </a:rPr>
              <a:t> y </a:t>
            </a:r>
            <a:r>
              <a:rPr kumimoji="0" lang="en-US" altLang="en-US" sz="2400" b="1" i="0" u="none" strike="noStrike" cap="none" normalizeH="0" baseline="0" dirty="0" smtClean="0">
                <a:ln>
                  <a:noFill/>
                </a:ln>
                <a:solidFill>
                  <a:srgbClr val="FF0000"/>
                </a:solidFill>
                <a:effectLst/>
                <a:latin typeface="Arial" panose="020B0604020202020204" pitchFamily="34" charset="0"/>
              </a:rPr>
              <a:t>altos </a:t>
            </a:r>
            <a:r>
              <a:rPr kumimoji="0" lang="en-US" altLang="en-US" sz="2400" b="1" i="0" u="none" strike="noStrike" cap="none" normalizeH="0" baseline="0" dirty="0" err="1" smtClean="0">
                <a:ln>
                  <a:noFill/>
                </a:ln>
                <a:solidFill>
                  <a:srgbClr val="FF0000"/>
                </a:solidFill>
                <a:effectLst/>
                <a:latin typeface="Arial" panose="020B0604020202020204" pitchFamily="34" charset="0"/>
              </a:rPr>
              <a:t>niveles</a:t>
            </a:r>
            <a:r>
              <a:rPr kumimoji="0" lang="en-US" altLang="en-US" sz="2400" b="1" i="0" u="none" strike="noStrike" cap="none" normalizeH="0" baseline="0" dirty="0" smtClean="0">
                <a:ln>
                  <a:noFill/>
                </a:ln>
                <a:solidFill>
                  <a:srgbClr val="FF0000"/>
                </a:solidFill>
                <a:effectLst/>
                <a:latin typeface="Arial" panose="020B0604020202020204" pitchFamily="34" charset="0"/>
              </a:rPr>
              <a:t> de </a:t>
            </a:r>
            <a:r>
              <a:rPr kumimoji="0" lang="en-US" altLang="en-US" sz="2400" b="1" i="0" u="none" strike="noStrike" cap="none" normalizeH="0" baseline="0" dirty="0" err="1" smtClean="0">
                <a:ln>
                  <a:noFill/>
                </a:ln>
                <a:solidFill>
                  <a:srgbClr val="FF0000"/>
                </a:solidFill>
                <a:effectLst/>
                <a:latin typeface="Arial" panose="020B0604020202020204" pitchFamily="34" charset="0"/>
              </a:rPr>
              <a:t>concurrencia</a:t>
            </a:r>
            <a:r>
              <a:rPr kumimoji="0" lang="en-US" altLang="en-US" sz="2400" b="0" i="0" u="none" strike="noStrike" cap="none" normalizeH="0" baseline="0" dirty="0" smtClean="0">
                <a:ln>
                  <a:noFill/>
                </a:ln>
                <a:solidFill>
                  <a:schemeClr val="tx1"/>
                </a:solidFill>
                <a:effectLst/>
                <a:latin typeface="Arial" panose="020B0604020202020204" pitchFamily="34" charset="0"/>
              </a:rPr>
              <a:t>, </a:t>
            </a:r>
            <a:r>
              <a:rPr kumimoji="0" lang="en-US" altLang="en-US" sz="2400" b="0" i="0" u="none" strike="noStrike" cap="none" normalizeH="0" baseline="0" dirty="0" err="1" smtClean="0">
                <a:ln>
                  <a:noFill/>
                </a:ln>
                <a:solidFill>
                  <a:schemeClr val="tx1"/>
                </a:solidFill>
                <a:effectLst/>
                <a:latin typeface="Arial" panose="020B0604020202020204" pitchFamily="34" charset="0"/>
              </a:rPr>
              <a:t>ofreciendo</a:t>
            </a:r>
            <a:r>
              <a:rPr kumimoji="0" lang="en-US" altLang="en-US" sz="2400" b="0" i="0" u="none" strike="noStrike" cap="none" normalizeH="0" baseline="0" dirty="0" smtClean="0">
                <a:ln>
                  <a:noFill/>
                </a:ln>
                <a:solidFill>
                  <a:schemeClr val="tx1"/>
                </a:solidFill>
                <a:effectLst/>
                <a:latin typeface="Arial" panose="020B0604020202020204" pitchFamily="34" charset="0"/>
              </a:rPr>
              <a:t> </a:t>
            </a:r>
            <a:r>
              <a:rPr kumimoji="0" lang="en-US" altLang="en-US" sz="2400" b="0" i="0" u="none" strike="noStrike" cap="none" normalizeH="0" baseline="0" dirty="0" err="1" smtClean="0">
                <a:ln>
                  <a:noFill/>
                </a:ln>
                <a:solidFill>
                  <a:schemeClr val="tx1"/>
                </a:solidFill>
                <a:effectLst/>
                <a:latin typeface="Arial" panose="020B0604020202020204" pitchFamily="34" charset="0"/>
              </a:rPr>
              <a:t>características</a:t>
            </a:r>
            <a:r>
              <a:rPr kumimoji="0" lang="en-US" altLang="en-US" sz="2400" b="0" i="0" u="none" strike="noStrike" cap="none" normalizeH="0" baseline="0" dirty="0" smtClean="0">
                <a:ln>
                  <a:noFill/>
                </a:ln>
                <a:solidFill>
                  <a:schemeClr val="tx1"/>
                </a:solidFill>
                <a:effectLst/>
                <a:latin typeface="Arial" panose="020B0604020202020204" pitchFamily="34" charset="0"/>
              </a:rPr>
              <a:t> como </a:t>
            </a:r>
            <a:r>
              <a:rPr kumimoji="0" lang="en-US" altLang="en-US" sz="2400" b="0" i="0" u="none" strike="noStrike" cap="none" normalizeH="0" baseline="0" dirty="0" err="1" smtClean="0">
                <a:ln>
                  <a:noFill/>
                </a:ln>
                <a:solidFill>
                  <a:schemeClr val="tx1"/>
                </a:solidFill>
                <a:effectLst/>
                <a:latin typeface="Arial" panose="020B0604020202020204" pitchFamily="34" charset="0"/>
              </a:rPr>
              <a:t>particionamiento</a:t>
            </a:r>
            <a:r>
              <a:rPr kumimoji="0" lang="en-US" altLang="en-US" sz="2400" b="0" i="0" u="none" strike="noStrike" cap="none" normalizeH="0" baseline="0" dirty="0" smtClean="0">
                <a:ln>
                  <a:noFill/>
                </a:ln>
                <a:solidFill>
                  <a:schemeClr val="tx1"/>
                </a:solidFill>
                <a:effectLst/>
                <a:latin typeface="Arial" panose="020B0604020202020204" pitchFamily="34" charset="0"/>
              </a:rPr>
              <a:t> de </a:t>
            </a:r>
            <a:r>
              <a:rPr kumimoji="0" lang="en-US" altLang="en-US" sz="2400" b="0" i="0" u="none" strike="noStrike" cap="none" normalizeH="0" baseline="0" dirty="0" err="1" smtClean="0">
                <a:ln>
                  <a:noFill/>
                </a:ln>
                <a:solidFill>
                  <a:schemeClr val="tx1"/>
                </a:solidFill>
                <a:effectLst/>
                <a:latin typeface="Arial" panose="020B0604020202020204" pitchFamily="34" charset="0"/>
              </a:rPr>
              <a:t>tablas</a:t>
            </a:r>
            <a:r>
              <a:rPr kumimoji="0" lang="en-US" altLang="en-US" sz="2400" b="0" i="0" u="none" strike="noStrike" cap="none" normalizeH="0" baseline="0" dirty="0" smtClean="0">
                <a:ln>
                  <a:noFill/>
                </a:ln>
                <a:solidFill>
                  <a:schemeClr val="tx1"/>
                </a:solidFill>
                <a:effectLst/>
                <a:latin typeface="Arial" panose="020B0604020202020204" pitchFamily="34" charset="0"/>
              </a:rPr>
              <a:t> e </a:t>
            </a:r>
            <a:r>
              <a:rPr kumimoji="0" lang="en-US" altLang="en-US" sz="2400" b="1" i="0" u="none" strike="noStrike" cap="none" normalizeH="0" baseline="0" dirty="0" err="1" smtClean="0">
                <a:ln>
                  <a:noFill/>
                </a:ln>
                <a:solidFill>
                  <a:srgbClr val="FF0000"/>
                </a:solidFill>
                <a:effectLst/>
                <a:latin typeface="Arial" panose="020B0604020202020204" pitchFamily="34" charset="0"/>
              </a:rPr>
              <a:t>índices</a:t>
            </a:r>
            <a:r>
              <a:rPr kumimoji="0" lang="en-US" altLang="en-US" sz="2400" b="0" i="0" u="none" strike="noStrike" cap="none" normalizeH="0" baseline="0" dirty="0" smtClean="0">
                <a:ln>
                  <a:noFill/>
                </a:ln>
                <a:solidFill>
                  <a:schemeClr val="tx1"/>
                </a:solidFill>
                <a:effectLst/>
                <a:latin typeface="Arial" panose="020B0604020202020204" pitchFamily="34" charset="0"/>
              </a:rPr>
              <a:t>, </a:t>
            </a:r>
            <a:r>
              <a:rPr kumimoji="0" lang="en-US" altLang="en-US" sz="2400" b="0" i="0" u="none" strike="noStrike" cap="none" normalizeH="0" baseline="0" dirty="0" err="1" smtClean="0">
                <a:ln>
                  <a:noFill/>
                </a:ln>
                <a:solidFill>
                  <a:schemeClr val="tx1"/>
                </a:solidFill>
                <a:effectLst/>
                <a:latin typeface="Arial" panose="020B0604020202020204" pitchFamily="34" charset="0"/>
              </a:rPr>
              <a:t>compresión</a:t>
            </a:r>
            <a:r>
              <a:rPr kumimoji="0" lang="en-US" altLang="en-US" sz="2400" b="0" i="0" u="none" strike="noStrike" cap="none" normalizeH="0" baseline="0" dirty="0" smtClean="0">
                <a:ln>
                  <a:noFill/>
                </a:ln>
                <a:solidFill>
                  <a:schemeClr val="tx1"/>
                </a:solidFill>
                <a:effectLst/>
                <a:latin typeface="Arial" panose="020B0604020202020204" pitchFamily="34" charset="0"/>
              </a:rPr>
              <a:t> de </a:t>
            </a:r>
            <a:r>
              <a:rPr kumimoji="0" lang="en-US" altLang="en-US" sz="2400" b="0" i="0" u="none" strike="noStrike" cap="none" normalizeH="0" baseline="0" dirty="0" err="1" smtClean="0">
                <a:ln>
                  <a:noFill/>
                </a:ln>
                <a:solidFill>
                  <a:schemeClr val="tx1"/>
                </a:solidFill>
                <a:effectLst/>
                <a:latin typeface="Arial" panose="020B0604020202020204" pitchFamily="34" charset="0"/>
              </a:rPr>
              <a:t>datos</a:t>
            </a:r>
            <a:r>
              <a:rPr kumimoji="0" lang="en-US" altLang="en-US" sz="2400" b="0" i="0" u="none" strike="noStrike" cap="none" normalizeH="0" baseline="0" dirty="0" smtClean="0">
                <a:ln>
                  <a:noFill/>
                </a:ln>
                <a:solidFill>
                  <a:schemeClr val="tx1"/>
                </a:solidFill>
                <a:effectLst/>
                <a:latin typeface="Arial" panose="020B0604020202020204" pitchFamily="34" charset="0"/>
              </a:rPr>
              <a:t> y </a:t>
            </a:r>
            <a:r>
              <a:rPr kumimoji="0" lang="en-US" altLang="en-US" sz="2400" b="0" i="0" u="none" strike="noStrike" cap="none" normalizeH="0" baseline="0" dirty="0" err="1" smtClean="0">
                <a:ln>
                  <a:noFill/>
                </a:ln>
                <a:solidFill>
                  <a:schemeClr val="tx1"/>
                </a:solidFill>
                <a:effectLst/>
                <a:latin typeface="Arial" panose="020B0604020202020204" pitchFamily="34" charset="0"/>
              </a:rPr>
              <a:t>optimización</a:t>
            </a:r>
            <a:r>
              <a:rPr kumimoji="0" lang="en-US" altLang="en-US" sz="2400" b="0" i="0" u="none" strike="noStrike" cap="none" normalizeH="0" baseline="0" dirty="0" smtClean="0">
                <a:ln>
                  <a:noFill/>
                </a:ln>
                <a:solidFill>
                  <a:schemeClr val="tx1"/>
                </a:solidFill>
                <a:effectLst/>
                <a:latin typeface="Arial" panose="020B0604020202020204" pitchFamily="34" charset="0"/>
              </a:rPr>
              <a:t> de </a:t>
            </a:r>
            <a:r>
              <a:rPr kumimoji="0" lang="en-US" altLang="en-US" sz="2400" b="0" i="0" u="none" strike="noStrike" cap="none" normalizeH="0" baseline="0" dirty="0" err="1" smtClean="0">
                <a:ln>
                  <a:noFill/>
                </a:ln>
                <a:solidFill>
                  <a:schemeClr val="tx1"/>
                </a:solidFill>
                <a:effectLst/>
                <a:latin typeface="Arial" panose="020B0604020202020204" pitchFamily="34" charset="0"/>
              </a:rPr>
              <a:t>consultas</a:t>
            </a:r>
            <a:r>
              <a:rPr kumimoji="0" lang="en-US" altLang="en-US" sz="2400" b="0" i="0" u="none" strike="noStrike" cap="none" normalizeH="0" baseline="0" dirty="0" smtClean="0">
                <a:ln>
                  <a:noFill/>
                </a:ln>
                <a:solidFill>
                  <a:schemeClr val="tx1"/>
                </a:solidFill>
                <a:effectLst/>
                <a:latin typeface="Arial" panose="020B0604020202020204" pitchFamily="34" charset="0"/>
              </a:rPr>
              <a:t>.</a:t>
            </a:r>
          </a:p>
        </p:txBody>
      </p:sp>
    </p:spTree>
    <p:extLst>
      <p:ext uri="{BB962C8B-B14F-4D97-AF65-F5344CB8AC3E}">
        <p14:creationId xmlns:p14="http://schemas.microsoft.com/office/powerpoint/2010/main" val="21190463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PE" b="1" dirty="0" smtClean="0"/>
              <a:t>ELEMENTOS DE UNA BASE DE DATOS</a:t>
            </a:r>
            <a:endParaRPr lang="en-US" b="1" dirty="0"/>
          </a:p>
        </p:txBody>
      </p:sp>
      <p:sp>
        <p:nvSpPr>
          <p:cNvPr id="3" name="Marcador de contenido 2"/>
          <p:cNvSpPr>
            <a:spLocks noGrp="1"/>
          </p:cNvSpPr>
          <p:nvPr>
            <p:ph idx="1"/>
          </p:nvPr>
        </p:nvSpPr>
        <p:spPr/>
        <p:txBody>
          <a:bodyPr/>
          <a:lstStyle/>
          <a:p>
            <a:r>
              <a:rPr lang="es-PE" dirty="0"/>
              <a:t>El elemento principal de una BD es la </a:t>
            </a:r>
            <a:r>
              <a:rPr lang="es-PE" b="1" dirty="0">
                <a:solidFill>
                  <a:srgbClr val="FF0000"/>
                </a:solidFill>
                <a:effectLst>
                  <a:outerShdw blurRad="38100" dist="38100" dir="2700000" algn="tl">
                    <a:srgbClr val="000000">
                      <a:alpha val="43137"/>
                    </a:srgbClr>
                  </a:outerShdw>
                </a:effectLst>
              </a:rPr>
              <a:t>TABLA</a:t>
            </a:r>
            <a:r>
              <a:rPr lang="es-PE" dirty="0" smtClean="0"/>
              <a:t>.</a:t>
            </a:r>
            <a:endParaRPr lang="es-PE" dirty="0"/>
          </a:p>
        </p:txBody>
      </p:sp>
      <p:pic>
        <p:nvPicPr>
          <p:cNvPr id="4" name="6 Imagen"/>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51193" y="3096657"/>
            <a:ext cx="4932485" cy="3103685"/>
          </a:xfrm>
          <a:prstGeom prst="rect">
            <a:avLst/>
          </a:prstGeom>
          <a:solidFill>
            <a:srgbClr val="FFFFFF">
              <a:shade val="85000"/>
            </a:srgbClr>
          </a:solidFill>
          <a:ln w="190500" cap="sq">
            <a:solidFill>
              <a:srgbClr val="FFFFFF"/>
            </a:solidFill>
            <a:miter lim="800000"/>
          </a:ln>
          <a:effectLst>
            <a:outerShdw blurRad="65000" dist="50800" dir="12900000" kx="195000" ky="145000" algn="tl" rotWithShape="0">
              <a:srgbClr val="000000">
                <a:alpha val="30000"/>
              </a:srgbClr>
            </a:outerShdw>
          </a:effectLst>
          <a:scene3d>
            <a:camera prst="orthographicFront">
              <a:rot lat="0" lon="0" rev="360000"/>
            </a:camera>
            <a:lightRig rig="twoPt" dir="t">
              <a:rot lat="0" lon="0" rev="7200000"/>
            </a:lightRig>
          </a:scene3d>
          <a:sp3d contourW="12700">
            <a:bevelT w="25400" h="19050"/>
            <a:contourClr>
              <a:srgbClr val="969696"/>
            </a:contourClr>
          </a:sp3d>
        </p:spPr>
      </p:pic>
      <p:pic>
        <p:nvPicPr>
          <p:cNvPr id="5" name="7 Imagen"/>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156756" y="2351942"/>
            <a:ext cx="5600700" cy="2277208"/>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10274655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4 Marcador de contenido"/>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664182" y="958884"/>
            <a:ext cx="8916943" cy="4288976"/>
          </a:xfrm>
          <a:prstGeom prst="rect">
            <a:avLst/>
          </a:prstGeom>
          <a:ln>
            <a:noFill/>
          </a:ln>
          <a:effectLst>
            <a:glow rad="228600">
              <a:schemeClr val="accent1">
                <a:satMod val="175000"/>
                <a:alpha val="40000"/>
              </a:schemeClr>
            </a:glow>
            <a:outerShdw blurRad="292100" dist="139700" dir="2700000" algn="tl" rotWithShape="0">
              <a:srgbClr val="333333">
                <a:alpha val="65000"/>
              </a:srgbClr>
            </a:outerShdw>
          </a:effectLst>
        </p:spPr>
      </p:pic>
    </p:spTree>
    <p:extLst>
      <p:ext uri="{BB962C8B-B14F-4D97-AF65-F5344CB8AC3E}">
        <p14:creationId xmlns:p14="http://schemas.microsoft.com/office/powerpoint/2010/main" val="377562658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Marcador de contenido 4"/>
          <p:cNvPicPr>
            <a:picLocks noGrp="1" noChangeAspect="1"/>
          </p:cNvPicPr>
          <p:nvPr>
            <p:ph idx="1"/>
          </p:nvPr>
        </p:nvPicPr>
        <p:blipFill>
          <a:blip r:embed="rId2"/>
          <a:stretch>
            <a:fillRect/>
          </a:stretch>
        </p:blipFill>
        <p:spPr>
          <a:xfrm>
            <a:off x="1862987" y="364332"/>
            <a:ext cx="8341187" cy="5828951"/>
          </a:xfrm>
          <a:prstGeom prst="rect">
            <a:avLst/>
          </a:prstGeom>
        </p:spPr>
      </p:pic>
    </p:spTree>
    <p:extLst>
      <p:ext uri="{BB962C8B-B14F-4D97-AF65-F5344CB8AC3E}">
        <p14:creationId xmlns:p14="http://schemas.microsoft.com/office/powerpoint/2010/main" val="99937240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Marcador de contenido 3"/>
          <p:cNvPicPr>
            <a:picLocks noGrp="1" noChangeAspect="1"/>
          </p:cNvPicPr>
          <p:nvPr>
            <p:ph idx="1"/>
          </p:nvPr>
        </p:nvPicPr>
        <p:blipFill>
          <a:blip r:embed="rId2"/>
          <a:stretch>
            <a:fillRect/>
          </a:stretch>
        </p:blipFill>
        <p:spPr>
          <a:xfrm>
            <a:off x="1193265" y="648429"/>
            <a:ext cx="9885552" cy="5767748"/>
          </a:xfrm>
          <a:prstGeom prst="rect">
            <a:avLst/>
          </a:prstGeom>
        </p:spPr>
      </p:pic>
    </p:spTree>
    <p:extLst>
      <p:ext uri="{BB962C8B-B14F-4D97-AF65-F5344CB8AC3E}">
        <p14:creationId xmlns:p14="http://schemas.microsoft.com/office/powerpoint/2010/main" val="53541214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Marcador de contenido 3"/>
          <p:cNvPicPr>
            <a:picLocks noGrp="1" noChangeAspect="1"/>
          </p:cNvPicPr>
          <p:nvPr>
            <p:ph idx="1"/>
          </p:nvPr>
        </p:nvPicPr>
        <p:blipFill>
          <a:blip r:embed="rId2"/>
          <a:stretch>
            <a:fillRect/>
          </a:stretch>
        </p:blipFill>
        <p:spPr>
          <a:xfrm>
            <a:off x="344557" y="0"/>
            <a:ext cx="11078817" cy="6653567"/>
          </a:xfrm>
          <a:prstGeom prst="rect">
            <a:avLst/>
          </a:prstGeom>
        </p:spPr>
      </p:pic>
    </p:spTree>
    <p:extLst>
      <p:ext uri="{BB962C8B-B14F-4D97-AF65-F5344CB8AC3E}">
        <p14:creationId xmlns:p14="http://schemas.microsoft.com/office/powerpoint/2010/main" val="325861434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n-US" b="1" dirty="0" err="1"/>
              <a:t>Cliente</a:t>
            </a:r>
            <a:r>
              <a:rPr lang="en-US" b="1" dirty="0"/>
              <a:t> de SQL Server</a:t>
            </a:r>
          </a:p>
        </p:txBody>
      </p:sp>
      <p:sp>
        <p:nvSpPr>
          <p:cNvPr id="3" name="Marcador de contenido 2"/>
          <p:cNvSpPr>
            <a:spLocks noGrp="1"/>
          </p:cNvSpPr>
          <p:nvPr>
            <p:ph idx="1"/>
          </p:nvPr>
        </p:nvSpPr>
        <p:spPr/>
        <p:txBody>
          <a:bodyPr>
            <a:normAutofit fontScale="92500" lnSpcReduction="10000"/>
          </a:bodyPr>
          <a:lstStyle/>
          <a:p>
            <a:pPr marL="0" indent="0" algn="just">
              <a:buNone/>
            </a:pPr>
            <a:r>
              <a:rPr lang="es-MX" b="1" dirty="0"/>
              <a:t>El cliente de SQL Server</a:t>
            </a:r>
            <a:r>
              <a:rPr lang="es-MX" dirty="0"/>
              <a:t> es el software o la herramienta utilizada para interactuar con el servidor de SQL Server. Los clientes pueden ser:</a:t>
            </a:r>
          </a:p>
          <a:p>
            <a:pPr algn="just"/>
            <a:r>
              <a:rPr lang="es-MX" b="1" dirty="0"/>
              <a:t>Aplicaciones</a:t>
            </a:r>
            <a:r>
              <a:rPr lang="es-MX" dirty="0"/>
              <a:t>: Programas desarrollados en diferentes lenguajes de programación (como C#, Java, Python, etc.) que se conectan al servidor SQL Server para realizar operaciones de datos.</a:t>
            </a:r>
          </a:p>
          <a:p>
            <a:pPr algn="just"/>
            <a:r>
              <a:rPr lang="es-MX" b="1" dirty="0"/>
              <a:t>Herramientas de Gestión y Desarrollo</a:t>
            </a:r>
            <a:r>
              <a:rPr lang="es-MX" dirty="0"/>
              <a:t>: Aplicaciones como </a:t>
            </a:r>
            <a:r>
              <a:rPr lang="es-MX" b="1" dirty="0">
                <a:solidFill>
                  <a:srgbClr val="FF0000"/>
                </a:solidFill>
              </a:rPr>
              <a:t>SQL Server Management Studio (SSMS), </a:t>
            </a:r>
            <a:r>
              <a:rPr lang="es-MX" dirty="0"/>
              <a:t>que permiten a los administradores de bases de datos y desarrolladores interactuar con el servidor de manera gráfica o mediante </a:t>
            </a:r>
            <a:r>
              <a:rPr lang="es-MX" b="1" dirty="0" smtClean="0">
                <a:solidFill>
                  <a:srgbClr val="FF0000"/>
                </a:solidFill>
              </a:rPr>
              <a:t>scripts SQL.</a:t>
            </a:r>
          </a:p>
          <a:p>
            <a:pPr algn="just"/>
            <a:r>
              <a:rPr lang="es-MX" b="1" dirty="0" smtClean="0"/>
              <a:t>Controladores y Librerías</a:t>
            </a:r>
            <a:r>
              <a:rPr lang="es-MX" dirty="0" smtClean="0"/>
              <a:t>: Software que facilita la conexión y comunicación entre aplicaciones y SQL Server. Ejemplos incluyen ODBC (Open </a:t>
            </a:r>
            <a:r>
              <a:rPr lang="es-MX" dirty="0" err="1" smtClean="0"/>
              <a:t>Database</a:t>
            </a:r>
            <a:r>
              <a:rPr lang="es-MX" dirty="0" smtClean="0"/>
              <a:t> </a:t>
            </a:r>
            <a:r>
              <a:rPr lang="es-MX" dirty="0" err="1" smtClean="0"/>
              <a:t>Connectivity</a:t>
            </a:r>
            <a:r>
              <a:rPr lang="es-MX" dirty="0" smtClean="0"/>
              <a:t>), JDBC (Java </a:t>
            </a:r>
            <a:r>
              <a:rPr lang="es-MX" dirty="0" err="1" smtClean="0"/>
              <a:t>Database</a:t>
            </a:r>
            <a:r>
              <a:rPr lang="es-MX" dirty="0" smtClean="0"/>
              <a:t> </a:t>
            </a:r>
            <a:r>
              <a:rPr lang="es-MX" dirty="0" err="1" smtClean="0"/>
              <a:t>Connectivity</a:t>
            </a:r>
            <a:r>
              <a:rPr lang="es-MX" dirty="0" smtClean="0"/>
              <a:t>) y ADO.NET.</a:t>
            </a:r>
          </a:p>
          <a:p>
            <a:endParaRPr lang="en-US" dirty="0"/>
          </a:p>
        </p:txBody>
      </p:sp>
    </p:spTree>
    <p:extLst>
      <p:ext uri="{BB962C8B-B14F-4D97-AF65-F5344CB8AC3E}">
        <p14:creationId xmlns:p14="http://schemas.microsoft.com/office/powerpoint/2010/main" val="312682290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n-US" b="1" dirty="0" err="1"/>
              <a:t>Cliente</a:t>
            </a:r>
            <a:r>
              <a:rPr lang="en-US" b="1" dirty="0"/>
              <a:t> de SQL Server</a:t>
            </a:r>
            <a:endParaRPr lang="en-US" dirty="0"/>
          </a:p>
        </p:txBody>
      </p:sp>
      <p:sp>
        <p:nvSpPr>
          <p:cNvPr id="3" name="Marcador de contenido 2"/>
          <p:cNvSpPr>
            <a:spLocks noGrp="1"/>
          </p:cNvSpPr>
          <p:nvPr>
            <p:ph idx="1"/>
          </p:nvPr>
        </p:nvSpPr>
        <p:spPr/>
        <p:txBody>
          <a:bodyPr>
            <a:normAutofit fontScale="92500" lnSpcReduction="10000"/>
          </a:bodyPr>
          <a:lstStyle/>
          <a:p>
            <a:pPr marL="0" indent="0" algn="just">
              <a:buNone/>
            </a:pPr>
            <a:r>
              <a:rPr lang="es-MX" b="1" dirty="0"/>
              <a:t>Rol</a:t>
            </a:r>
            <a:r>
              <a:rPr lang="es-MX" dirty="0"/>
              <a:t>:</a:t>
            </a:r>
          </a:p>
          <a:p>
            <a:pPr algn="just"/>
            <a:r>
              <a:rPr lang="es-MX" b="1" dirty="0"/>
              <a:t>SQL Server</a:t>
            </a:r>
            <a:r>
              <a:rPr lang="es-MX" dirty="0"/>
              <a:t>: Actúa como el servidor que almacena y gestiona los datos.</a:t>
            </a:r>
          </a:p>
          <a:p>
            <a:pPr algn="just"/>
            <a:r>
              <a:rPr lang="es-MX" b="1" dirty="0"/>
              <a:t>Cliente de SQL Server</a:t>
            </a:r>
            <a:r>
              <a:rPr lang="es-MX" dirty="0"/>
              <a:t>: Actúa como la interfaz o el medio para interactuar con el servidor de SQL Server.</a:t>
            </a:r>
          </a:p>
          <a:p>
            <a:pPr marL="0" indent="0" algn="just">
              <a:buNone/>
            </a:pPr>
            <a:r>
              <a:rPr lang="es-MX" b="1" dirty="0"/>
              <a:t>Funciones</a:t>
            </a:r>
            <a:r>
              <a:rPr lang="es-MX" dirty="0"/>
              <a:t>:</a:t>
            </a:r>
          </a:p>
          <a:p>
            <a:pPr algn="just"/>
            <a:r>
              <a:rPr lang="es-MX" b="1" dirty="0"/>
              <a:t>SQL Server</a:t>
            </a:r>
            <a:r>
              <a:rPr lang="es-MX" dirty="0"/>
              <a:t>: Maneja el procesamiento y la gestión de datos, asegura la integridad y seguridad de los mismos, y optimiza el rendimiento de las consultas.</a:t>
            </a:r>
          </a:p>
          <a:p>
            <a:pPr algn="just"/>
            <a:r>
              <a:rPr lang="es-MX" b="1" dirty="0"/>
              <a:t>Cliente de SQL Server</a:t>
            </a:r>
            <a:r>
              <a:rPr lang="es-MX" dirty="0"/>
              <a:t>: Envía solicitudes (consultas, comandos) al servidor SQL Server y recibe respuestas (resultados de consultas, confirmaciones de transacciones).</a:t>
            </a:r>
          </a:p>
          <a:p>
            <a:endParaRPr lang="en-US" dirty="0"/>
          </a:p>
        </p:txBody>
      </p:sp>
    </p:spTree>
    <p:extLst>
      <p:ext uri="{BB962C8B-B14F-4D97-AF65-F5344CB8AC3E}">
        <p14:creationId xmlns:p14="http://schemas.microsoft.com/office/powerpoint/2010/main" val="37946590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n-US" b="1" dirty="0" err="1"/>
              <a:t>Cliente</a:t>
            </a:r>
            <a:r>
              <a:rPr lang="en-US" b="1" dirty="0"/>
              <a:t> de SQL Server</a:t>
            </a:r>
            <a:endParaRPr lang="en-US" dirty="0"/>
          </a:p>
        </p:txBody>
      </p:sp>
      <p:sp>
        <p:nvSpPr>
          <p:cNvPr id="4" name="Rectangle 1"/>
          <p:cNvSpPr>
            <a:spLocks noGrp="1" noChangeArrowheads="1"/>
          </p:cNvSpPr>
          <p:nvPr>
            <p:ph idx="1"/>
          </p:nvPr>
        </p:nvSpPr>
        <p:spPr bwMode="auto">
          <a:xfrm>
            <a:off x="838200" y="1690688"/>
            <a:ext cx="10515600" cy="41549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smtClean="0">
                <a:ln>
                  <a:noFill/>
                </a:ln>
                <a:solidFill>
                  <a:schemeClr val="tx1"/>
                </a:solidFill>
                <a:effectLst/>
                <a:latin typeface="Arial" panose="020B0604020202020204" pitchFamily="34" charset="0"/>
              </a:rPr>
              <a:t>SQL Server</a:t>
            </a:r>
            <a:r>
              <a:rPr kumimoji="0" lang="en-US" altLang="en-US" sz="2400" b="0" i="0" u="none" strike="noStrike" cap="none" normalizeH="0" baseline="0" dirty="0" smtClean="0">
                <a:ln>
                  <a:noFill/>
                </a:ln>
                <a:solidFill>
                  <a:schemeClr val="tx1"/>
                </a:solidFill>
                <a:effectLst/>
                <a:latin typeface="Arial" panose="020B0604020202020204" pitchFamily="34" charset="0"/>
              </a:rPr>
              <a:t>: </a:t>
            </a:r>
            <a:r>
              <a:rPr kumimoji="0" lang="en-US" altLang="en-US" sz="2400" b="0" i="0" u="none" strike="noStrike" cap="none" normalizeH="0" baseline="0" dirty="0" err="1" smtClean="0">
                <a:ln>
                  <a:noFill/>
                </a:ln>
                <a:solidFill>
                  <a:schemeClr val="tx1"/>
                </a:solidFill>
                <a:effectLst/>
                <a:latin typeface="Arial" panose="020B0604020202020204" pitchFamily="34" charset="0"/>
              </a:rPr>
              <a:t>Generalmente</a:t>
            </a:r>
            <a:r>
              <a:rPr kumimoji="0" lang="en-US" altLang="en-US" sz="2400" b="0" i="0" u="none" strike="noStrike" cap="none" normalizeH="0" baseline="0" dirty="0" smtClean="0">
                <a:ln>
                  <a:noFill/>
                </a:ln>
                <a:solidFill>
                  <a:schemeClr val="tx1"/>
                </a:solidFill>
                <a:effectLst/>
                <a:latin typeface="Arial" panose="020B0604020202020204" pitchFamily="34" charset="0"/>
              </a:rPr>
              <a:t> se </a:t>
            </a:r>
            <a:r>
              <a:rPr kumimoji="0" lang="en-US" altLang="en-US" sz="2400" b="0" i="0" u="none" strike="noStrike" cap="none" normalizeH="0" baseline="0" dirty="0" err="1" smtClean="0">
                <a:ln>
                  <a:noFill/>
                </a:ln>
                <a:solidFill>
                  <a:schemeClr val="tx1"/>
                </a:solidFill>
                <a:effectLst/>
                <a:latin typeface="Arial" panose="020B0604020202020204" pitchFamily="34" charset="0"/>
              </a:rPr>
              <a:t>encuentra</a:t>
            </a:r>
            <a:r>
              <a:rPr kumimoji="0" lang="en-US" altLang="en-US" sz="2400" b="0" i="0" u="none" strike="noStrike" cap="none" normalizeH="0" baseline="0" dirty="0" smtClean="0">
                <a:ln>
                  <a:noFill/>
                </a:ln>
                <a:solidFill>
                  <a:schemeClr val="tx1"/>
                </a:solidFill>
                <a:effectLst/>
                <a:latin typeface="Arial" panose="020B0604020202020204" pitchFamily="34" charset="0"/>
              </a:rPr>
              <a:t> </a:t>
            </a:r>
            <a:r>
              <a:rPr kumimoji="0" lang="en-US" altLang="en-US" sz="2400" b="0" i="0" u="none" strike="noStrike" cap="none" normalizeH="0" baseline="0" dirty="0" err="1" smtClean="0">
                <a:ln>
                  <a:noFill/>
                </a:ln>
                <a:solidFill>
                  <a:schemeClr val="tx1"/>
                </a:solidFill>
                <a:effectLst/>
                <a:latin typeface="Arial" panose="020B0604020202020204" pitchFamily="34" charset="0"/>
              </a:rPr>
              <a:t>en</a:t>
            </a:r>
            <a:r>
              <a:rPr kumimoji="0" lang="en-US" altLang="en-US" sz="2400" b="0" i="0" u="none" strike="noStrike" cap="none" normalizeH="0" baseline="0" dirty="0" smtClean="0">
                <a:ln>
                  <a:noFill/>
                </a:ln>
                <a:solidFill>
                  <a:schemeClr val="tx1"/>
                </a:solidFill>
                <a:effectLst/>
                <a:latin typeface="Arial" panose="020B0604020202020204" pitchFamily="34" charset="0"/>
              </a:rPr>
              <a:t> un </a:t>
            </a:r>
            <a:r>
              <a:rPr kumimoji="0" lang="en-US" altLang="en-US" sz="2400" b="0" i="0" u="none" strike="noStrike" cap="none" normalizeH="0" baseline="0" dirty="0" err="1" smtClean="0">
                <a:ln>
                  <a:noFill/>
                </a:ln>
                <a:solidFill>
                  <a:schemeClr val="tx1"/>
                </a:solidFill>
                <a:effectLst/>
                <a:latin typeface="Arial" panose="020B0604020202020204" pitchFamily="34" charset="0"/>
              </a:rPr>
              <a:t>servidor</a:t>
            </a:r>
            <a:r>
              <a:rPr kumimoji="0" lang="en-US" altLang="en-US" sz="2400" b="0" i="0" u="none" strike="noStrike" cap="none" normalizeH="0" baseline="0" dirty="0" smtClean="0">
                <a:ln>
                  <a:noFill/>
                </a:ln>
                <a:solidFill>
                  <a:schemeClr val="tx1"/>
                </a:solidFill>
                <a:effectLst/>
                <a:latin typeface="Arial" panose="020B0604020202020204" pitchFamily="34" charset="0"/>
              </a:rPr>
              <a:t> o </a:t>
            </a:r>
            <a:r>
              <a:rPr kumimoji="0" lang="en-US" altLang="en-US" sz="2400" b="0" i="0" u="none" strike="noStrike" cap="none" normalizeH="0" baseline="0" dirty="0" err="1" smtClean="0">
                <a:ln>
                  <a:noFill/>
                </a:ln>
                <a:solidFill>
                  <a:schemeClr val="tx1"/>
                </a:solidFill>
                <a:effectLst/>
                <a:latin typeface="Arial" panose="020B0604020202020204" pitchFamily="34" charset="0"/>
              </a:rPr>
              <a:t>infraestructura</a:t>
            </a:r>
            <a:r>
              <a:rPr kumimoji="0" lang="en-US" altLang="en-US" sz="2400" b="0" i="0" u="none" strike="noStrike" cap="none" normalizeH="0" baseline="0" dirty="0" smtClean="0">
                <a:ln>
                  <a:noFill/>
                </a:ln>
                <a:solidFill>
                  <a:schemeClr val="tx1"/>
                </a:solidFill>
                <a:effectLst/>
                <a:latin typeface="Arial" panose="020B0604020202020204" pitchFamily="34" charset="0"/>
              </a:rPr>
              <a:t> </a:t>
            </a:r>
            <a:r>
              <a:rPr kumimoji="0" lang="en-US" altLang="en-US" sz="2400" b="0" i="0" u="none" strike="noStrike" cap="none" normalizeH="0" baseline="0" dirty="0" err="1" smtClean="0">
                <a:ln>
                  <a:noFill/>
                </a:ln>
                <a:solidFill>
                  <a:schemeClr val="tx1"/>
                </a:solidFill>
                <a:effectLst/>
                <a:latin typeface="Arial" panose="020B0604020202020204" pitchFamily="34" charset="0"/>
              </a:rPr>
              <a:t>dedicada</a:t>
            </a:r>
            <a:r>
              <a:rPr kumimoji="0" lang="en-US" altLang="en-US" sz="2400" b="0" i="0" u="none" strike="noStrike" cap="none" normalizeH="0" baseline="0" dirty="0" smtClean="0">
                <a:ln>
                  <a:noFill/>
                </a:ln>
                <a:solidFill>
                  <a:schemeClr val="tx1"/>
                </a:solidFill>
                <a:effectLst/>
                <a:latin typeface="Arial" panose="020B0604020202020204" pitchFamily="34" charset="0"/>
              </a:rPr>
              <a:t>, que </a:t>
            </a:r>
            <a:r>
              <a:rPr kumimoji="0" lang="en-US" altLang="en-US" sz="2400" b="0" i="0" u="none" strike="noStrike" cap="none" normalizeH="0" baseline="0" dirty="0" err="1" smtClean="0">
                <a:ln>
                  <a:noFill/>
                </a:ln>
                <a:solidFill>
                  <a:schemeClr val="tx1"/>
                </a:solidFill>
                <a:effectLst/>
                <a:latin typeface="Arial" panose="020B0604020202020204" pitchFamily="34" charset="0"/>
              </a:rPr>
              <a:t>puede</a:t>
            </a:r>
            <a:r>
              <a:rPr kumimoji="0" lang="en-US" altLang="en-US" sz="2400" b="0" i="0" u="none" strike="noStrike" cap="none" normalizeH="0" baseline="0" dirty="0" smtClean="0">
                <a:ln>
                  <a:noFill/>
                </a:ln>
                <a:solidFill>
                  <a:schemeClr val="tx1"/>
                </a:solidFill>
                <a:effectLst/>
                <a:latin typeface="Arial" panose="020B0604020202020204" pitchFamily="34" charset="0"/>
              </a:rPr>
              <a:t> </a:t>
            </a:r>
            <a:r>
              <a:rPr kumimoji="0" lang="en-US" altLang="en-US" sz="2400" b="0" i="0" u="none" strike="noStrike" cap="none" normalizeH="0" baseline="0" dirty="0" err="1" smtClean="0">
                <a:ln>
                  <a:noFill/>
                </a:ln>
                <a:solidFill>
                  <a:schemeClr val="tx1"/>
                </a:solidFill>
                <a:effectLst/>
                <a:latin typeface="Arial" panose="020B0604020202020204" pitchFamily="34" charset="0"/>
              </a:rPr>
              <a:t>ser</a:t>
            </a:r>
            <a:r>
              <a:rPr kumimoji="0" lang="en-US" altLang="en-US" sz="2400" b="0" i="0" u="none" strike="noStrike" cap="none" normalizeH="0" baseline="0" dirty="0" smtClean="0">
                <a:ln>
                  <a:noFill/>
                </a:ln>
                <a:solidFill>
                  <a:schemeClr val="tx1"/>
                </a:solidFill>
                <a:effectLst/>
                <a:latin typeface="Arial" panose="020B0604020202020204" pitchFamily="34" charset="0"/>
              </a:rPr>
              <a:t> local (on-premises) o </a:t>
            </a:r>
            <a:r>
              <a:rPr kumimoji="0" lang="en-US" altLang="en-US" sz="2400" b="0" i="0" u="none" strike="noStrike" cap="none" normalizeH="0" baseline="0" dirty="0" err="1" smtClean="0">
                <a:ln>
                  <a:noFill/>
                </a:ln>
                <a:solidFill>
                  <a:schemeClr val="tx1"/>
                </a:solidFill>
                <a:effectLst/>
                <a:latin typeface="Arial" panose="020B0604020202020204" pitchFamily="34" charset="0"/>
              </a:rPr>
              <a:t>en</a:t>
            </a:r>
            <a:r>
              <a:rPr kumimoji="0" lang="en-US" altLang="en-US" sz="2400" b="0" i="0" u="none" strike="noStrike" cap="none" normalizeH="0" baseline="0" dirty="0" smtClean="0">
                <a:ln>
                  <a:noFill/>
                </a:ln>
                <a:solidFill>
                  <a:schemeClr val="tx1"/>
                </a:solidFill>
                <a:effectLst/>
                <a:latin typeface="Arial" panose="020B0604020202020204" pitchFamily="34" charset="0"/>
              </a:rPr>
              <a:t> la </a:t>
            </a:r>
            <a:r>
              <a:rPr kumimoji="0" lang="en-US" altLang="en-US" sz="2400" b="0" i="0" u="none" strike="noStrike" cap="none" normalizeH="0" baseline="0" dirty="0" err="1" smtClean="0">
                <a:ln>
                  <a:noFill/>
                </a:ln>
                <a:solidFill>
                  <a:schemeClr val="tx1"/>
                </a:solidFill>
                <a:effectLst/>
                <a:latin typeface="Arial" panose="020B0604020202020204" pitchFamily="34" charset="0"/>
              </a:rPr>
              <a:t>nube</a:t>
            </a:r>
            <a:r>
              <a:rPr kumimoji="0" lang="en-US" altLang="en-US" sz="2400" b="0" i="0" u="none" strike="noStrike" cap="none" normalizeH="0" baseline="0" dirty="0" smtClean="0">
                <a:ln>
                  <a:noFill/>
                </a:ln>
                <a:solidFill>
                  <a:schemeClr val="tx1"/>
                </a:solidFill>
                <a:effectLst/>
                <a:latin typeface="Arial" panose="020B0604020202020204" pitchFamily="34" charset="0"/>
              </a:rPr>
              <a:t> (Azure SQL Database).</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err="1" smtClean="0">
                <a:ln>
                  <a:noFill/>
                </a:ln>
                <a:solidFill>
                  <a:schemeClr val="tx1"/>
                </a:solidFill>
                <a:effectLst/>
                <a:latin typeface="Arial" panose="020B0604020202020204" pitchFamily="34" charset="0"/>
              </a:rPr>
              <a:t>Cliente</a:t>
            </a:r>
            <a:r>
              <a:rPr kumimoji="0" lang="en-US" altLang="en-US" sz="2400" b="1" i="0" u="none" strike="noStrike" cap="none" normalizeH="0" baseline="0" dirty="0" smtClean="0">
                <a:ln>
                  <a:noFill/>
                </a:ln>
                <a:solidFill>
                  <a:schemeClr val="tx1"/>
                </a:solidFill>
                <a:effectLst/>
                <a:latin typeface="Arial" panose="020B0604020202020204" pitchFamily="34" charset="0"/>
              </a:rPr>
              <a:t> de SQL Server</a:t>
            </a:r>
            <a:r>
              <a:rPr kumimoji="0" lang="en-US" altLang="en-US" sz="2400" b="0" i="0" u="none" strike="noStrike" cap="none" normalizeH="0" baseline="0" dirty="0" smtClean="0">
                <a:ln>
                  <a:noFill/>
                </a:ln>
                <a:solidFill>
                  <a:schemeClr val="tx1"/>
                </a:solidFill>
                <a:effectLst/>
                <a:latin typeface="Arial" panose="020B0604020202020204" pitchFamily="34" charset="0"/>
              </a:rPr>
              <a:t>: </a:t>
            </a:r>
            <a:r>
              <a:rPr kumimoji="0" lang="en-US" altLang="en-US" sz="2400" b="0" i="0" u="none" strike="noStrike" cap="none" normalizeH="0" baseline="0" dirty="0" err="1" smtClean="0">
                <a:ln>
                  <a:noFill/>
                </a:ln>
                <a:solidFill>
                  <a:schemeClr val="tx1"/>
                </a:solidFill>
                <a:effectLst/>
                <a:latin typeface="Arial" panose="020B0604020202020204" pitchFamily="34" charset="0"/>
              </a:rPr>
              <a:t>Puede</a:t>
            </a:r>
            <a:r>
              <a:rPr kumimoji="0" lang="en-US" altLang="en-US" sz="2400" b="0" i="0" u="none" strike="noStrike" cap="none" normalizeH="0" baseline="0" dirty="0" smtClean="0">
                <a:ln>
                  <a:noFill/>
                </a:ln>
                <a:solidFill>
                  <a:schemeClr val="tx1"/>
                </a:solidFill>
                <a:effectLst/>
                <a:latin typeface="Arial" panose="020B0604020202020204" pitchFamily="34" charset="0"/>
              </a:rPr>
              <a:t> </a:t>
            </a:r>
            <a:r>
              <a:rPr kumimoji="0" lang="en-US" altLang="en-US" sz="2400" b="0" i="0" u="none" strike="noStrike" cap="none" normalizeH="0" baseline="0" dirty="0" err="1" smtClean="0">
                <a:ln>
                  <a:noFill/>
                </a:ln>
                <a:solidFill>
                  <a:schemeClr val="tx1"/>
                </a:solidFill>
                <a:effectLst/>
                <a:latin typeface="Arial" panose="020B0604020202020204" pitchFamily="34" charset="0"/>
              </a:rPr>
              <a:t>estar</a:t>
            </a:r>
            <a:r>
              <a:rPr kumimoji="0" lang="en-US" altLang="en-US" sz="2400" b="0" i="0" u="none" strike="noStrike" cap="none" normalizeH="0" baseline="0" dirty="0" smtClean="0">
                <a:ln>
                  <a:noFill/>
                </a:ln>
                <a:solidFill>
                  <a:schemeClr val="tx1"/>
                </a:solidFill>
                <a:effectLst/>
                <a:latin typeface="Arial" panose="020B0604020202020204" pitchFamily="34" charset="0"/>
              </a:rPr>
              <a:t> </a:t>
            </a:r>
            <a:r>
              <a:rPr kumimoji="0" lang="en-US" altLang="en-US" sz="2400" b="0" i="0" u="none" strike="noStrike" cap="none" normalizeH="0" baseline="0" dirty="0" err="1" smtClean="0">
                <a:ln>
                  <a:noFill/>
                </a:ln>
                <a:solidFill>
                  <a:schemeClr val="tx1"/>
                </a:solidFill>
                <a:effectLst/>
                <a:latin typeface="Arial" panose="020B0604020202020204" pitchFamily="34" charset="0"/>
              </a:rPr>
              <a:t>en</a:t>
            </a:r>
            <a:r>
              <a:rPr kumimoji="0" lang="en-US" altLang="en-US" sz="2400" b="0" i="0" u="none" strike="noStrike" cap="none" normalizeH="0" baseline="0" dirty="0" smtClean="0">
                <a:ln>
                  <a:noFill/>
                </a:ln>
                <a:solidFill>
                  <a:schemeClr val="tx1"/>
                </a:solidFill>
                <a:effectLst/>
                <a:latin typeface="Arial" panose="020B0604020202020204" pitchFamily="34" charset="0"/>
              </a:rPr>
              <a:t> la </a:t>
            </a:r>
            <a:r>
              <a:rPr kumimoji="0" lang="en-US" altLang="en-US" sz="2400" b="0" i="0" u="none" strike="noStrike" cap="none" normalizeH="0" baseline="0" dirty="0" err="1" smtClean="0">
                <a:ln>
                  <a:noFill/>
                </a:ln>
                <a:solidFill>
                  <a:schemeClr val="tx1"/>
                </a:solidFill>
                <a:effectLst/>
                <a:latin typeface="Arial" panose="020B0604020202020204" pitchFamily="34" charset="0"/>
              </a:rPr>
              <a:t>misma</a:t>
            </a:r>
            <a:r>
              <a:rPr kumimoji="0" lang="en-US" altLang="en-US" sz="2400" b="0" i="0" u="none" strike="noStrike" cap="none" normalizeH="0" baseline="0" dirty="0" smtClean="0">
                <a:ln>
                  <a:noFill/>
                </a:ln>
                <a:solidFill>
                  <a:schemeClr val="tx1"/>
                </a:solidFill>
                <a:effectLst/>
                <a:latin typeface="Arial" panose="020B0604020202020204" pitchFamily="34" charset="0"/>
              </a:rPr>
              <a:t> red local, </a:t>
            </a:r>
            <a:r>
              <a:rPr kumimoji="0" lang="en-US" altLang="en-US" sz="2400" b="0" i="0" u="none" strike="noStrike" cap="none" normalizeH="0" baseline="0" dirty="0" err="1" smtClean="0">
                <a:ln>
                  <a:noFill/>
                </a:ln>
                <a:solidFill>
                  <a:schemeClr val="tx1"/>
                </a:solidFill>
                <a:effectLst/>
                <a:latin typeface="Arial" panose="020B0604020202020204" pitchFamily="34" charset="0"/>
              </a:rPr>
              <a:t>en</a:t>
            </a:r>
            <a:r>
              <a:rPr kumimoji="0" lang="en-US" altLang="en-US" sz="2400" b="0" i="0" u="none" strike="noStrike" cap="none" normalizeH="0" baseline="0" dirty="0" smtClean="0">
                <a:ln>
                  <a:noFill/>
                </a:ln>
                <a:solidFill>
                  <a:schemeClr val="tx1"/>
                </a:solidFill>
                <a:effectLst/>
                <a:latin typeface="Arial" panose="020B0604020202020204" pitchFamily="34" charset="0"/>
              </a:rPr>
              <a:t> </a:t>
            </a:r>
            <a:r>
              <a:rPr kumimoji="0" lang="en-US" altLang="en-US" sz="2400" b="0" i="0" u="none" strike="noStrike" cap="none" normalizeH="0" baseline="0" dirty="0" err="1" smtClean="0">
                <a:ln>
                  <a:noFill/>
                </a:ln>
                <a:solidFill>
                  <a:schemeClr val="tx1"/>
                </a:solidFill>
                <a:effectLst/>
                <a:latin typeface="Arial" panose="020B0604020202020204" pitchFamily="34" charset="0"/>
              </a:rPr>
              <a:t>una</a:t>
            </a:r>
            <a:r>
              <a:rPr kumimoji="0" lang="en-US" altLang="en-US" sz="2400" b="0" i="0" u="none" strike="noStrike" cap="none" normalizeH="0" baseline="0" dirty="0" smtClean="0">
                <a:ln>
                  <a:noFill/>
                </a:ln>
                <a:solidFill>
                  <a:schemeClr val="tx1"/>
                </a:solidFill>
                <a:effectLst/>
                <a:latin typeface="Arial" panose="020B0604020202020204" pitchFamily="34" charset="0"/>
              </a:rPr>
              <a:t> </a:t>
            </a:r>
            <a:r>
              <a:rPr kumimoji="0" lang="en-US" altLang="en-US" sz="2400" b="0" i="0" u="none" strike="noStrike" cap="none" normalizeH="0" baseline="0" dirty="0" err="1" smtClean="0">
                <a:ln>
                  <a:noFill/>
                </a:ln>
                <a:solidFill>
                  <a:schemeClr val="tx1"/>
                </a:solidFill>
                <a:effectLst/>
                <a:latin typeface="Arial" panose="020B0604020202020204" pitchFamily="34" charset="0"/>
              </a:rPr>
              <a:t>máquina</a:t>
            </a:r>
            <a:r>
              <a:rPr kumimoji="0" lang="en-US" altLang="en-US" sz="2400" b="0" i="0" u="none" strike="noStrike" cap="none" normalizeH="0" baseline="0" dirty="0" smtClean="0">
                <a:ln>
                  <a:noFill/>
                </a:ln>
                <a:solidFill>
                  <a:schemeClr val="tx1"/>
                </a:solidFill>
                <a:effectLst/>
                <a:latin typeface="Arial" panose="020B0604020202020204" pitchFamily="34" charset="0"/>
              </a:rPr>
              <a:t> </a:t>
            </a:r>
            <a:r>
              <a:rPr kumimoji="0" lang="en-US" altLang="en-US" sz="2400" b="0" i="0" u="none" strike="noStrike" cap="none" normalizeH="0" baseline="0" dirty="0" err="1" smtClean="0">
                <a:ln>
                  <a:noFill/>
                </a:ln>
                <a:solidFill>
                  <a:schemeClr val="tx1"/>
                </a:solidFill>
                <a:effectLst/>
                <a:latin typeface="Arial" panose="020B0604020202020204" pitchFamily="34" charset="0"/>
              </a:rPr>
              <a:t>remota</a:t>
            </a:r>
            <a:r>
              <a:rPr kumimoji="0" lang="en-US" altLang="en-US" sz="2400" b="0" i="0" u="none" strike="noStrike" cap="none" normalizeH="0" baseline="0" dirty="0" smtClean="0">
                <a:ln>
                  <a:noFill/>
                </a:ln>
                <a:solidFill>
                  <a:schemeClr val="tx1"/>
                </a:solidFill>
                <a:effectLst/>
                <a:latin typeface="Arial" panose="020B0604020202020204" pitchFamily="34" charset="0"/>
              </a:rPr>
              <a:t>, o </a:t>
            </a:r>
            <a:r>
              <a:rPr kumimoji="0" lang="en-US" altLang="en-US" sz="2400" b="0" i="0" u="none" strike="noStrike" cap="none" normalizeH="0" baseline="0" dirty="0" err="1" smtClean="0">
                <a:ln>
                  <a:noFill/>
                </a:ln>
                <a:solidFill>
                  <a:schemeClr val="tx1"/>
                </a:solidFill>
                <a:effectLst/>
                <a:latin typeface="Arial" panose="020B0604020202020204" pitchFamily="34" charset="0"/>
              </a:rPr>
              <a:t>incluso</a:t>
            </a:r>
            <a:r>
              <a:rPr kumimoji="0" lang="en-US" altLang="en-US" sz="2400" b="0" i="0" u="none" strike="noStrike" cap="none" normalizeH="0" baseline="0" dirty="0" smtClean="0">
                <a:ln>
                  <a:noFill/>
                </a:ln>
                <a:solidFill>
                  <a:schemeClr val="tx1"/>
                </a:solidFill>
                <a:effectLst/>
                <a:latin typeface="Arial" panose="020B0604020202020204" pitchFamily="34" charset="0"/>
              </a:rPr>
              <a:t> </a:t>
            </a:r>
            <a:r>
              <a:rPr kumimoji="0" lang="en-US" altLang="en-US" sz="2400" b="0" i="0" u="none" strike="noStrike" cap="none" normalizeH="0" baseline="0" dirty="0" err="1" smtClean="0">
                <a:ln>
                  <a:noFill/>
                </a:ln>
                <a:solidFill>
                  <a:schemeClr val="tx1"/>
                </a:solidFill>
                <a:effectLst/>
                <a:latin typeface="Arial" panose="020B0604020202020204" pitchFamily="34" charset="0"/>
              </a:rPr>
              <a:t>en</a:t>
            </a:r>
            <a:r>
              <a:rPr kumimoji="0" lang="en-US" altLang="en-US" sz="2400" b="0" i="0" u="none" strike="noStrike" cap="none" normalizeH="0" baseline="0" dirty="0" smtClean="0">
                <a:ln>
                  <a:noFill/>
                </a:ln>
                <a:solidFill>
                  <a:schemeClr val="tx1"/>
                </a:solidFill>
                <a:effectLst/>
                <a:latin typeface="Arial" panose="020B0604020202020204" pitchFamily="34" charset="0"/>
              </a:rPr>
              <a:t> un </a:t>
            </a:r>
            <a:r>
              <a:rPr kumimoji="0" lang="en-US" altLang="en-US" sz="2400" b="0" i="0" u="none" strike="noStrike" cap="none" normalizeH="0" baseline="0" dirty="0" err="1" smtClean="0">
                <a:ln>
                  <a:noFill/>
                </a:ln>
                <a:solidFill>
                  <a:schemeClr val="tx1"/>
                </a:solidFill>
                <a:effectLst/>
                <a:latin typeface="Arial" panose="020B0604020202020204" pitchFamily="34" charset="0"/>
              </a:rPr>
              <a:t>dispositivo</a:t>
            </a:r>
            <a:r>
              <a:rPr kumimoji="0" lang="en-US" altLang="en-US" sz="2400" b="0" i="0" u="none" strike="noStrike" cap="none" normalizeH="0" baseline="0" dirty="0" smtClean="0">
                <a:ln>
                  <a:noFill/>
                </a:ln>
                <a:solidFill>
                  <a:schemeClr val="tx1"/>
                </a:solidFill>
                <a:effectLst/>
                <a:latin typeface="Arial" panose="020B0604020202020204" pitchFamily="34" charset="0"/>
              </a:rPr>
              <a:t> </a:t>
            </a:r>
            <a:r>
              <a:rPr kumimoji="0" lang="en-US" altLang="en-US" sz="2400" b="0" i="0" u="none" strike="noStrike" cap="none" normalizeH="0" baseline="0" dirty="0" err="1" smtClean="0">
                <a:ln>
                  <a:noFill/>
                </a:ln>
                <a:solidFill>
                  <a:schemeClr val="tx1"/>
                </a:solidFill>
                <a:effectLst/>
                <a:latin typeface="Arial" panose="020B0604020202020204" pitchFamily="34" charset="0"/>
              </a:rPr>
              <a:t>móvil</a:t>
            </a:r>
            <a:r>
              <a:rPr kumimoji="0" lang="en-US" altLang="en-US" sz="2400" b="0" i="0" u="none" strike="noStrike" cap="none" normalizeH="0" baseline="0" dirty="0" smtClean="0">
                <a:ln>
                  <a:noFill/>
                </a:ln>
                <a:solidFill>
                  <a:schemeClr val="tx1"/>
                </a:solidFill>
                <a:effectLst/>
                <a:latin typeface="Arial" panose="020B0604020202020204" pitchFamily="34" charset="0"/>
              </a:rPr>
              <a:t>, </a:t>
            </a:r>
            <a:r>
              <a:rPr kumimoji="0" lang="en-US" altLang="en-US" sz="2400" b="0" i="0" u="none" strike="noStrike" cap="none" normalizeH="0" baseline="0" dirty="0" err="1" smtClean="0">
                <a:ln>
                  <a:noFill/>
                </a:ln>
                <a:solidFill>
                  <a:schemeClr val="tx1"/>
                </a:solidFill>
                <a:effectLst/>
                <a:latin typeface="Arial" panose="020B0604020202020204" pitchFamily="34" charset="0"/>
              </a:rPr>
              <a:t>dependiendo</a:t>
            </a:r>
            <a:r>
              <a:rPr kumimoji="0" lang="en-US" altLang="en-US" sz="2400" b="0" i="0" u="none" strike="noStrike" cap="none" normalizeH="0" baseline="0" dirty="0" smtClean="0">
                <a:ln>
                  <a:noFill/>
                </a:ln>
                <a:solidFill>
                  <a:schemeClr val="tx1"/>
                </a:solidFill>
                <a:effectLst/>
                <a:latin typeface="Arial" panose="020B0604020202020204" pitchFamily="34" charset="0"/>
              </a:rPr>
              <a:t> de la </a:t>
            </a:r>
            <a:r>
              <a:rPr kumimoji="0" lang="en-US" altLang="en-US" sz="2400" b="0" i="0" u="none" strike="noStrike" cap="none" normalizeH="0" baseline="0" dirty="0" err="1" smtClean="0">
                <a:ln>
                  <a:noFill/>
                </a:ln>
                <a:solidFill>
                  <a:schemeClr val="tx1"/>
                </a:solidFill>
                <a:effectLst/>
                <a:latin typeface="Arial" panose="020B0604020202020204" pitchFamily="34" charset="0"/>
              </a:rPr>
              <a:t>configuración</a:t>
            </a:r>
            <a:r>
              <a:rPr kumimoji="0" lang="en-US" altLang="en-US" sz="2400" b="0" i="0" u="none" strike="noStrike" cap="none" normalizeH="0" baseline="0" dirty="0" smtClean="0">
                <a:ln>
                  <a:noFill/>
                </a:ln>
                <a:solidFill>
                  <a:schemeClr val="tx1"/>
                </a:solidFill>
                <a:effectLst/>
                <a:latin typeface="Arial" panose="020B0604020202020204" pitchFamily="34" charset="0"/>
              </a:rPr>
              <a:t> de la </a:t>
            </a:r>
            <a:r>
              <a:rPr kumimoji="0" lang="en-US" altLang="en-US" sz="2400" b="0" i="0" u="none" strike="noStrike" cap="none" normalizeH="0" baseline="0" dirty="0" err="1" smtClean="0">
                <a:ln>
                  <a:noFill/>
                </a:ln>
                <a:solidFill>
                  <a:schemeClr val="tx1"/>
                </a:solidFill>
                <a:effectLst/>
                <a:latin typeface="Arial" panose="020B0604020202020204" pitchFamily="34" charset="0"/>
              </a:rPr>
              <a:t>aplicación</a:t>
            </a:r>
            <a:r>
              <a:rPr kumimoji="0" lang="en-US" altLang="en-US" sz="2400" b="0" i="0" u="none" strike="noStrike" cap="none" normalizeH="0" baseline="0" dirty="0" smtClean="0">
                <a:ln>
                  <a:noFill/>
                </a:ln>
                <a:solidFill>
                  <a:schemeClr val="tx1"/>
                </a:solidFill>
                <a:effectLst/>
                <a:latin typeface="Arial" panose="020B0604020202020204" pitchFamily="34" charset="0"/>
              </a:rPr>
              <a:t>. </a:t>
            </a:r>
          </a:p>
          <a:p>
            <a:pPr marL="0" marR="0" lvl="0" indent="0" algn="just" defTabSz="914400" rtl="0" eaLnBrk="0" fontAlgn="base" latinLnBrk="0" hangingPunct="0">
              <a:lnSpc>
                <a:spcPct val="100000"/>
              </a:lnSpc>
              <a:spcBef>
                <a:spcPct val="0"/>
              </a:spcBef>
              <a:spcAft>
                <a:spcPct val="0"/>
              </a:spcAft>
              <a:buClrTx/>
              <a:buSzTx/>
              <a:buNone/>
              <a:tabLst/>
            </a:pPr>
            <a:endParaRPr kumimoji="0" lang="en-US" altLang="en-US" sz="2400" b="0" i="0" u="none" strike="noStrike" cap="none" normalizeH="0" baseline="0" dirty="0" smtClean="0">
              <a:ln>
                <a:noFill/>
              </a:ln>
              <a:solidFill>
                <a:schemeClr val="tx1"/>
              </a:solidFill>
              <a:effectLst/>
              <a:latin typeface="Arial" panose="020B0604020202020204" pitchFamily="34" charset="0"/>
            </a:endParaRPr>
          </a:p>
          <a:p>
            <a:pPr marL="0" lvl="0" indent="0" algn="just" eaLnBrk="0" fontAlgn="base" hangingPunct="0">
              <a:lnSpc>
                <a:spcPct val="100000"/>
              </a:lnSpc>
              <a:spcBef>
                <a:spcPct val="0"/>
              </a:spcBef>
              <a:spcAft>
                <a:spcPct val="0"/>
              </a:spcAft>
              <a:buNone/>
            </a:pPr>
            <a:r>
              <a:rPr lang="es-MX" sz="2400" dirty="0"/>
              <a:t>En resumen, mientras que </a:t>
            </a:r>
            <a:r>
              <a:rPr lang="es-MX" sz="2400" b="1" dirty="0">
                <a:solidFill>
                  <a:srgbClr val="FF0000"/>
                </a:solidFill>
              </a:rPr>
              <a:t>SQL Server es el motor de la base de datos </a:t>
            </a:r>
            <a:r>
              <a:rPr lang="es-MX" sz="2400" dirty="0"/>
              <a:t>que gestiona y almacena los datos, </a:t>
            </a:r>
            <a:r>
              <a:rPr lang="es-MX" sz="2400" b="1" dirty="0">
                <a:solidFill>
                  <a:srgbClr val="FF0000"/>
                </a:solidFill>
              </a:rPr>
              <a:t>el cliente de SQL Server es la herramienta o aplicación que los usuarios y desarrolladores</a:t>
            </a:r>
            <a:r>
              <a:rPr lang="es-MX" sz="2400" dirty="0"/>
              <a:t> utilizan para interactuar con ese servidor y realizar operaciones sobre los datos.</a:t>
            </a:r>
            <a:endParaRPr kumimoji="0" lang="en-US" altLang="en-US" sz="2400"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71562972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pPr algn="ctr"/>
            <a:r>
              <a:rPr lang="es-PE" b="1" dirty="0" smtClean="0"/>
              <a:t>INSTALACION DE SQL SERVER</a:t>
            </a:r>
            <a:endParaRPr lang="en-US" b="1" dirty="0"/>
          </a:p>
        </p:txBody>
      </p:sp>
      <p:sp>
        <p:nvSpPr>
          <p:cNvPr id="3" name="Marcador de contenido 2"/>
          <p:cNvSpPr>
            <a:spLocks noGrp="1"/>
          </p:cNvSpPr>
          <p:nvPr>
            <p:ph idx="1"/>
          </p:nvPr>
        </p:nvSpPr>
        <p:spPr/>
        <p:txBody>
          <a:bodyPr/>
          <a:lstStyle/>
          <a:p>
            <a:r>
              <a:rPr lang="en-US" dirty="0" err="1"/>
              <a:t>microsoft</a:t>
            </a:r>
            <a:r>
              <a:rPr lang="en-US" dirty="0"/>
              <a:t> </a:t>
            </a:r>
            <a:r>
              <a:rPr lang="en-US" dirty="0" err="1"/>
              <a:t>sql</a:t>
            </a:r>
            <a:r>
              <a:rPr lang="en-US" dirty="0"/>
              <a:t> server download</a:t>
            </a:r>
          </a:p>
        </p:txBody>
      </p:sp>
    </p:spTree>
    <p:extLst>
      <p:ext uri="{BB962C8B-B14F-4D97-AF65-F5344CB8AC3E}">
        <p14:creationId xmlns:p14="http://schemas.microsoft.com/office/powerpoint/2010/main" val="277170568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n-US" b="1" dirty="0"/>
              <a:t>Comandos de </a:t>
            </a:r>
            <a:r>
              <a:rPr lang="en-US" b="1" dirty="0" smtClean="0"/>
              <a:t>SQL</a:t>
            </a:r>
            <a:endParaRPr lang="en-US" dirty="0"/>
          </a:p>
        </p:txBody>
      </p:sp>
      <p:sp>
        <p:nvSpPr>
          <p:cNvPr id="3" name="Marcador de contenido 2"/>
          <p:cNvSpPr>
            <a:spLocks noGrp="1"/>
          </p:cNvSpPr>
          <p:nvPr>
            <p:ph idx="1"/>
          </p:nvPr>
        </p:nvSpPr>
        <p:spPr>
          <a:xfrm>
            <a:off x="838200" y="1825626"/>
            <a:ext cx="4104861" cy="2971662"/>
          </a:xfrm>
        </p:spPr>
        <p:txBody>
          <a:bodyPr>
            <a:normAutofit/>
          </a:bodyPr>
          <a:lstStyle/>
          <a:p>
            <a:pPr algn="just"/>
            <a:r>
              <a:rPr lang="es-MX" dirty="0"/>
              <a:t>Los comandos de </a:t>
            </a:r>
            <a:r>
              <a:rPr lang="es-MX" b="1" dirty="0"/>
              <a:t>SQL</a:t>
            </a:r>
            <a:r>
              <a:rPr lang="es-MX" dirty="0"/>
              <a:t> son sentencias que se pueden utilizar para diferentes tareas y están divididos en cuatro grupos: </a:t>
            </a:r>
            <a:r>
              <a:rPr lang="es-MX" b="1" dirty="0"/>
              <a:t>DDL</a:t>
            </a:r>
            <a:r>
              <a:rPr lang="es-MX" dirty="0"/>
              <a:t>, </a:t>
            </a:r>
            <a:r>
              <a:rPr lang="es-MX" b="1" dirty="0"/>
              <a:t>DML</a:t>
            </a:r>
            <a:r>
              <a:rPr lang="es-MX" dirty="0"/>
              <a:t>, </a:t>
            </a:r>
            <a:r>
              <a:rPr lang="es-MX" b="1" dirty="0"/>
              <a:t>DCL</a:t>
            </a:r>
            <a:r>
              <a:rPr lang="es-MX" dirty="0"/>
              <a:t> y </a:t>
            </a:r>
            <a:r>
              <a:rPr lang="es-MX" b="1" dirty="0"/>
              <a:t>TCL</a:t>
            </a:r>
            <a:r>
              <a:rPr lang="es-MX" dirty="0" smtClean="0"/>
              <a:t>.</a:t>
            </a:r>
            <a:endParaRPr lang="en-US" dirty="0"/>
          </a:p>
        </p:txBody>
      </p:sp>
      <p:pic>
        <p:nvPicPr>
          <p:cNvPr id="4" name="Imagen 3"/>
          <p:cNvPicPr>
            <a:picLocks noChangeAspect="1"/>
          </p:cNvPicPr>
          <p:nvPr/>
        </p:nvPicPr>
        <p:blipFill>
          <a:blip r:embed="rId2"/>
          <a:stretch>
            <a:fillRect/>
          </a:stretch>
        </p:blipFill>
        <p:spPr>
          <a:xfrm>
            <a:off x="5216739" y="649461"/>
            <a:ext cx="6820852" cy="4439270"/>
          </a:xfrm>
          <a:prstGeom prst="rect">
            <a:avLst/>
          </a:prstGeom>
        </p:spPr>
      </p:pic>
    </p:spTree>
    <p:extLst>
      <p:ext uri="{BB962C8B-B14F-4D97-AF65-F5344CB8AC3E}">
        <p14:creationId xmlns:p14="http://schemas.microsoft.com/office/powerpoint/2010/main" val="164343277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n-US" b="1" dirty="0"/>
              <a:t>Comandos de SQL</a:t>
            </a:r>
            <a:endParaRPr lang="en-US" dirty="0"/>
          </a:p>
        </p:txBody>
      </p:sp>
      <p:sp>
        <p:nvSpPr>
          <p:cNvPr id="3" name="Marcador de contenido 2"/>
          <p:cNvSpPr>
            <a:spLocks noGrp="1"/>
          </p:cNvSpPr>
          <p:nvPr>
            <p:ph idx="1"/>
          </p:nvPr>
        </p:nvSpPr>
        <p:spPr/>
        <p:txBody>
          <a:bodyPr/>
          <a:lstStyle/>
          <a:p>
            <a:pPr algn="just"/>
            <a:r>
              <a:rPr lang="es-MX" dirty="0"/>
              <a:t>El lenguaje de consulta estructurado, o SQL, es un lenguaje completo para manipular bases de datos. Es el lenguaje utilizado en sistemas de bases de datos como </a:t>
            </a:r>
            <a:r>
              <a:rPr lang="es-MX" dirty="0" err="1"/>
              <a:t>PostgreSQL</a:t>
            </a:r>
            <a:r>
              <a:rPr lang="es-MX" dirty="0"/>
              <a:t>, </a:t>
            </a:r>
            <a:r>
              <a:rPr lang="es-MX" dirty="0" err="1"/>
              <a:t>MySQL</a:t>
            </a:r>
            <a:r>
              <a:rPr lang="es-MX" dirty="0"/>
              <a:t>, Microsoft SQL Server y Oracle </a:t>
            </a:r>
            <a:r>
              <a:rPr lang="es-MX" dirty="0" err="1"/>
              <a:t>Database</a:t>
            </a:r>
            <a:r>
              <a:rPr lang="es-MX" dirty="0"/>
              <a:t>. Cada uno de estos sistemas tiene sus propias implementaciones de las docenas de comandos del lenguaje SQL (es decir, </a:t>
            </a:r>
            <a:r>
              <a:rPr lang="es-MX" dirty="0">
                <a:hlinkClick r:id="rId2"/>
              </a:rPr>
              <a:t>sus propios dialectos</a:t>
            </a:r>
            <a:r>
              <a:rPr lang="es-MX" dirty="0"/>
              <a:t>), lo que puede resultar abrumador al principio.</a:t>
            </a:r>
            <a:endParaRPr lang="en-US" dirty="0"/>
          </a:p>
        </p:txBody>
      </p:sp>
    </p:spTree>
    <p:extLst>
      <p:ext uri="{BB962C8B-B14F-4D97-AF65-F5344CB8AC3E}">
        <p14:creationId xmlns:p14="http://schemas.microsoft.com/office/powerpoint/2010/main" val="77657463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n-US" b="1" dirty="0"/>
              <a:t>Comandos de SQL</a:t>
            </a:r>
            <a:endParaRPr lang="en-US" dirty="0"/>
          </a:p>
        </p:txBody>
      </p:sp>
      <p:sp>
        <p:nvSpPr>
          <p:cNvPr id="3" name="Marcador de contenido 2"/>
          <p:cNvSpPr>
            <a:spLocks noGrp="1"/>
          </p:cNvSpPr>
          <p:nvPr>
            <p:ph idx="1"/>
          </p:nvPr>
        </p:nvSpPr>
        <p:spPr/>
        <p:txBody>
          <a:bodyPr>
            <a:normAutofit fontScale="92500" lnSpcReduction="20000"/>
          </a:bodyPr>
          <a:lstStyle/>
          <a:p>
            <a:pPr algn="just"/>
            <a:r>
              <a:rPr lang="es-MX" b="1" dirty="0" smtClean="0">
                <a:solidFill>
                  <a:srgbClr val="FF0000"/>
                </a:solidFill>
              </a:rPr>
              <a:t>Lenguaje de Manipulación </a:t>
            </a:r>
            <a:r>
              <a:rPr lang="es-MX" b="1" dirty="0">
                <a:solidFill>
                  <a:srgbClr val="FF0000"/>
                </a:solidFill>
              </a:rPr>
              <a:t>de Datos (DML ) </a:t>
            </a:r>
            <a:r>
              <a:rPr lang="es-MX" dirty="0"/>
              <a:t>- El Lenguaje de Manipulación de Datos es el </a:t>
            </a:r>
            <a:r>
              <a:rPr lang="es-MX" dirty="0" err="1"/>
              <a:t>sublenguaje</a:t>
            </a:r>
            <a:r>
              <a:rPr lang="es-MX" dirty="0"/>
              <a:t> responsable de añadir, editar o borrar datos de una base de datos. En SQL, corresponde a los lenguajes </a:t>
            </a:r>
            <a:r>
              <a:rPr lang="es-MX" b="1" dirty="0">
                <a:solidFill>
                  <a:srgbClr val="FF0000"/>
                </a:solidFill>
              </a:rPr>
              <a:t>INSERT, UPDATE, y </a:t>
            </a:r>
            <a:r>
              <a:rPr lang="es-MX" b="1" dirty="0" smtClean="0">
                <a:solidFill>
                  <a:srgbClr val="FF0000"/>
                </a:solidFill>
              </a:rPr>
              <a:t>DELETE, SELECT.</a:t>
            </a:r>
            <a:endParaRPr lang="es-MX" b="1" dirty="0">
              <a:solidFill>
                <a:srgbClr val="FF0000"/>
              </a:solidFill>
            </a:endParaRPr>
          </a:p>
          <a:p>
            <a:pPr algn="just"/>
            <a:r>
              <a:rPr lang="es-MX" b="1" dirty="0">
                <a:solidFill>
                  <a:srgbClr val="FF0000"/>
                </a:solidFill>
              </a:rPr>
              <a:t>Lenguaje de Definición de Datos (DDL ) </a:t>
            </a:r>
            <a:r>
              <a:rPr lang="es-MX" dirty="0"/>
              <a:t>- El Lenguaje de Definición de Datos es el </a:t>
            </a:r>
            <a:r>
              <a:rPr lang="es-MX" dirty="0" err="1"/>
              <a:t>sublenguaje</a:t>
            </a:r>
            <a:r>
              <a:rPr lang="es-MX" dirty="0"/>
              <a:t> responsable de definir la forma en que se estructuran los datos en una base de datos. En SQL, esto corresponde a la manipulación de tablas a través de </a:t>
            </a:r>
            <a:r>
              <a:rPr lang="es-MX" b="1" dirty="0">
                <a:solidFill>
                  <a:srgbClr val="FF0000"/>
                </a:solidFill>
              </a:rPr>
              <a:t>CREATE TABLE, ALTER TABLE, y DROP TABLE</a:t>
            </a:r>
          </a:p>
          <a:p>
            <a:pPr algn="just"/>
            <a:r>
              <a:rPr lang="es-MX" b="1" dirty="0"/>
              <a:t>Lenguaje de Control de Datos (DCL) </a:t>
            </a:r>
            <a:r>
              <a:rPr lang="es-MX" dirty="0"/>
              <a:t>- El Lenguaje de Control de Datos es el </a:t>
            </a:r>
            <a:r>
              <a:rPr lang="es-MX" dirty="0" err="1"/>
              <a:t>sublenguaje</a:t>
            </a:r>
            <a:r>
              <a:rPr lang="es-MX" dirty="0"/>
              <a:t> responsable de las tareas administrativas de control de la propia base de datos, especialmente la concesión y revocación de </a:t>
            </a:r>
            <a:r>
              <a:rPr lang="es-MX" b="1" dirty="0">
                <a:solidFill>
                  <a:srgbClr val="FF0000"/>
                </a:solidFill>
              </a:rPr>
              <a:t>permisos de base de datos para los usuarios</a:t>
            </a:r>
            <a:r>
              <a:rPr lang="es-MX" dirty="0"/>
              <a:t>. En SQL, esto corresponde a los comandos </a:t>
            </a:r>
            <a:r>
              <a:rPr lang="es-MX" b="1" dirty="0">
                <a:solidFill>
                  <a:srgbClr val="FF0000"/>
                </a:solidFill>
              </a:rPr>
              <a:t>GRANT, REVOKE, y DENY</a:t>
            </a:r>
            <a:r>
              <a:rPr lang="es-MX" dirty="0"/>
              <a:t>, entre otros.</a:t>
            </a:r>
            <a:endParaRPr lang="en-US" dirty="0"/>
          </a:p>
        </p:txBody>
      </p:sp>
    </p:spTree>
    <p:extLst>
      <p:ext uri="{BB962C8B-B14F-4D97-AF65-F5344CB8AC3E}">
        <p14:creationId xmlns:p14="http://schemas.microsoft.com/office/powerpoint/2010/main" val="203718834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PE" b="1" dirty="0" smtClean="0"/>
              <a:t>CREACION DE UNA TABLA</a:t>
            </a:r>
            <a:endParaRPr lang="en-US" b="1" dirty="0"/>
          </a:p>
        </p:txBody>
      </p:sp>
      <p:pic>
        <p:nvPicPr>
          <p:cNvPr id="4" name="Marcador de contenido 3"/>
          <p:cNvPicPr>
            <a:picLocks noGrp="1" noChangeAspect="1"/>
          </p:cNvPicPr>
          <p:nvPr>
            <p:ph idx="1"/>
          </p:nvPr>
        </p:nvPicPr>
        <p:blipFill>
          <a:blip r:embed="rId2"/>
          <a:stretch>
            <a:fillRect/>
          </a:stretch>
        </p:blipFill>
        <p:spPr>
          <a:xfrm>
            <a:off x="2147844" y="1959250"/>
            <a:ext cx="8687919" cy="3275358"/>
          </a:xfrm>
          <a:prstGeom prst="rect">
            <a:avLst/>
          </a:prstGeom>
        </p:spPr>
      </p:pic>
    </p:spTree>
    <p:extLst>
      <p:ext uri="{BB962C8B-B14F-4D97-AF65-F5344CB8AC3E}">
        <p14:creationId xmlns:p14="http://schemas.microsoft.com/office/powerpoint/2010/main" val="81252253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Marcador de contenido 3"/>
          <p:cNvPicPr>
            <a:picLocks noGrp="1" noChangeAspect="1"/>
          </p:cNvPicPr>
          <p:nvPr>
            <p:ph idx="1"/>
          </p:nvPr>
        </p:nvPicPr>
        <p:blipFill>
          <a:blip r:embed="rId2"/>
          <a:stretch>
            <a:fillRect/>
          </a:stretch>
        </p:blipFill>
        <p:spPr>
          <a:xfrm>
            <a:off x="917508" y="846873"/>
            <a:ext cx="9897711" cy="4732293"/>
          </a:xfrm>
          <a:prstGeom prst="rect">
            <a:avLst/>
          </a:prstGeom>
        </p:spPr>
      </p:pic>
    </p:spTree>
    <p:extLst>
      <p:ext uri="{BB962C8B-B14F-4D97-AF65-F5344CB8AC3E}">
        <p14:creationId xmlns:p14="http://schemas.microsoft.com/office/powerpoint/2010/main" val="428780843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Marcador de contenido 3"/>
          <p:cNvPicPr>
            <a:picLocks noGrp="1" noChangeAspect="1"/>
          </p:cNvPicPr>
          <p:nvPr>
            <p:ph idx="1"/>
          </p:nvPr>
        </p:nvPicPr>
        <p:blipFill>
          <a:blip r:embed="rId2"/>
          <a:stretch>
            <a:fillRect/>
          </a:stretch>
        </p:blipFill>
        <p:spPr>
          <a:xfrm>
            <a:off x="1427463" y="366768"/>
            <a:ext cx="8823452" cy="2257162"/>
          </a:xfrm>
          <a:prstGeom prst="rect">
            <a:avLst/>
          </a:prstGeom>
        </p:spPr>
      </p:pic>
      <p:pic>
        <p:nvPicPr>
          <p:cNvPr id="5" name="Imagen 4"/>
          <p:cNvPicPr>
            <a:picLocks noChangeAspect="1"/>
          </p:cNvPicPr>
          <p:nvPr/>
        </p:nvPicPr>
        <p:blipFill>
          <a:blip r:embed="rId3"/>
          <a:stretch>
            <a:fillRect/>
          </a:stretch>
        </p:blipFill>
        <p:spPr>
          <a:xfrm>
            <a:off x="2356197" y="2782118"/>
            <a:ext cx="7225125" cy="3781265"/>
          </a:xfrm>
          <a:prstGeom prst="rect">
            <a:avLst/>
          </a:prstGeom>
        </p:spPr>
      </p:pic>
    </p:spTree>
    <p:extLst>
      <p:ext uri="{BB962C8B-B14F-4D97-AF65-F5344CB8AC3E}">
        <p14:creationId xmlns:p14="http://schemas.microsoft.com/office/powerpoint/2010/main" val="426399286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838200" y="206100"/>
            <a:ext cx="10515600" cy="615536"/>
          </a:xfrm>
        </p:spPr>
        <p:txBody>
          <a:bodyPr>
            <a:normAutofit/>
          </a:bodyPr>
          <a:lstStyle/>
          <a:p>
            <a:r>
              <a:rPr lang="es-PE" sz="2400" b="1" dirty="0" smtClean="0"/>
              <a:t>EJERCICIO – TIPO DE DATOS</a:t>
            </a:r>
            <a:endParaRPr lang="en-US" sz="2400" b="1" dirty="0"/>
          </a:p>
        </p:txBody>
      </p:sp>
      <p:sp>
        <p:nvSpPr>
          <p:cNvPr id="4" name="Rectangle 1"/>
          <p:cNvSpPr>
            <a:spLocks noGrp="1" noChangeArrowheads="1"/>
          </p:cNvSpPr>
          <p:nvPr>
            <p:ph idx="1"/>
          </p:nvPr>
        </p:nvSpPr>
        <p:spPr bwMode="auto">
          <a:xfrm>
            <a:off x="877956" y="788977"/>
            <a:ext cx="10677939" cy="16927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smtClean="0">
                <a:ln>
                  <a:noFill/>
                </a:ln>
                <a:solidFill>
                  <a:schemeClr val="tx1"/>
                </a:solidFill>
                <a:effectLst/>
                <a:latin typeface="Arial" panose="020B0604020202020204" pitchFamily="34" charset="0"/>
              </a:rPr>
              <a:t>En una base de datos de una </a:t>
            </a:r>
            <a:r>
              <a:rPr kumimoji="0" lang="en-US" altLang="en-US" sz="1600" b="0" i="0" u="none" strike="noStrike" cap="none" normalizeH="0" baseline="0" dirty="0" err="1" smtClean="0">
                <a:ln>
                  <a:noFill/>
                </a:ln>
                <a:solidFill>
                  <a:schemeClr val="tx1"/>
                </a:solidFill>
                <a:effectLst/>
                <a:latin typeface="Arial" panose="020B0604020202020204" pitchFamily="34" charset="0"/>
              </a:rPr>
              <a:t>empresa</a:t>
            </a:r>
            <a:r>
              <a:rPr kumimoji="0" lang="en-US" altLang="en-US" sz="1600" b="0" i="0" u="none" strike="noStrike" cap="none" normalizeH="0" baseline="0" dirty="0" smtClean="0">
                <a:ln>
                  <a:noFill/>
                </a:ln>
                <a:solidFill>
                  <a:schemeClr val="tx1"/>
                </a:solidFill>
                <a:effectLst/>
                <a:latin typeface="Arial" panose="020B0604020202020204" pitchFamily="34" charset="0"/>
              </a:rPr>
              <a:t> </a:t>
            </a:r>
            <a:r>
              <a:rPr kumimoji="0" lang="en-US" altLang="en-US" sz="1600" b="0" i="0" u="none" strike="noStrike" cap="none" normalizeH="0" baseline="0" dirty="0" err="1" smtClean="0">
                <a:ln>
                  <a:noFill/>
                </a:ln>
                <a:solidFill>
                  <a:schemeClr val="tx1"/>
                </a:solidFill>
                <a:effectLst/>
                <a:latin typeface="Arial" panose="020B0604020202020204" pitchFamily="34" charset="0"/>
              </a:rPr>
              <a:t>ficticia</a:t>
            </a:r>
            <a:r>
              <a:rPr kumimoji="0" lang="en-US" altLang="en-US" sz="1600" b="0" i="0" u="none" strike="noStrike" cap="none" normalizeH="0" baseline="0" dirty="0" smtClean="0">
                <a:ln>
                  <a:noFill/>
                </a:ln>
                <a:solidFill>
                  <a:schemeClr val="tx1"/>
                </a:solidFill>
                <a:effectLst/>
                <a:latin typeface="Arial" panose="020B0604020202020204" pitchFamily="34" charset="0"/>
              </a:rPr>
              <a:t> </a:t>
            </a:r>
            <a:r>
              <a:rPr kumimoji="0" lang="en-US" altLang="en-US" sz="1600" b="0" i="0" u="none" strike="noStrike" cap="none" normalizeH="0" baseline="0" dirty="0" err="1" smtClean="0">
                <a:ln>
                  <a:noFill/>
                </a:ln>
                <a:solidFill>
                  <a:schemeClr val="tx1"/>
                </a:solidFill>
                <a:effectLst/>
                <a:latin typeface="Arial" panose="020B0604020202020204" pitchFamily="34" charset="0"/>
              </a:rPr>
              <a:t>llamada</a:t>
            </a:r>
            <a:r>
              <a:rPr kumimoji="0" lang="en-US" altLang="en-US" sz="1600" b="0" i="0" u="none" strike="noStrike" cap="none" normalizeH="0" baseline="0" dirty="0" smtClean="0">
                <a:ln>
                  <a:noFill/>
                </a:ln>
                <a:solidFill>
                  <a:schemeClr val="tx1"/>
                </a:solidFill>
                <a:effectLst/>
                <a:latin typeface="Arial" panose="020B0604020202020204" pitchFamily="34" charset="0"/>
              </a:rPr>
              <a:t> </a:t>
            </a:r>
            <a:r>
              <a:rPr kumimoji="0" lang="en-US" altLang="en-US" sz="1600" b="1" i="0" u="none" strike="noStrike" cap="none" normalizeH="0" baseline="0" dirty="0" smtClean="0">
                <a:ln>
                  <a:noFill/>
                </a:ln>
                <a:solidFill>
                  <a:schemeClr val="tx1"/>
                </a:solidFill>
                <a:effectLst/>
                <a:latin typeface="Arial" panose="020B0604020202020204" pitchFamily="34" charset="0"/>
              </a:rPr>
              <a:t>“</a:t>
            </a:r>
            <a:r>
              <a:rPr kumimoji="0" lang="en-US" altLang="en-US" sz="1600" b="1" i="0" u="none" strike="noStrike" cap="none" normalizeH="0" baseline="0" dirty="0" err="1" smtClean="0">
                <a:ln>
                  <a:noFill/>
                </a:ln>
                <a:solidFill>
                  <a:schemeClr val="tx1"/>
                </a:solidFill>
                <a:effectLst/>
                <a:latin typeface="Arial" panose="020B0604020202020204" pitchFamily="34" charset="0"/>
              </a:rPr>
              <a:t>Database_GlobalCorp</a:t>
            </a:r>
            <a:r>
              <a:rPr kumimoji="0" lang="en-US" altLang="en-US" sz="1600" b="1" i="0" u="none" strike="noStrike" cap="none" normalizeH="0" baseline="0" dirty="0" smtClean="0">
                <a:ln>
                  <a:noFill/>
                </a:ln>
                <a:solidFill>
                  <a:schemeClr val="tx1"/>
                </a:solidFill>
                <a:effectLst/>
                <a:latin typeface="Arial" panose="020B0604020202020204" pitchFamily="34" charset="0"/>
              </a:rPr>
              <a:t>", </a:t>
            </a:r>
            <a:r>
              <a:rPr kumimoji="0" lang="en-US" altLang="en-US" sz="1600" b="0" i="0" u="none" strike="noStrike" cap="none" normalizeH="0" baseline="0" dirty="0" smtClean="0">
                <a:ln>
                  <a:noFill/>
                </a:ln>
                <a:solidFill>
                  <a:schemeClr val="tx1"/>
                </a:solidFill>
                <a:effectLst/>
                <a:latin typeface="Arial" panose="020B0604020202020204" pitchFamily="34" charset="0"/>
              </a:rPr>
              <a:t>se </a:t>
            </a:r>
            <a:r>
              <a:rPr kumimoji="0" lang="en-US" altLang="en-US" sz="1600" b="0" i="0" u="none" strike="noStrike" cap="none" normalizeH="0" baseline="0" dirty="0" err="1" smtClean="0">
                <a:ln>
                  <a:noFill/>
                </a:ln>
                <a:solidFill>
                  <a:schemeClr val="tx1"/>
                </a:solidFill>
                <a:effectLst/>
                <a:latin typeface="Arial" panose="020B0604020202020204" pitchFamily="34" charset="0"/>
              </a:rPr>
              <a:t>requiere</a:t>
            </a:r>
            <a:r>
              <a:rPr kumimoji="0" lang="en-US" altLang="en-US" sz="1600" b="0" i="0" u="none" strike="noStrike" cap="none" normalizeH="0" baseline="0" dirty="0" smtClean="0">
                <a:ln>
                  <a:noFill/>
                </a:ln>
                <a:solidFill>
                  <a:schemeClr val="tx1"/>
                </a:solidFill>
                <a:effectLst/>
                <a:latin typeface="Arial" panose="020B0604020202020204" pitchFamily="34" charset="0"/>
              </a:rPr>
              <a:t> </a:t>
            </a:r>
            <a:r>
              <a:rPr kumimoji="0" lang="en-US" altLang="en-US" sz="1600" b="0" i="0" u="none" strike="noStrike" cap="none" normalizeH="0" baseline="0" dirty="0" err="1" smtClean="0">
                <a:ln>
                  <a:noFill/>
                </a:ln>
                <a:solidFill>
                  <a:schemeClr val="tx1"/>
                </a:solidFill>
                <a:effectLst/>
                <a:latin typeface="Arial" panose="020B0604020202020204" pitchFamily="34" charset="0"/>
              </a:rPr>
              <a:t>crear</a:t>
            </a:r>
            <a:r>
              <a:rPr kumimoji="0" lang="en-US" altLang="en-US" sz="1600" b="0" i="0" u="none" strike="noStrike" cap="none" normalizeH="0" baseline="0" dirty="0" smtClean="0">
                <a:ln>
                  <a:noFill/>
                </a:ln>
                <a:solidFill>
                  <a:schemeClr val="tx1"/>
                </a:solidFill>
                <a:effectLst/>
                <a:latin typeface="Arial" panose="020B0604020202020204" pitchFamily="34" charset="0"/>
              </a:rPr>
              <a:t> una </a:t>
            </a:r>
            <a:r>
              <a:rPr kumimoji="0" lang="en-US" altLang="en-US" sz="1600" b="0" i="0" u="none" strike="noStrike" cap="none" normalizeH="0" baseline="0" dirty="0" err="1" smtClean="0">
                <a:ln>
                  <a:noFill/>
                </a:ln>
                <a:solidFill>
                  <a:schemeClr val="tx1"/>
                </a:solidFill>
                <a:effectLst/>
                <a:latin typeface="Arial" panose="020B0604020202020204" pitchFamily="34" charset="0"/>
              </a:rPr>
              <a:t>tabla</a:t>
            </a:r>
            <a:r>
              <a:rPr kumimoji="0" lang="en-US" altLang="en-US" sz="1600" b="0" i="0" u="none" strike="noStrike" cap="none" normalizeH="0" baseline="0" dirty="0" smtClean="0">
                <a:ln>
                  <a:noFill/>
                </a:ln>
                <a:solidFill>
                  <a:schemeClr val="tx1"/>
                </a:solidFill>
                <a:effectLst/>
                <a:latin typeface="Arial" panose="020B0604020202020204" pitchFamily="34" charset="0"/>
              </a:rPr>
              <a:t> </a:t>
            </a:r>
            <a:r>
              <a:rPr kumimoji="0" lang="en-US" altLang="en-US" sz="1600" b="0" i="0" u="none" strike="noStrike" cap="none" normalizeH="0" baseline="0" dirty="0" err="1" smtClean="0">
                <a:ln>
                  <a:noFill/>
                </a:ln>
                <a:solidFill>
                  <a:schemeClr val="tx1"/>
                </a:solidFill>
                <a:effectLst/>
                <a:latin typeface="Arial" panose="020B0604020202020204" pitchFamily="34" charset="0"/>
              </a:rPr>
              <a:t>llamada</a:t>
            </a:r>
            <a:r>
              <a:rPr kumimoji="0" lang="en-US" altLang="en-US" sz="1600" b="0" i="0" u="none" strike="noStrike" cap="none" normalizeH="0" baseline="0" dirty="0" smtClean="0">
                <a:ln>
                  <a:noFill/>
                </a:ln>
                <a:solidFill>
                  <a:schemeClr val="tx1"/>
                </a:solidFill>
                <a:effectLst/>
                <a:latin typeface="Arial" panose="020B0604020202020204" pitchFamily="34" charset="0"/>
              </a:rPr>
              <a:t> </a:t>
            </a:r>
            <a:r>
              <a:rPr kumimoji="0" lang="en-US" altLang="en-US" sz="1600" b="1" i="0" u="none" strike="noStrike" cap="none" normalizeH="0" baseline="0" dirty="0" err="1" smtClean="0">
                <a:ln>
                  <a:noFill/>
                </a:ln>
                <a:solidFill>
                  <a:schemeClr val="tx1"/>
                </a:solidFill>
                <a:effectLst/>
                <a:latin typeface="Arial Unicode MS"/>
              </a:rPr>
              <a:t>GlobalCorp</a:t>
            </a:r>
            <a:r>
              <a:rPr kumimoji="0" lang="en-US" altLang="en-US" sz="1600" b="0" i="0" u="none" strike="noStrike" cap="none" normalizeH="0" baseline="0" dirty="0" smtClean="0">
                <a:ln>
                  <a:noFill/>
                </a:ln>
                <a:solidFill>
                  <a:schemeClr val="tx1"/>
                </a:solidFill>
                <a:effectLst/>
              </a:rPr>
              <a:t> para </a:t>
            </a:r>
            <a:r>
              <a:rPr kumimoji="0" lang="en-US" altLang="en-US" sz="1600" b="0" i="0" u="none" strike="noStrike" cap="none" normalizeH="0" baseline="0" dirty="0" err="1" smtClean="0">
                <a:ln>
                  <a:noFill/>
                </a:ln>
                <a:solidFill>
                  <a:schemeClr val="tx1"/>
                </a:solidFill>
                <a:effectLst/>
              </a:rPr>
              <a:t>almacenar</a:t>
            </a:r>
            <a:r>
              <a:rPr kumimoji="0" lang="en-US" altLang="en-US" sz="1600" b="0" i="0" u="none" strike="noStrike" cap="none" normalizeH="0" baseline="0" dirty="0" smtClean="0">
                <a:ln>
                  <a:noFill/>
                </a:ln>
                <a:solidFill>
                  <a:schemeClr val="tx1"/>
                </a:solidFill>
                <a:effectLst/>
              </a:rPr>
              <a:t> </a:t>
            </a:r>
            <a:r>
              <a:rPr kumimoji="0" lang="en-US" altLang="en-US" sz="1600" b="0" i="0" u="none" strike="noStrike" cap="none" normalizeH="0" baseline="0" dirty="0" err="1" smtClean="0">
                <a:ln>
                  <a:noFill/>
                </a:ln>
                <a:solidFill>
                  <a:schemeClr val="tx1"/>
                </a:solidFill>
                <a:effectLst/>
              </a:rPr>
              <a:t>diversa</a:t>
            </a:r>
            <a:r>
              <a:rPr kumimoji="0" lang="en-US" altLang="en-US" sz="1600" b="0" i="0" u="none" strike="noStrike" cap="none" normalizeH="0" baseline="0" dirty="0" smtClean="0">
                <a:ln>
                  <a:noFill/>
                </a:ln>
                <a:solidFill>
                  <a:schemeClr val="tx1"/>
                </a:solidFill>
                <a:effectLst/>
              </a:rPr>
              <a:t> </a:t>
            </a:r>
            <a:r>
              <a:rPr kumimoji="0" lang="en-US" altLang="en-US" sz="1600" b="0" i="0" u="none" strike="noStrike" cap="none" normalizeH="0" baseline="0" dirty="0" err="1" smtClean="0">
                <a:ln>
                  <a:noFill/>
                </a:ln>
                <a:solidFill>
                  <a:schemeClr val="tx1"/>
                </a:solidFill>
                <a:effectLst/>
              </a:rPr>
              <a:t>información</a:t>
            </a:r>
            <a:r>
              <a:rPr kumimoji="0" lang="en-US" altLang="en-US" sz="1600" b="0" i="0" u="none" strike="noStrike" cap="none" normalizeH="0" baseline="0" dirty="0" smtClean="0">
                <a:ln>
                  <a:noFill/>
                </a:ln>
                <a:solidFill>
                  <a:schemeClr val="tx1"/>
                </a:solidFill>
                <a:effectLst/>
              </a:rPr>
              <a:t> </a:t>
            </a:r>
            <a:r>
              <a:rPr kumimoji="0" lang="en-US" altLang="en-US" sz="1600" b="0" i="0" u="none" strike="noStrike" cap="none" normalizeH="0" baseline="0" dirty="0" err="1" smtClean="0">
                <a:ln>
                  <a:noFill/>
                </a:ln>
                <a:solidFill>
                  <a:schemeClr val="tx1"/>
                </a:solidFill>
                <a:effectLst/>
              </a:rPr>
              <a:t>relacionada</a:t>
            </a:r>
            <a:r>
              <a:rPr kumimoji="0" lang="en-US" altLang="en-US" sz="1600" b="0" i="0" u="none" strike="noStrike" cap="none" normalizeH="0" baseline="0" dirty="0" smtClean="0">
                <a:ln>
                  <a:noFill/>
                </a:ln>
                <a:solidFill>
                  <a:schemeClr val="tx1"/>
                </a:solidFill>
                <a:effectLst/>
              </a:rPr>
              <a:t> con </a:t>
            </a:r>
            <a:r>
              <a:rPr kumimoji="0" lang="en-US" altLang="en-US" sz="1600" b="0" i="0" u="none" strike="noStrike" cap="none" normalizeH="0" baseline="0" dirty="0" err="1" smtClean="0">
                <a:ln>
                  <a:noFill/>
                </a:ln>
                <a:solidFill>
                  <a:schemeClr val="tx1"/>
                </a:solidFill>
                <a:effectLst/>
              </a:rPr>
              <a:t>empleados</a:t>
            </a:r>
            <a:r>
              <a:rPr kumimoji="0" lang="en-US" altLang="en-US" sz="1600" b="0" i="0" u="none" strike="noStrike" cap="none" normalizeH="0" baseline="0" dirty="0" smtClean="0">
                <a:ln>
                  <a:noFill/>
                </a:ln>
                <a:solidFill>
                  <a:schemeClr val="tx1"/>
                </a:solidFill>
                <a:effectLst/>
              </a:rPr>
              <a:t>, </a:t>
            </a:r>
            <a:r>
              <a:rPr kumimoji="0" lang="en-US" altLang="en-US" sz="1600" b="0" i="0" u="none" strike="noStrike" cap="none" normalizeH="0" baseline="0" dirty="0" err="1" smtClean="0">
                <a:ln>
                  <a:noFill/>
                </a:ln>
                <a:solidFill>
                  <a:schemeClr val="tx1"/>
                </a:solidFill>
                <a:effectLst/>
              </a:rPr>
              <a:t>incluyendo</a:t>
            </a:r>
            <a:r>
              <a:rPr kumimoji="0" lang="en-US" altLang="en-US" sz="1600" b="0" i="0" u="none" strike="noStrike" cap="none" normalizeH="0" baseline="0" dirty="0" smtClean="0">
                <a:ln>
                  <a:noFill/>
                </a:ln>
                <a:solidFill>
                  <a:schemeClr val="tx1"/>
                </a:solidFill>
                <a:effectLst/>
              </a:rPr>
              <a:t> datos </a:t>
            </a:r>
            <a:r>
              <a:rPr kumimoji="0" lang="en-US" altLang="en-US" sz="1600" b="0" i="0" u="none" strike="noStrike" cap="none" normalizeH="0" baseline="0" dirty="0" err="1" smtClean="0">
                <a:ln>
                  <a:noFill/>
                </a:ln>
                <a:solidFill>
                  <a:schemeClr val="tx1"/>
                </a:solidFill>
                <a:effectLst/>
              </a:rPr>
              <a:t>personales</a:t>
            </a:r>
            <a:r>
              <a:rPr kumimoji="0" lang="en-US" altLang="en-US" sz="1600" b="0" i="0" u="none" strike="noStrike" cap="none" normalizeH="0" baseline="0" dirty="0" smtClean="0">
                <a:ln>
                  <a:noFill/>
                </a:ln>
                <a:solidFill>
                  <a:schemeClr val="tx1"/>
                </a:solidFill>
                <a:effectLst/>
              </a:rPr>
              <a:t>, </a:t>
            </a:r>
            <a:r>
              <a:rPr kumimoji="0" lang="en-US" altLang="en-US" sz="1600" b="0" i="0" u="none" strike="noStrike" cap="none" normalizeH="0" baseline="0" dirty="0" err="1" smtClean="0">
                <a:ln>
                  <a:noFill/>
                </a:ln>
                <a:solidFill>
                  <a:schemeClr val="tx1"/>
                </a:solidFill>
                <a:effectLst/>
              </a:rPr>
              <a:t>laborales</a:t>
            </a:r>
            <a:r>
              <a:rPr kumimoji="0" lang="en-US" altLang="en-US" sz="1600" b="0" i="0" u="none" strike="noStrike" cap="none" normalizeH="0" baseline="0" dirty="0" smtClean="0">
                <a:ln>
                  <a:noFill/>
                </a:ln>
                <a:solidFill>
                  <a:schemeClr val="tx1"/>
                </a:solidFill>
                <a:effectLst/>
              </a:rPr>
              <a:t> y </a:t>
            </a:r>
            <a:r>
              <a:rPr kumimoji="0" lang="en-US" altLang="en-US" sz="1600" b="0" i="0" u="none" strike="noStrike" cap="none" normalizeH="0" baseline="0" dirty="0" err="1" smtClean="0">
                <a:ln>
                  <a:noFill/>
                </a:ln>
                <a:solidFill>
                  <a:schemeClr val="tx1"/>
                </a:solidFill>
                <a:effectLst/>
              </a:rPr>
              <a:t>técnicos</a:t>
            </a:r>
            <a:r>
              <a:rPr kumimoji="0" lang="en-US" altLang="en-US" sz="1600" b="0" i="0" u="none" strike="noStrike" cap="none" normalizeH="0" baseline="0" dirty="0" smtClean="0">
                <a:ln>
                  <a:noFill/>
                </a:ln>
                <a:solidFill>
                  <a:schemeClr val="tx1"/>
                </a:solidFill>
                <a:effectLst/>
              </a:rPr>
              <a:t>. </a:t>
            </a:r>
            <a:r>
              <a:rPr kumimoji="0" lang="en-US" altLang="en-US" sz="1600" b="0" i="0" u="none" strike="noStrike" cap="none" normalizeH="0" baseline="0" dirty="0" err="1" smtClean="0">
                <a:ln>
                  <a:noFill/>
                </a:ln>
                <a:solidFill>
                  <a:schemeClr val="tx1"/>
                </a:solidFill>
                <a:effectLst/>
              </a:rPr>
              <a:t>Esta</a:t>
            </a:r>
            <a:r>
              <a:rPr kumimoji="0" lang="en-US" altLang="en-US" sz="1600" b="0" i="0" u="none" strike="noStrike" cap="none" normalizeH="0" baseline="0" dirty="0" smtClean="0">
                <a:ln>
                  <a:noFill/>
                </a:ln>
                <a:solidFill>
                  <a:schemeClr val="tx1"/>
                </a:solidFill>
                <a:effectLst/>
              </a:rPr>
              <a:t> </a:t>
            </a:r>
            <a:r>
              <a:rPr kumimoji="0" lang="en-US" altLang="en-US" sz="1600" b="0" i="0" u="none" strike="noStrike" cap="none" normalizeH="0" baseline="0" dirty="0" err="1" smtClean="0">
                <a:ln>
                  <a:noFill/>
                </a:ln>
                <a:solidFill>
                  <a:schemeClr val="tx1"/>
                </a:solidFill>
                <a:effectLst/>
              </a:rPr>
              <a:t>tabla</a:t>
            </a:r>
            <a:r>
              <a:rPr kumimoji="0" lang="en-US" altLang="en-US" sz="1600" b="0" i="0" u="none" strike="noStrike" cap="none" normalizeH="0" baseline="0" dirty="0" smtClean="0">
                <a:ln>
                  <a:noFill/>
                </a:ln>
                <a:solidFill>
                  <a:schemeClr val="tx1"/>
                </a:solidFill>
                <a:effectLst/>
              </a:rPr>
              <a:t> </a:t>
            </a:r>
            <a:r>
              <a:rPr kumimoji="0" lang="en-US" altLang="en-US" sz="1600" b="0" i="0" u="none" strike="noStrike" cap="none" normalizeH="0" baseline="0" dirty="0" err="1" smtClean="0">
                <a:ln>
                  <a:noFill/>
                </a:ln>
                <a:solidFill>
                  <a:schemeClr val="tx1"/>
                </a:solidFill>
                <a:effectLst/>
              </a:rPr>
              <a:t>debe</a:t>
            </a:r>
            <a:r>
              <a:rPr kumimoji="0" lang="en-US" altLang="en-US" sz="1600" b="0" i="0" u="none" strike="noStrike" cap="none" normalizeH="0" baseline="0" dirty="0" smtClean="0">
                <a:ln>
                  <a:noFill/>
                </a:ln>
                <a:solidFill>
                  <a:schemeClr val="tx1"/>
                </a:solidFill>
                <a:effectLst/>
              </a:rPr>
              <a:t> </a:t>
            </a:r>
            <a:r>
              <a:rPr kumimoji="0" lang="en-US" altLang="en-US" sz="1600" b="0" i="0" u="none" strike="noStrike" cap="none" normalizeH="0" baseline="0" dirty="0" err="1" smtClean="0">
                <a:ln>
                  <a:noFill/>
                </a:ln>
                <a:solidFill>
                  <a:schemeClr val="tx1"/>
                </a:solidFill>
                <a:effectLst/>
              </a:rPr>
              <a:t>incluir</a:t>
            </a:r>
            <a:r>
              <a:rPr kumimoji="0" lang="en-US" altLang="en-US" sz="1600" b="0" i="0" u="none" strike="noStrike" cap="none" normalizeH="0" baseline="0" dirty="0" smtClean="0">
                <a:ln>
                  <a:noFill/>
                </a:ln>
                <a:solidFill>
                  <a:schemeClr val="tx1"/>
                </a:solidFill>
                <a:effectLst/>
              </a:rPr>
              <a:t> diferentes </a:t>
            </a:r>
            <a:r>
              <a:rPr kumimoji="0" lang="en-US" altLang="en-US" sz="1600" b="0" i="0" u="none" strike="noStrike" cap="none" normalizeH="0" baseline="0" dirty="0" err="1" smtClean="0">
                <a:ln>
                  <a:noFill/>
                </a:ln>
                <a:solidFill>
                  <a:schemeClr val="tx1"/>
                </a:solidFill>
                <a:effectLst/>
              </a:rPr>
              <a:t>tipos</a:t>
            </a:r>
            <a:r>
              <a:rPr kumimoji="0" lang="en-US" altLang="en-US" sz="1600" b="0" i="0" u="none" strike="noStrike" cap="none" normalizeH="0" baseline="0" dirty="0" smtClean="0">
                <a:ln>
                  <a:noFill/>
                </a:ln>
                <a:solidFill>
                  <a:schemeClr val="tx1"/>
                </a:solidFill>
                <a:effectLst/>
              </a:rPr>
              <a:t> de </a:t>
            </a:r>
            <a:r>
              <a:rPr kumimoji="0" lang="en-US" altLang="en-US" sz="1600" b="0" i="0" u="none" strike="noStrike" cap="none" normalizeH="0" baseline="0" dirty="0" err="1" smtClean="0">
                <a:ln>
                  <a:noFill/>
                </a:ln>
                <a:solidFill>
                  <a:schemeClr val="tx1"/>
                </a:solidFill>
                <a:effectLst/>
              </a:rPr>
              <a:t>datos</a:t>
            </a:r>
            <a:r>
              <a:rPr kumimoji="0" lang="en-US" altLang="en-US" sz="1600" b="0" i="0" u="none" strike="noStrike" cap="none" normalizeH="0" baseline="0" dirty="0" smtClean="0">
                <a:ln>
                  <a:noFill/>
                </a:ln>
                <a:solidFill>
                  <a:schemeClr val="tx1"/>
                </a:solidFill>
                <a:effectLst/>
              </a:rPr>
              <a:t> que </a:t>
            </a:r>
            <a:r>
              <a:rPr kumimoji="0" lang="en-US" altLang="en-US" sz="1600" b="0" i="0" u="none" strike="noStrike" cap="none" normalizeH="0" baseline="0" dirty="0" err="1" smtClean="0">
                <a:ln>
                  <a:noFill/>
                </a:ln>
                <a:solidFill>
                  <a:schemeClr val="tx1"/>
                </a:solidFill>
                <a:effectLst/>
              </a:rPr>
              <a:t>ofrece</a:t>
            </a:r>
            <a:r>
              <a:rPr kumimoji="0" lang="en-US" altLang="en-US" sz="1600" b="0" i="0" u="none" strike="noStrike" cap="none" normalizeH="0" baseline="0" dirty="0" smtClean="0">
                <a:ln>
                  <a:noFill/>
                </a:ln>
                <a:solidFill>
                  <a:schemeClr val="tx1"/>
                </a:solidFill>
                <a:effectLst/>
              </a:rPr>
              <a:t> SQL Server para </a:t>
            </a:r>
            <a:r>
              <a:rPr kumimoji="0" lang="en-US" altLang="en-US" sz="1600" b="0" i="0" u="none" strike="noStrike" cap="none" normalizeH="0" baseline="0" dirty="0" err="1" smtClean="0">
                <a:ln>
                  <a:noFill/>
                </a:ln>
                <a:solidFill>
                  <a:schemeClr val="tx1"/>
                </a:solidFill>
                <a:effectLst/>
              </a:rPr>
              <a:t>poder</a:t>
            </a:r>
            <a:r>
              <a:rPr kumimoji="0" lang="en-US" altLang="en-US" sz="1600" b="0" i="0" u="none" strike="noStrike" cap="none" normalizeH="0" baseline="0" dirty="0" smtClean="0">
                <a:ln>
                  <a:noFill/>
                </a:ln>
                <a:solidFill>
                  <a:schemeClr val="tx1"/>
                </a:solidFill>
                <a:effectLst/>
              </a:rPr>
              <a:t> </a:t>
            </a:r>
            <a:r>
              <a:rPr kumimoji="0" lang="en-US" altLang="en-US" sz="1600" b="0" i="0" u="none" strike="noStrike" cap="none" normalizeH="0" baseline="0" dirty="0" err="1" smtClean="0">
                <a:ln>
                  <a:noFill/>
                </a:ln>
                <a:solidFill>
                  <a:schemeClr val="tx1"/>
                </a:solidFill>
                <a:effectLst/>
              </a:rPr>
              <a:t>ilustrar</a:t>
            </a:r>
            <a:r>
              <a:rPr kumimoji="0" lang="en-US" altLang="en-US" sz="1600" b="0" i="0" u="none" strike="noStrike" cap="none" normalizeH="0" baseline="0" dirty="0" smtClean="0">
                <a:ln>
                  <a:noFill/>
                </a:ln>
                <a:solidFill>
                  <a:schemeClr val="tx1"/>
                </a:solidFill>
                <a:effectLst/>
              </a:rPr>
              <a:t> </a:t>
            </a:r>
            <a:r>
              <a:rPr kumimoji="0" lang="en-US" altLang="en-US" sz="1600" b="0" i="0" u="none" strike="noStrike" cap="none" normalizeH="0" baseline="0" dirty="0" err="1" smtClean="0">
                <a:ln>
                  <a:noFill/>
                </a:ln>
                <a:solidFill>
                  <a:schemeClr val="tx1"/>
                </a:solidFill>
                <a:effectLst/>
              </a:rPr>
              <a:t>cómo</a:t>
            </a:r>
            <a:r>
              <a:rPr kumimoji="0" lang="en-US" altLang="en-US" sz="1600" b="0" i="0" u="none" strike="noStrike" cap="none" normalizeH="0" baseline="0" dirty="0" smtClean="0">
                <a:ln>
                  <a:noFill/>
                </a:ln>
                <a:solidFill>
                  <a:schemeClr val="tx1"/>
                </a:solidFill>
                <a:effectLst/>
              </a:rPr>
              <a:t> se </a:t>
            </a:r>
            <a:r>
              <a:rPr kumimoji="0" lang="en-US" altLang="en-US" sz="1600" b="0" i="0" u="none" strike="noStrike" cap="none" normalizeH="0" baseline="0" dirty="0" err="1" smtClean="0">
                <a:ln>
                  <a:noFill/>
                </a:ln>
                <a:solidFill>
                  <a:schemeClr val="tx1"/>
                </a:solidFill>
                <a:effectLst/>
              </a:rPr>
              <a:t>manejan</a:t>
            </a:r>
            <a:r>
              <a:rPr kumimoji="0" lang="en-US" altLang="en-US" sz="1600" b="0" i="0" u="none" strike="noStrike" cap="none" normalizeH="0" baseline="0" dirty="0" smtClean="0">
                <a:ln>
                  <a:noFill/>
                </a:ln>
                <a:solidFill>
                  <a:schemeClr val="tx1"/>
                </a:solidFill>
                <a:effectLst/>
              </a:rPr>
              <a:t> </a:t>
            </a:r>
            <a:r>
              <a:rPr kumimoji="0" lang="en-US" altLang="en-US" sz="1600" b="0" i="0" u="none" strike="noStrike" cap="none" normalizeH="0" baseline="0" dirty="0" err="1" smtClean="0">
                <a:ln>
                  <a:noFill/>
                </a:ln>
                <a:solidFill>
                  <a:schemeClr val="tx1"/>
                </a:solidFill>
                <a:effectLst/>
              </a:rPr>
              <a:t>en</a:t>
            </a:r>
            <a:r>
              <a:rPr kumimoji="0" lang="en-US" altLang="en-US" sz="1600" b="0" i="0" u="none" strike="noStrike" cap="none" normalizeH="0" baseline="0" dirty="0" smtClean="0">
                <a:ln>
                  <a:noFill/>
                </a:ln>
                <a:solidFill>
                  <a:schemeClr val="tx1"/>
                </a:solidFill>
                <a:effectLst/>
              </a:rPr>
              <a:t> la base de </a:t>
            </a:r>
            <a:r>
              <a:rPr kumimoji="0" lang="en-US" altLang="en-US" sz="1600" b="0" i="0" u="none" strike="noStrike" cap="none" normalizeH="0" baseline="0" dirty="0" err="1" smtClean="0">
                <a:ln>
                  <a:noFill/>
                </a:ln>
                <a:solidFill>
                  <a:schemeClr val="tx1"/>
                </a:solidFill>
                <a:effectLst/>
              </a:rPr>
              <a:t>datos</a:t>
            </a:r>
            <a:r>
              <a:rPr kumimoji="0" lang="en-US" altLang="en-US" sz="1600" b="0" i="0" u="none" strike="noStrike" cap="none" normalizeH="0" baseline="0" dirty="0" smtClean="0">
                <a:ln>
                  <a:noFill/>
                </a:ln>
                <a:solidFill>
                  <a:schemeClr val="tx1"/>
                </a:solidFill>
                <a:effectLst/>
              </a:rPr>
              <a:t>. </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800" b="0" i="0" u="none" strike="noStrike" cap="none" normalizeH="0" baseline="0" dirty="0" smtClean="0">
              <a:ln>
                <a:noFill/>
              </a:ln>
              <a:solidFill>
                <a:schemeClr val="tx1"/>
              </a:solidFill>
              <a:effectLst/>
            </a:endParaRPr>
          </a:p>
          <a:p>
            <a:pPr marL="0" indent="0" algn="just" eaLnBrk="0" fontAlgn="base" hangingPunct="0">
              <a:lnSpc>
                <a:spcPct val="100000"/>
              </a:lnSpc>
              <a:spcBef>
                <a:spcPct val="0"/>
              </a:spcBef>
              <a:spcAft>
                <a:spcPct val="0"/>
              </a:spcAft>
              <a:buNone/>
            </a:pPr>
            <a:r>
              <a:rPr lang="en-US" altLang="en-US" sz="1600" dirty="0" err="1">
                <a:latin typeface="Arial" panose="020B0604020202020204" pitchFamily="34" charset="0"/>
              </a:rPr>
              <a:t>Crear</a:t>
            </a:r>
            <a:r>
              <a:rPr lang="en-US" altLang="en-US" sz="1600" dirty="0">
                <a:latin typeface="Arial" panose="020B0604020202020204" pitchFamily="34" charset="0"/>
              </a:rPr>
              <a:t> </a:t>
            </a:r>
            <a:r>
              <a:rPr lang="en-US" altLang="en-US" sz="1600" dirty="0" err="1">
                <a:latin typeface="Arial" panose="020B0604020202020204" pitchFamily="34" charset="0"/>
              </a:rPr>
              <a:t>una</a:t>
            </a:r>
            <a:r>
              <a:rPr lang="en-US" altLang="en-US" sz="1600" dirty="0">
                <a:latin typeface="Arial" panose="020B0604020202020204" pitchFamily="34" charset="0"/>
              </a:rPr>
              <a:t> </a:t>
            </a:r>
            <a:r>
              <a:rPr lang="en-US" altLang="en-US" sz="1600" dirty="0" err="1">
                <a:latin typeface="Arial" panose="020B0604020202020204" pitchFamily="34" charset="0"/>
              </a:rPr>
              <a:t>tabla</a:t>
            </a:r>
            <a:r>
              <a:rPr lang="en-US" altLang="en-US" sz="1600" dirty="0">
                <a:latin typeface="Arial" panose="020B0604020202020204" pitchFamily="34" charset="0"/>
              </a:rPr>
              <a:t> </a:t>
            </a:r>
            <a:r>
              <a:rPr lang="en-US" altLang="en-US" sz="1600" dirty="0" err="1">
                <a:latin typeface="Arial" panose="020B0604020202020204" pitchFamily="34" charset="0"/>
              </a:rPr>
              <a:t>llamada</a:t>
            </a:r>
            <a:r>
              <a:rPr lang="en-US" altLang="en-US" sz="1600" dirty="0">
                <a:latin typeface="Arial" panose="020B0604020202020204" pitchFamily="34" charset="0"/>
              </a:rPr>
              <a:t> </a:t>
            </a:r>
            <a:r>
              <a:rPr lang="en-US" altLang="en-US" sz="1600" b="1" dirty="0" err="1">
                <a:latin typeface="Arial Unicode MS"/>
              </a:rPr>
              <a:t>GlobalCorp</a:t>
            </a:r>
            <a:r>
              <a:rPr lang="en-US" altLang="en-US" sz="1600" b="1" dirty="0"/>
              <a:t> </a:t>
            </a:r>
            <a:r>
              <a:rPr lang="en-US" altLang="en-US" sz="1600" dirty="0"/>
              <a:t>que </a:t>
            </a:r>
            <a:r>
              <a:rPr lang="en-US" altLang="en-US" sz="1600" dirty="0" err="1"/>
              <a:t>contenga</a:t>
            </a:r>
            <a:r>
              <a:rPr lang="en-US" altLang="en-US" sz="1600" dirty="0"/>
              <a:t> </a:t>
            </a:r>
            <a:r>
              <a:rPr lang="en-US" altLang="en-US" sz="1600" dirty="0" err="1"/>
              <a:t>los</a:t>
            </a:r>
            <a:r>
              <a:rPr lang="en-US" altLang="en-US" sz="1600" dirty="0"/>
              <a:t> siguientes </a:t>
            </a:r>
            <a:r>
              <a:rPr lang="en-US" altLang="en-US" sz="1600" dirty="0" err="1"/>
              <a:t>campos</a:t>
            </a:r>
            <a:r>
              <a:rPr lang="en-US" altLang="en-US" sz="1600" dirty="0"/>
              <a:t> y </a:t>
            </a:r>
            <a:r>
              <a:rPr lang="en-US" altLang="en-US" sz="1600" dirty="0" err="1"/>
              <a:t>tipos</a:t>
            </a:r>
            <a:r>
              <a:rPr lang="en-US" altLang="en-US" sz="1600" dirty="0"/>
              <a:t> de </a:t>
            </a:r>
            <a:r>
              <a:rPr lang="en-US" altLang="en-US" sz="1600" dirty="0" err="1"/>
              <a:t>datos</a:t>
            </a:r>
            <a:r>
              <a:rPr lang="en-US" altLang="en-US" sz="1600" dirty="0"/>
              <a:t>:</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smtClean="0">
              <a:ln>
                <a:noFill/>
              </a:ln>
              <a:solidFill>
                <a:schemeClr val="tx1"/>
              </a:solidFill>
              <a:effectLst/>
              <a:latin typeface="Arial" panose="020B0604020202020204" pitchFamily="34" charset="0"/>
            </a:endParaRPr>
          </a:p>
        </p:txBody>
      </p:sp>
      <p:sp>
        <p:nvSpPr>
          <p:cNvPr id="5" name="Rectangle 2"/>
          <p:cNvSpPr>
            <a:spLocks noChangeArrowheads="1"/>
          </p:cNvSpPr>
          <p:nvPr/>
        </p:nvSpPr>
        <p:spPr bwMode="auto">
          <a:xfrm>
            <a:off x="838200" y="2475929"/>
            <a:ext cx="5297557" cy="42473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b="1" i="1" u="none" strike="noStrike" cap="none" normalizeH="0" baseline="0" dirty="0" smtClean="0">
                <a:ln>
                  <a:noFill/>
                </a:ln>
                <a:solidFill>
                  <a:schemeClr val="tx1"/>
                </a:solidFill>
                <a:effectLst/>
                <a:latin typeface="Arial Unicode MS"/>
              </a:rPr>
              <a:t>Id</a:t>
            </a:r>
            <a:r>
              <a:rPr kumimoji="0" lang="en-US" altLang="en-US" b="0" i="0" u="none" strike="noStrike" cap="none" normalizeH="0" baseline="0" dirty="0" smtClean="0">
                <a:ln>
                  <a:noFill/>
                </a:ln>
                <a:solidFill>
                  <a:schemeClr val="tx1"/>
                </a:solidFill>
                <a:effectLst/>
              </a:rPr>
              <a:t>: </a:t>
            </a:r>
            <a:r>
              <a:rPr kumimoji="0" lang="en-US" altLang="en-US" b="0" i="0" u="none" strike="noStrike" cap="none" normalizeH="0" baseline="0" dirty="0" err="1" smtClean="0">
                <a:ln>
                  <a:noFill/>
                </a:ln>
                <a:solidFill>
                  <a:schemeClr val="tx1"/>
                </a:solidFill>
                <a:effectLst/>
              </a:rPr>
              <a:t>Entero</a:t>
            </a:r>
            <a:r>
              <a:rPr kumimoji="0" lang="en-US" altLang="en-US" b="0" i="0" u="none" strike="noStrike" cap="none" normalizeH="0" baseline="0" dirty="0" smtClean="0">
                <a:ln>
                  <a:noFill/>
                </a:ln>
                <a:solidFill>
                  <a:schemeClr val="tx1"/>
                </a:solidFill>
                <a:effectLst/>
              </a:rPr>
              <a:t> (INT), clave </a:t>
            </a:r>
            <a:r>
              <a:rPr kumimoji="0" lang="en-US" altLang="en-US" b="0" i="0" u="none" strike="noStrike" cap="none" normalizeH="0" baseline="0" dirty="0" err="1" smtClean="0">
                <a:ln>
                  <a:noFill/>
                </a:ln>
                <a:solidFill>
                  <a:schemeClr val="tx1"/>
                </a:solidFill>
                <a:effectLst/>
              </a:rPr>
              <a:t>primaria</a:t>
            </a:r>
            <a:r>
              <a:rPr kumimoji="0" lang="en-US" altLang="en-US" b="0" i="0" u="none" strike="noStrike" cap="none" normalizeH="0" baseline="0" dirty="0" smtClean="0">
                <a:ln>
                  <a:noFill/>
                </a:ln>
                <a:solidFill>
                  <a:schemeClr val="tx1"/>
                </a:solidFill>
                <a:effectLst/>
              </a:rPr>
              <a:t>.</a:t>
            </a:r>
            <a:endParaRPr kumimoji="0" lang="en-US" altLang="en-US" b="0" i="0" u="none" strike="noStrike" cap="none" normalizeH="0" baseline="0" dirty="0" smtClean="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b="1" i="1" u="none" strike="noStrike" cap="none" normalizeH="0" baseline="0" dirty="0" err="1" smtClean="0">
                <a:ln>
                  <a:noFill/>
                </a:ln>
                <a:solidFill>
                  <a:schemeClr val="tx1"/>
                </a:solidFill>
                <a:effectLst/>
                <a:latin typeface="Arial Unicode MS"/>
              </a:rPr>
              <a:t>Nombre</a:t>
            </a:r>
            <a:r>
              <a:rPr kumimoji="0" lang="en-US" altLang="en-US" b="0" i="0" u="none" strike="noStrike" cap="none" normalizeH="0" baseline="0" dirty="0" smtClean="0">
                <a:ln>
                  <a:noFill/>
                </a:ln>
                <a:solidFill>
                  <a:schemeClr val="tx1"/>
                </a:solidFill>
                <a:effectLst/>
              </a:rPr>
              <a:t>: Cadena de </a:t>
            </a:r>
            <a:r>
              <a:rPr kumimoji="0" lang="en-US" altLang="en-US" b="0" i="0" u="none" strike="noStrike" cap="none" normalizeH="0" baseline="0" dirty="0" err="1" smtClean="0">
                <a:ln>
                  <a:noFill/>
                </a:ln>
                <a:solidFill>
                  <a:schemeClr val="tx1"/>
                </a:solidFill>
                <a:effectLst/>
              </a:rPr>
              <a:t>caracteres</a:t>
            </a:r>
            <a:r>
              <a:rPr kumimoji="0" lang="en-US" altLang="en-US" b="0" i="0" u="none" strike="noStrike" cap="none" normalizeH="0" baseline="0" dirty="0" smtClean="0">
                <a:ln>
                  <a:noFill/>
                </a:ln>
                <a:solidFill>
                  <a:schemeClr val="tx1"/>
                </a:solidFill>
                <a:effectLst/>
              </a:rPr>
              <a:t> con </a:t>
            </a:r>
            <a:r>
              <a:rPr kumimoji="0" lang="en-US" altLang="en-US" b="0" i="0" u="none" strike="noStrike" cap="none" normalizeH="0" baseline="0" dirty="0" err="1" smtClean="0">
                <a:ln>
                  <a:noFill/>
                </a:ln>
                <a:solidFill>
                  <a:schemeClr val="tx1"/>
                </a:solidFill>
                <a:effectLst/>
              </a:rPr>
              <a:t>longitud</a:t>
            </a:r>
            <a:r>
              <a:rPr kumimoji="0" lang="en-US" altLang="en-US" b="0" i="0" u="none" strike="noStrike" cap="none" normalizeH="0" baseline="0" dirty="0" smtClean="0">
                <a:ln>
                  <a:noFill/>
                </a:ln>
                <a:solidFill>
                  <a:schemeClr val="tx1"/>
                </a:solidFill>
                <a:effectLst/>
              </a:rPr>
              <a:t> variable (NVARCHAR(50)).</a:t>
            </a:r>
            <a:endParaRPr kumimoji="0" lang="en-US" altLang="en-US" b="0" i="0" u="none" strike="noStrike" cap="none" normalizeH="0" baseline="0" dirty="0" smtClean="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b="1" i="1" u="none" strike="noStrike" cap="none" normalizeH="0" baseline="0" dirty="0" err="1" smtClean="0">
                <a:ln>
                  <a:noFill/>
                </a:ln>
                <a:solidFill>
                  <a:schemeClr val="tx1"/>
                </a:solidFill>
                <a:effectLst/>
                <a:latin typeface="Arial Unicode MS"/>
              </a:rPr>
              <a:t>Apellido</a:t>
            </a:r>
            <a:r>
              <a:rPr kumimoji="0" lang="en-US" altLang="en-US" b="0" i="0" u="none" strike="noStrike" cap="none" normalizeH="0" baseline="0" dirty="0" smtClean="0">
                <a:ln>
                  <a:noFill/>
                </a:ln>
                <a:solidFill>
                  <a:schemeClr val="tx1"/>
                </a:solidFill>
                <a:effectLst/>
              </a:rPr>
              <a:t>: Cadena de </a:t>
            </a:r>
            <a:r>
              <a:rPr kumimoji="0" lang="en-US" altLang="en-US" b="0" i="0" u="none" strike="noStrike" cap="none" normalizeH="0" baseline="0" dirty="0" err="1" smtClean="0">
                <a:ln>
                  <a:noFill/>
                </a:ln>
                <a:solidFill>
                  <a:schemeClr val="tx1"/>
                </a:solidFill>
                <a:effectLst/>
              </a:rPr>
              <a:t>caracteres</a:t>
            </a:r>
            <a:r>
              <a:rPr kumimoji="0" lang="en-US" altLang="en-US" b="0" i="0" u="none" strike="noStrike" cap="none" normalizeH="0" baseline="0" dirty="0" smtClean="0">
                <a:ln>
                  <a:noFill/>
                </a:ln>
                <a:solidFill>
                  <a:schemeClr val="tx1"/>
                </a:solidFill>
                <a:effectLst/>
              </a:rPr>
              <a:t> con </a:t>
            </a:r>
            <a:r>
              <a:rPr kumimoji="0" lang="en-US" altLang="en-US" b="0" i="0" u="none" strike="noStrike" cap="none" normalizeH="0" baseline="0" dirty="0" err="1" smtClean="0">
                <a:ln>
                  <a:noFill/>
                </a:ln>
                <a:solidFill>
                  <a:schemeClr val="tx1"/>
                </a:solidFill>
                <a:effectLst/>
              </a:rPr>
              <a:t>longitud</a:t>
            </a:r>
            <a:r>
              <a:rPr kumimoji="0" lang="en-US" altLang="en-US" b="0" i="0" u="none" strike="noStrike" cap="none" normalizeH="0" baseline="0" dirty="0" smtClean="0">
                <a:ln>
                  <a:noFill/>
                </a:ln>
                <a:solidFill>
                  <a:schemeClr val="tx1"/>
                </a:solidFill>
                <a:effectLst/>
              </a:rPr>
              <a:t> variable (VARCHAR(50)).</a:t>
            </a:r>
            <a:endParaRPr kumimoji="0" lang="en-US" altLang="en-US" b="0" i="0" u="none" strike="noStrike" cap="none" normalizeH="0" baseline="0" dirty="0" smtClean="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b="1" i="1" u="none" strike="noStrike" cap="none" normalizeH="0" baseline="0" dirty="0" err="1" smtClean="0">
                <a:ln>
                  <a:noFill/>
                </a:ln>
                <a:solidFill>
                  <a:schemeClr val="tx1"/>
                </a:solidFill>
                <a:effectLst/>
                <a:latin typeface="Arial Unicode MS"/>
              </a:rPr>
              <a:t>Edad</a:t>
            </a:r>
            <a:r>
              <a:rPr kumimoji="0" lang="en-US" altLang="en-US" b="0" i="0" u="none" strike="noStrike" cap="none" normalizeH="0" baseline="0" dirty="0" smtClean="0">
                <a:ln>
                  <a:noFill/>
                </a:ln>
                <a:solidFill>
                  <a:schemeClr val="tx1"/>
                </a:solidFill>
                <a:effectLst/>
              </a:rPr>
              <a:t>: </a:t>
            </a:r>
            <a:r>
              <a:rPr kumimoji="0" lang="en-US" altLang="en-US" b="0" i="0" u="none" strike="noStrike" cap="none" normalizeH="0" baseline="0" dirty="0" err="1" smtClean="0">
                <a:ln>
                  <a:noFill/>
                </a:ln>
                <a:solidFill>
                  <a:schemeClr val="tx1"/>
                </a:solidFill>
                <a:effectLst/>
              </a:rPr>
              <a:t>Entero</a:t>
            </a:r>
            <a:r>
              <a:rPr kumimoji="0" lang="en-US" altLang="en-US" b="0" i="0" u="none" strike="noStrike" cap="none" normalizeH="0" baseline="0" dirty="0" smtClean="0">
                <a:ln>
                  <a:noFill/>
                </a:ln>
                <a:solidFill>
                  <a:schemeClr val="tx1"/>
                </a:solidFill>
                <a:effectLst/>
              </a:rPr>
              <a:t> </a:t>
            </a:r>
            <a:r>
              <a:rPr kumimoji="0" lang="en-US" altLang="en-US" b="0" i="0" u="none" strike="noStrike" cap="none" normalizeH="0" baseline="0" dirty="0" err="1" smtClean="0">
                <a:ln>
                  <a:noFill/>
                </a:ln>
                <a:solidFill>
                  <a:schemeClr val="tx1"/>
                </a:solidFill>
                <a:effectLst/>
              </a:rPr>
              <a:t>pequeño</a:t>
            </a:r>
            <a:r>
              <a:rPr kumimoji="0" lang="en-US" altLang="en-US" b="0" i="0" u="none" strike="noStrike" cap="none" normalizeH="0" baseline="0" dirty="0" smtClean="0">
                <a:ln>
                  <a:noFill/>
                </a:ln>
                <a:solidFill>
                  <a:schemeClr val="tx1"/>
                </a:solidFill>
                <a:effectLst/>
              </a:rPr>
              <a:t> (TINYINT).</a:t>
            </a:r>
            <a:endParaRPr kumimoji="0" lang="en-US" altLang="en-US" b="0" i="0" u="none" strike="noStrike" cap="none" normalizeH="0" baseline="0" dirty="0" smtClean="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b="1" i="1" u="none" strike="noStrike" cap="none" normalizeH="0" baseline="0" dirty="0" err="1" smtClean="0">
                <a:ln>
                  <a:noFill/>
                </a:ln>
                <a:solidFill>
                  <a:schemeClr val="tx1"/>
                </a:solidFill>
                <a:effectLst/>
                <a:latin typeface="Arial Unicode MS"/>
              </a:rPr>
              <a:t>Sueldo</a:t>
            </a:r>
            <a:r>
              <a:rPr kumimoji="0" lang="en-US" altLang="en-US" b="0" i="0" u="none" strike="noStrike" cap="none" normalizeH="0" baseline="0" dirty="0" smtClean="0">
                <a:ln>
                  <a:noFill/>
                </a:ln>
                <a:solidFill>
                  <a:schemeClr val="tx1"/>
                </a:solidFill>
                <a:effectLst/>
              </a:rPr>
              <a:t>: Decimal con </a:t>
            </a:r>
            <a:r>
              <a:rPr kumimoji="0" lang="en-US" altLang="en-US" b="0" i="0" u="none" strike="noStrike" cap="none" normalizeH="0" baseline="0" dirty="0" err="1" smtClean="0">
                <a:ln>
                  <a:noFill/>
                </a:ln>
                <a:solidFill>
                  <a:schemeClr val="tx1"/>
                </a:solidFill>
                <a:effectLst/>
              </a:rPr>
              <a:t>precisión</a:t>
            </a:r>
            <a:r>
              <a:rPr kumimoji="0" lang="en-US" altLang="en-US" b="0" i="0" u="none" strike="noStrike" cap="none" normalizeH="0" baseline="0" dirty="0" smtClean="0">
                <a:ln>
                  <a:noFill/>
                </a:ln>
                <a:solidFill>
                  <a:schemeClr val="tx1"/>
                </a:solidFill>
                <a:effectLst/>
              </a:rPr>
              <a:t> y </a:t>
            </a:r>
            <a:r>
              <a:rPr kumimoji="0" lang="en-US" altLang="en-US" b="0" i="0" u="none" strike="noStrike" cap="none" normalizeH="0" baseline="0" dirty="0" err="1" smtClean="0">
                <a:ln>
                  <a:noFill/>
                </a:ln>
                <a:solidFill>
                  <a:schemeClr val="tx1"/>
                </a:solidFill>
                <a:effectLst/>
              </a:rPr>
              <a:t>escala</a:t>
            </a:r>
            <a:r>
              <a:rPr kumimoji="0" lang="en-US" altLang="en-US" b="0" i="0" u="none" strike="noStrike" cap="none" normalizeH="0" baseline="0" dirty="0" smtClean="0">
                <a:ln>
                  <a:noFill/>
                </a:ln>
                <a:solidFill>
                  <a:schemeClr val="tx1"/>
                </a:solidFill>
                <a:effectLst/>
              </a:rPr>
              <a:t> </a:t>
            </a:r>
            <a:r>
              <a:rPr kumimoji="0" lang="en-US" altLang="en-US" b="0" i="0" u="none" strike="noStrike" cap="none" normalizeH="0" baseline="0" dirty="0" err="1" smtClean="0">
                <a:ln>
                  <a:noFill/>
                </a:ln>
                <a:solidFill>
                  <a:schemeClr val="tx1"/>
                </a:solidFill>
                <a:effectLst/>
              </a:rPr>
              <a:t>específicas</a:t>
            </a:r>
            <a:r>
              <a:rPr kumimoji="0" lang="en-US" altLang="en-US" b="0" i="0" u="none" strike="noStrike" cap="none" normalizeH="0" baseline="0" dirty="0" smtClean="0">
                <a:ln>
                  <a:noFill/>
                </a:ln>
                <a:solidFill>
                  <a:schemeClr val="tx1"/>
                </a:solidFill>
                <a:effectLst/>
              </a:rPr>
              <a:t> (DECIMAL(10, 2)).</a:t>
            </a:r>
            <a:endParaRPr kumimoji="0" lang="en-US" altLang="en-US" b="0" i="0" u="none" strike="noStrike" cap="none" normalizeH="0" baseline="0" dirty="0" smtClean="0">
              <a:ln>
                <a:noFill/>
              </a:ln>
              <a:solidFill>
                <a:schemeClr val="tx1"/>
              </a:solidFill>
              <a:effectLst/>
              <a:latin typeface="Arial" panose="020B0604020202020204" pitchFamily="34" charset="0"/>
            </a:endParaRPr>
          </a:p>
          <a:p>
            <a:pPr lvl="0" algn="just" eaLnBrk="0" fontAlgn="base" hangingPunct="0">
              <a:spcBef>
                <a:spcPct val="0"/>
              </a:spcBef>
              <a:spcAft>
                <a:spcPct val="0"/>
              </a:spcAft>
              <a:buFontTx/>
              <a:buChar char="•"/>
            </a:pPr>
            <a:r>
              <a:rPr lang="en-US" altLang="en-US" b="1" i="1" dirty="0" err="1">
                <a:latin typeface="Arial Unicode MS"/>
              </a:rPr>
              <a:t>FechaNacimiento</a:t>
            </a:r>
            <a:r>
              <a:rPr lang="en-US" altLang="en-US" dirty="0"/>
              <a:t>: </a:t>
            </a:r>
            <a:r>
              <a:rPr lang="en-US" altLang="en-US" dirty="0" err="1"/>
              <a:t>Fecha</a:t>
            </a:r>
            <a:r>
              <a:rPr lang="en-US" altLang="en-US" dirty="0"/>
              <a:t> (DATE).</a:t>
            </a:r>
            <a:endParaRPr lang="en-US" altLang="en-US" dirty="0">
              <a:latin typeface="Arial" panose="020B0604020202020204" pitchFamily="34" charset="0"/>
            </a:endParaRPr>
          </a:p>
          <a:p>
            <a:pPr lvl="0" algn="just" eaLnBrk="0" fontAlgn="base" hangingPunct="0">
              <a:spcBef>
                <a:spcPct val="0"/>
              </a:spcBef>
              <a:spcAft>
                <a:spcPct val="0"/>
              </a:spcAft>
              <a:buFontTx/>
              <a:buChar char="•"/>
            </a:pPr>
            <a:r>
              <a:rPr lang="en-US" altLang="en-US" b="1" i="1" dirty="0" err="1">
                <a:latin typeface="Arial Unicode MS"/>
              </a:rPr>
              <a:t>HoraEntrada</a:t>
            </a:r>
            <a:r>
              <a:rPr lang="en-US" altLang="en-US" dirty="0"/>
              <a:t>: </a:t>
            </a:r>
            <a:r>
              <a:rPr lang="en-US" altLang="en-US" dirty="0" err="1"/>
              <a:t>Tiempo</a:t>
            </a:r>
            <a:r>
              <a:rPr lang="en-US" altLang="en-US" dirty="0"/>
              <a:t> (TIME).</a:t>
            </a:r>
            <a:endParaRPr lang="en-US" altLang="en-US" dirty="0">
              <a:latin typeface="Arial" panose="020B0604020202020204" pitchFamily="34" charset="0"/>
            </a:endParaRPr>
          </a:p>
          <a:p>
            <a:pPr lvl="0" algn="just" eaLnBrk="0" fontAlgn="base" hangingPunct="0">
              <a:spcBef>
                <a:spcPct val="0"/>
              </a:spcBef>
              <a:spcAft>
                <a:spcPct val="0"/>
              </a:spcAft>
              <a:buFontTx/>
              <a:buChar char="•"/>
            </a:pPr>
            <a:r>
              <a:rPr lang="en-US" altLang="en-US" b="1" i="1" dirty="0" err="1">
                <a:latin typeface="Arial Unicode MS"/>
              </a:rPr>
              <a:t>FechaHoraRegistro</a:t>
            </a:r>
            <a:r>
              <a:rPr lang="en-US" altLang="en-US" dirty="0"/>
              <a:t>: </a:t>
            </a:r>
            <a:r>
              <a:rPr lang="en-US" altLang="en-US" dirty="0" err="1"/>
              <a:t>Fecha</a:t>
            </a:r>
            <a:r>
              <a:rPr lang="en-US" altLang="en-US" dirty="0"/>
              <a:t> y hora (DATETIME</a:t>
            </a:r>
            <a:r>
              <a:rPr lang="en-US" altLang="en-US" dirty="0" smtClean="0"/>
              <a:t>).</a:t>
            </a:r>
          </a:p>
          <a:p>
            <a:pPr lvl="0" algn="just" eaLnBrk="0" fontAlgn="base" hangingPunct="0">
              <a:spcBef>
                <a:spcPct val="0"/>
              </a:spcBef>
              <a:spcAft>
                <a:spcPct val="0"/>
              </a:spcAft>
              <a:buFontTx/>
              <a:buChar char="•"/>
            </a:pPr>
            <a:r>
              <a:rPr lang="en-US" altLang="en-US" b="1" i="1" dirty="0" err="1">
                <a:latin typeface="Arial Unicode MS"/>
              </a:rPr>
              <a:t>Descripcion</a:t>
            </a:r>
            <a:r>
              <a:rPr lang="en-US" altLang="en-US" dirty="0"/>
              <a:t>: </a:t>
            </a:r>
            <a:r>
              <a:rPr lang="en-US" altLang="en-US" dirty="0" err="1"/>
              <a:t>Texto</a:t>
            </a:r>
            <a:r>
              <a:rPr lang="en-US" altLang="en-US" dirty="0"/>
              <a:t> de </a:t>
            </a:r>
            <a:r>
              <a:rPr lang="en-US" altLang="en-US" dirty="0" err="1"/>
              <a:t>longitud</a:t>
            </a:r>
            <a:r>
              <a:rPr lang="en-US" altLang="en-US" dirty="0"/>
              <a:t> variable (TEXT).</a:t>
            </a:r>
            <a:endParaRPr lang="en-US" altLang="en-US" dirty="0">
              <a:latin typeface="Arial" panose="020B0604020202020204" pitchFamily="34" charset="0"/>
            </a:endParaRPr>
          </a:p>
          <a:p>
            <a:pPr lvl="0" algn="just" eaLnBrk="0" fontAlgn="base" hangingPunct="0">
              <a:spcBef>
                <a:spcPct val="0"/>
              </a:spcBef>
              <a:spcAft>
                <a:spcPct val="0"/>
              </a:spcAft>
              <a:buFontTx/>
              <a:buChar char="•"/>
            </a:pPr>
            <a:r>
              <a:rPr lang="en-US" altLang="en-US" b="1" i="1" dirty="0" err="1">
                <a:latin typeface="Arial Unicode MS"/>
              </a:rPr>
              <a:t>Documento</a:t>
            </a:r>
            <a:r>
              <a:rPr lang="en-US" altLang="en-US" dirty="0"/>
              <a:t>: </a:t>
            </a:r>
            <a:r>
              <a:rPr lang="en-US" altLang="en-US" dirty="0" err="1"/>
              <a:t>Datos</a:t>
            </a:r>
            <a:r>
              <a:rPr lang="en-US" altLang="en-US" dirty="0"/>
              <a:t> </a:t>
            </a:r>
            <a:r>
              <a:rPr lang="en-US" altLang="en-US" dirty="0" err="1"/>
              <a:t>binarios</a:t>
            </a:r>
            <a:r>
              <a:rPr lang="en-US" altLang="en-US" dirty="0"/>
              <a:t> de </a:t>
            </a:r>
            <a:r>
              <a:rPr lang="en-US" altLang="en-US" dirty="0" err="1"/>
              <a:t>longitud</a:t>
            </a:r>
            <a:r>
              <a:rPr lang="en-US" altLang="en-US" dirty="0"/>
              <a:t> </a:t>
            </a:r>
            <a:r>
              <a:rPr lang="en-US" altLang="en-US" dirty="0" err="1"/>
              <a:t>fija</a:t>
            </a:r>
            <a:r>
              <a:rPr lang="en-US" altLang="en-US" dirty="0"/>
              <a:t> (BINARY(50)).</a:t>
            </a:r>
            <a:endParaRPr lang="en-US" altLang="en-US" dirty="0">
              <a:latin typeface="Arial" panose="020B0604020202020204" pitchFamily="34" charset="0"/>
            </a:endParaRPr>
          </a:p>
          <a:p>
            <a:pPr lvl="0" eaLnBrk="0" fontAlgn="base" hangingPunct="0">
              <a:spcBef>
                <a:spcPct val="0"/>
              </a:spcBef>
              <a:spcAft>
                <a:spcPct val="0"/>
              </a:spcAft>
            </a:pPr>
            <a:endParaRPr lang="en-US" altLang="en-US" dirty="0">
              <a:latin typeface="Arial" panose="020B0604020202020204" pitchFamily="34" charset="0"/>
            </a:endParaRPr>
          </a:p>
        </p:txBody>
      </p:sp>
      <p:sp>
        <p:nvSpPr>
          <p:cNvPr id="3" name="Rectángulo 2"/>
          <p:cNvSpPr/>
          <p:nvPr/>
        </p:nvSpPr>
        <p:spPr>
          <a:xfrm>
            <a:off x="6347790" y="2475930"/>
            <a:ext cx="5208105" cy="3139321"/>
          </a:xfrm>
          <a:prstGeom prst="rect">
            <a:avLst/>
          </a:prstGeom>
        </p:spPr>
        <p:txBody>
          <a:bodyPr wrap="square">
            <a:spAutoFit/>
          </a:bodyPr>
          <a:lstStyle/>
          <a:p>
            <a:pPr lvl="0" algn="just" eaLnBrk="0" fontAlgn="base" hangingPunct="0">
              <a:spcBef>
                <a:spcPct val="0"/>
              </a:spcBef>
              <a:spcAft>
                <a:spcPct val="0"/>
              </a:spcAft>
              <a:buFontTx/>
              <a:buChar char="•"/>
            </a:pPr>
            <a:r>
              <a:rPr lang="en-US" altLang="en-US" b="1" i="1" dirty="0" err="1" smtClean="0">
                <a:latin typeface="Arial Unicode MS"/>
              </a:rPr>
              <a:t>Foto</a:t>
            </a:r>
            <a:r>
              <a:rPr lang="en-US" altLang="en-US" dirty="0"/>
              <a:t>: </a:t>
            </a:r>
            <a:r>
              <a:rPr lang="en-US" altLang="en-US" dirty="0" err="1"/>
              <a:t>Datos</a:t>
            </a:r>
            <a:r>
              <a:rPr lang="en-US" altLang="en-US" dirty="0"/>
              <a:t> </a:t>
            </a:r>
            <a:r>
              <a:rPr lang="en-US" altLang="en-US" dirty="0" err="1"/>
              <a:t>binarios</a:t>
            </a:r>
            <a:r>
              <a:rPr lang="en-US" altLang="en-US" dirty="0"/>
              <a:t> de </a:t>
            </a:r>
            <a:r>
              <a:rPr lang="en-US" altLang="en-US" dirty="0" err="1"/>
              <a:t>longitud</a:t>
            </a:r>
            <a:r>
              <a:rPr lang="en-US" altLang="en-US" dirty="0"/>
              <a:t> variable (VARBINARY(MAX)).</a:t>
            </a:r>
            <a:endParaRPr lang="en-US" altLang="en-US" dirty="0">
              <a:latin typeface="Arial" panose="020B0604020202020204" pitchFamily="34" charset="0"/>
            </a:endParaRPr>
          </a:p>
          <a:p>
            <a:pPr lvl="0" algn="just" eaLnBrk="0" fontAlgn="base" hangingPunct="0">
              <a:spcBef>
                <a:spcPct val="0"/>
              </a:spcBef>
              <a:spcAft>
                <a:spcPct val="0"/>
              </a:spcAft>
              <a:buFontTx/>
              <a:buChar char="•"/>
            </a:pPr>
            <a:r>
              <a:rPr lang="en-US" altLang="en-US" b="1" i="1" dirty="0">
                <a:latin typeface="Arial Unicode MS"/>
              </a:rPr>
              <a:t>Estado</a:t>
            </a:r>
            <a:r>
              <a:rPr lang="en-US" altLang="en-US" dirty="0"/>
              <a:t>: Cadena de </a:t>
            </a:r>
            <a:r>
              <a:rPr lang="en-US" altLang="en-US" dirty="0" err="1"/>
              <a:t>caracteres</a:t>
            </a:r>
            <a:r>
              <a:rPr lang="en-US" altLang="en-US" dirty="0"/>
              <a:t> de </a:t>
            </a:r>
            <a:r>
              <a:rPr lang="en-US" altLang="en-US" dirty="0" err="1"/>
              <a:t>longitud</a:t>
            </a:r>
            <a:r>
              <a:rPr lang="en-US" altLang="en-US" dirty="0"/>
              <a:t> </a:t>
            </a:r>
            <a:r>
              <a:rPr lang="en-US" altLang="en-US" dirty="0" err="1"/>
              <a:t>fija</a:t>
            </a:r>
            <a:r>
              <a:rPr lang="en-US" altLang="en-US" dirty="0"/>
              <a:t> (CHAR(1)).</a:t>
            </a:r>
            <a:endParaRPr lang="en-US" altLang="en-US" dirty="0">
              <a:latin typeface="Arial" panose="020B0604020202020204" pitchFamily="34" charset="0"/>
            </a:endParaRPr>
          </a:p>
          <a:p>
            <a:pPr lvl="0" algn="just" eaLnBrk="0" fontAlgn="base" hangingPunct="0">
              <a:spcBef>
                <a:spcPct val="0"/>
              </a:spcBef>
              <a:spcAft>
                <a:spcPct val="0"/>
              </a:spcAft>
              <a:buFontTx/>
              <a:buChar char="•"/>
            </a:pPr>
            <a:r>
              <a:rPr lang="en-US" altLang="en-US" b="1" i="1" dirty="0" err="1">
                <a:latin typeface="Arial Unicode MS"/>
              </a:rPr>
              <a:t>Comentarios</a:t>
            </a:r>
            <a:r>
              <a:rPr lang="en-US" altLang="en-US" dirty="0"/>
              <a:t>: </a:t>
            </a:r>
            <a:r>
              <a:rPr lang="en-US" altLang="en-US" dirty="0" err="1"/>
              <a:t>Texto</a:t>
            </a:r>
            <a:r>
              <a:rPr lang="en-US" altLang="en-US" dirty="0"/>
              <a:t> Unicode de </a:t>
            </a:r>
            <a:r>
              <a:rPr lang="en-US" altLang="en-US" dirty="0" err="1"/>
              <a:t>longitud</a:t>
            </a:r>
            <a:r>
              <a:rPr lang="en-US" altLang="en-US" dirty="0"/>
              <a:t> variable (NTEXT).</a:t>
            </a:r>
            <a:endParaRPr lang="en-US" altLang="en-US" dirty="0">
              <a:latin typeface="Arial" panose="020B0604020202020204" pitchFamily="34" charset="0"/>
            </a:endParaRPr>
          </a:p>
          <a:p>
            <a:pPr lvl="0" algn="just" eaLnBrk="0" fontAlgn="base" hangingPunct="0">
              <a:spcBef>
                <a:spcPct val="0"/>
              </a:spcBef>
              <a:spcAft>
                <a:spcPct val="0"/>
              </a:spcAft>
              <a:buFontTx/>
              <a:buChar char="•"/>
            </a:pPr>
            <a:r>
              <a:rPr lang="en-US" altLang="en-US" b="1" i="1" dirty="0" err="1">
                <a:latin typeface="Arial Unicode MS"/>
              </a:rPr>
              <a:t>Archivo</a:t>
            </a:r>
            <a:r>
              <a:rPr lang="en-US" altLang="en-US" dirty="0"/>
              <a:t>: </a:t>
            </a:r>
            <a:r>
              <a:rPr lang="en-US" altLang="en-US" dirty="0" err="1"/>
              <a:t>Datos</a:t>
            </a:r>
            <a:r>
              <a:rPr lang="en-US" altLang="en-US" dirty="0"/>
              <a:t> XML (XML).</a:t>
            </a:r>
            <a:endParaRPr lang="en-US" altLang="en-US" dirty="0">
              <a:latin typeface="Arial" panose="020B0604020202020204" pitchFamily="34" charset="0"/>
            </a:endParaRPr>
          </a:p>
          <a:p>
            <a:pPr lvl="0" algn="just" eaLnBrk="0" fontAlgn="base" hangingPunct="0">
              <a:spcBef>
                <a:spcPct val="0"/>
              </a:spcBef>
              <a:spcAft>
                <a:spcPct val="0"/>
              </a:spcAft>
              <a:buFontTx/>
              <a:buChar char="•"/>
            </a:pPr>
            <a:r>
              <a:rPr lang="en-US" altLang="en-US" b="1" i="1" dirty="0" err="1">
                <a:latin typeface="Arial Unicode MS"/>
              </a:rPr>
              <a:t>Precio</a:t>
            </a:r>
            <a:r>
              <a:rPr lang="en-US" altLang="en-US" dirty="0"/>
              <a:t>: </a:t>
            </a:r>
            <a:r>
              <a:rPr lang="en-US" altLang="en-US" dirty="0" err="1"/>
              <a:t>Tipo</a:t>
            </a:r>
            <a:r>
              <a:rPr lang="en-US" altLang="en-US" dirty="0"/>
              <a:t> de </a:t>
            </a:r>
            <a:r>
              <a:rPr lang="en-US" altLang="en-US" dirty="0" err="1"/>
              <a:t>datos</a:t>
            </a:r>
            <a:r>
              <a:rPr lang="en-US" altLang="en-US" dirty="0"/>
              <a:t> </a:t>
            </a:r>
            <a:r>
              <a:rPr lang="en-US" altLang="en-US" dirty="0" err="1"/>
              <a:t>monetarios</a:t>
            </a:r>
            <a:r>
              <a:rPr lang="en-US" altLang="en-US" dirty="0"/>
              <a:t> (MONEY).</a:t>
            </a:r>
            <a:endParaRPr lang="en-US" altLang="en-US" dirty="0">
              <a:latin typeface="Arial" panose="020B0604020202020204" pitchFamily="34" charset="0"/>
            </a:endParaRPr>
          </a:p>
          <a:p>
            <a:pPr lvl="0" algn="just" eaLnBrk="0" fontAlgn="base" hangingPunct="0">
              <a:spcBef>
                <a:spcPct val="0"/>
              </a:spcBef>
              <a:spcAft>
                <a:spcPct val="0"/>
              </a:spcAft>
              <a:buFontTx/>
              <a:buChar char="•"/>
            </a:pPr>
            <a:r>
              <a:rPr lang="en-US" altLang="en-US" b="1" i="1" dirty="0" err="1">
                <a:latin typeface="Arial Unicode MS"/>
              </a:rPr>
              <a:t>Booleano</a:t>
            </a:r>
            <a:r>
              <a:rPr lang="en-US" altLang="en-US" dirty="0"/>
              <a:t>: </a:t>
            </a:r>
            <a:r>
              <a:rPr lang="en-US" altLang="en-US" dirty="0" err="1"/>
              <a:t>Booleano</a:t>
            </a:r>
            <a:r>
              <a:rPr lang="en-US" altLang="en-US" dirty="0"/>
              <a:t> (BIT).</a:t>
            </a:r>
            <a:endParaRPr lang="en-US" altLang="en-US" dirty="0">
              <a:latin typeface="Arial" panose="020B0604020202020204" pitchFamily="34" charset="0"/>
            </a:endParaRPr>
          </a:p>
          <a:p>
            <a:pPr lvl="0" algn="just" eaLnBrk="0" fontAlgn="base" hangingPunct="0">
              <a:spcBef>
                <a:spcPct val="0"/>
              </a:spcBef>
              <a:spcAft>
                <a:spcPct val="0"/>
              </a:spcAft>
              <a:buFontTx/>
              <a:buChar char="•"/>
            </a:pPr>
            <a:r>
              <a:rPr lang="en-US" altLang="en-US" b="1" i="1" dirty="0" err="1">
                <a:latin typeface="Arial Unicode MS"/>
              </a:rPr>
              <a:t>UniqueIdentifier</a:t>
            </a:r>
            <a:r>
              <a:rPr lang="en-US" altLang="en-US" dirty="0"/>
              <a:t>: </a:t>
            </a:r>
            <a:r>
              <a:rPr lang="en-US" altLang="en-US" dirty="0" err="1"/>
              <a:t>Identificador</a:t>
            </a:r>
            <a:r>
              <a:rPr lang="en-US" altLang="en-US" dirty="0"/>
              <a:t> </a:t>
            </a:r>
            <a:r>
              <a:rPr lang="en-US" altLang="en-US" dirty="0" err="1"/>
              <a:t>único</a:t>
            </a:r>
            <a:r>
              <a:rPr lang="en-US" altLang="en-US" dirty="0"/>
              <a:t> (UNIQUEIDENTIFIER</a:t>
            </a:r>
            <a:r>
              <a:rPr lang="en-US" altLang="en-US" dirty="0" smtClean="0"/>
              <a:t>).</a:t>
            </a:r>
            <a:endParaRPr lang="en-US" altLang="en-US" dirty="0">
              <a:latin typeface="Arial" panose="020B0604020202020204" pitchFamily="34" charset="0"/>
            </a:endParaRPr>
          </a:p>
        </p:txBody>
      </p:sp>
    </p:spTree>
    <p:extLst>
      <p:ext uri="{BB962C8B-B14F-4D97-AF65-F5344CB8AC3E}">
        <p14:creationId xmlns:p14="http://schemas.microsoft.com/office/powerpoint/2010/main" val="333133562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MX" b="1" dirty="0"/>
              <a:t>Lenguaje de Definición de Datos (DDL</a:t>
            </a:r>
            <a:r>
              <a:rPr lang="es-MX" b="1" dirty="0" smtClean="0"/>
              <a:t>)</a:t>
            </a:r>
            <a:endParaRPr lang="en-US" dirty="0"/>
          </a:p>
        </p:txBody>
      </p:sp>
      <p:sp>
        <p:nvSpPr>
          <p:cNvPr id="3" name="Marcador de contenido 2"/>
          <p:cNvSpPr>
            <a:spLocks noGrp="1"/>
          </p:cNvSpPr>
          <p:nvPr>
            <p:ph idx="1"/>
          </p:nvPr>
        </p:nvSpPr>
        <p:spPr>
          <a:xfrm>
            <a:off x="838200" y="1690688"/>
            <a:ext cx="10276253" cy="4351338"/>
          </a:xfrm>
        </p:spPr>
        <p:txBody>
          <a:bodyPr>
            <a:normAutofit/>
          </a:bodyPr>
          <a:lstStyle/>
          <a:p>
            <a:r>
              <a:rPr lang="es-MX" dirty="0"/>
              <a:t>El Lenguaje de Definición de Datos, o DDL, está compuesto por los comandos responsables de crear, editar y borrar tablas SQL. Estos comandos son </a:t>
            </a:r>
            <a:r>
              <a:rPr lang="es-MX" b="1" dirty="0"/>
              <a:t>CREATE TABLE, ALTER TABLE, y DROP TABLE</a:t>
            </a:r>
            <a:r>
              <a:rPr lang="es-MX" dirty="0" smtClean="0"/>
              <a:t>.</a:t>
            </a:r>
          </a:p>
          <a:p>
            <a:pPr marL="514350" indent="-514350">
              <a:buAutoNum type="arabicPeriod"/>
            </a:pPr>
            <a:r>
              <a:rPr lang="es-PE" dirty="0" smtClean="0"/>
              <a:t>Primeramente creamos una base de datos -&gt; </a:t>
            </a:r>
            <a:r>
              <a:rPr lang="es-PE" b="1" dirty="0" err="1" smtClean="0"/>
              <a:t>Introduccion</a:t>
            </a:r>
            <a:endParaRPr lang="es-PE" dirty="0" smtClean="0"/>
          </a:p>
          <a:p>
            <a:pPr marL="0" indent="0">
              <a:buNone/>
            </a:pPr>
            <a:r>
              <a:rPr lang="es-PE" dirty="0" smtClean="0"/>
              <a:t>2. Comando </a:t>
            </a:r>
            <a:r>
              <a:rPr lang="es-PE" b="1" dirty="0" err="1" smtClean="0"/>
              <a:t>Create</a:t>
            </a:r>
            <a:r>
              <a:rPr lang="es-PE" b="1" dirty="0" smtClean="0"/>
              <a:t>:</a:t>
            </a:r>
          </a:p>
          <a:p>
            <a:pPr marL="0" indent="0">
              <a:buNone/>
            </a:pPr>
            <a:endParaRPr lang="es-PE" b="1" dirty="0" smtClean="0"/>
          </a:p>
          <a:p>
            <a:pPr marL="0" lvl="0" indent="0" eaLnBrk="0" fontAlgn="base" hangingPunct="0">
              <a:lnSpc>
                <a:spcPct val="100000"/>
              </a:lnSpc>
              <a:spcBef>
                <a:spcPct val="0"/>
              </a:spcBef>
              <a:spcAft>
                <a:spcPct val="0"/>
              </a:spcAft>
              <a:buNone/>
            </a:pPr>
            <a:r>
              <a:rPr lang="en-US" altLang="en-US" sz="2000" dirty="0">
                <a:solidFill>
                  <a:srgbClr val="4424A9"/>
                </a:solidFill>
                <a:latin typeface="fira code"/>
              </a:rPr>
              <a:t>CREATE</a:t>
            </a:r>
            <a:r>
              <a:rPr lang="en-US" altLang="en-US" sz="2000" dirty="0">
                <a:solidFill>
                  <a:srgbClr val="000000"/>
                </a:solidFill>
                <a:latin typeface="fira code"/>
              </a:rPr>
              <a:t> </a:t>
            </a:r>
            <a:r>
              <a:rPr lang="en-US" altLang="en-US" sz="2000" dirty="0">
                <a:solidFill>
                  <a:srgbClr val="4424A9"/>
                </a:solidFill>
                <a:latin typeface="fira code"/>
              </a:rPr>
              <a:t>TABLE</a:t>
            </a:r>
            <a:r>
              <a:rPr lang="en-US" altLang="en-US" sz="2000" dirty="0">
                <a:solidFill>
                  <a:srgbClr val="000000"/>
                </a:solidFill>
                <a:latin typeface="fira code"/>
              </a:rPr>
              <a:t> Accounts (</a:t>
            </a:r>
            <a:endParaRPr lang="en-US" altLang="en-US" sz="2000" dirty="0"/>
          </a:p>
          <a:p>
            <a:pPr marL="0" lvl="0" indent="0" eaLnBrk="0" fontAlgn="base" hangingPunct="0">
              <a:lnSpc>
                <a:spcPct val="100000"/>
              </a:lnSpc>
              <a:spcBef>
                <a:spcPct val="0"/>
              </a:spcBef>
              <a:spcAft>
                <a:spcPct val="0"/>
              </a:spcAft>
              <a:buNone/>
            </a:pPr>
            <a:r>
              <a:rPr lang="en-US" altLang="en-US" sz="2000" dirty="0">
                <a:solidFill>
                  <a:srgbClr val="4424A9"/>
                </a:solidFill>
                <a:latin typeface="fira code"/>
              </a:rPr>
              <a:t>    </a:t>
            </a:r>
            <a:r>
              <a:rPr lang="en-US" altLang="en-US" sz="2000" dirty="0">
                <a:solidFill>
                  <a:srgbClr val="000000"/>
                </a:solidFill>
                <a:latin typeface="fira code"/>
              </a:rPr>
              <a:t>ID </a:t>
            </a:r>
            <a:r>
              <a:rPr lang="en-US" altLang="en-US" sz="2000" dirty="0">
                <a:solidFill>
                  <a:srgbClr val="4424A9"/>
                </a:solidFill>
                <a:latin typeface="fira code"/>
              </a:rPr>
              <a:t>INT</a:t>
            </a:r>
            <a:r>
              <a:rPr lang="en-US" altLang="en-US" sz="2000" dirty="0">
                <a:solidFill>
                  <a:srgbClr val="000000"/>
                </a:solidFill>
                <a:latin typeface="fira code"/>
              </a:rPr>
              <a:t>,</a:t>
            </a:r>
            <a:endParaRPr lang="en-US" altLang="en-US" sz="2000" dirty="0"/>
          </a:p>
          <a:p>
            <a:pPr marL="0" lvl="0" indent="0" eaLnBrk="0" fontAlgn="base" hangingPunct="0">
              <a:lnSpc>
                <a:spcPct val="100000"/>
              </a:lnSpc>
              <a:spcBef>
                <a:spcPct val="0"/>
              </a:spcBef>
              <a:spcAft>
                <a:spcPct val="0"/>
              </a:spcAft>
              <a:buNone/>
            </a:pPr>
            <a:r>
              <a:rPr lang="en-US" altLang="en-US" sz="2000" dirty="0">
                <a:solidFill>
                  <a:srgbClr val="4424A9"/>
                </a:solidFill>
                <a:latin typeface="fira code"/>
              </a:rPr>
              <a:t>    Name</a:t>
            </a:r>
            <a:r>
              <a:rPr lang="en-US" altLang="en-US" sz="2000" dirty="0">
                <a:solidFill>
                  <a:srgbClr val="000000"/>
                </a:solidFill>
                <a:latin typeface="fira code"/>
              </a:rPr>
              <a:t> </a:t>
            </a:r>
            <a:r>
              <a:rPr lang="en-US" altLang="en-US" sz="2000" dirty="0">
                <a:solidFill>
                  <a:srgbClr val="4424A9"/>
                </a:solidFill>
                <a:latin typeface="fira code"/>
              </a:rPr>
              <a:t>VARCHAR</a:t>
            </a:r>
            <a:r>
              <a:rPr lang="en-US" altLang="en-US" sz="2000" dirty="0">
                <a:solidFill>
                  <a:srgbClr val="000000"/>
                </a:solidFill>
                <a:latin typeface="fira code"/>
              </a:rPr>
              <a:t>(255),</a:t>
            </a:r>
            <a:endParaRPr lang="en-US" altLang="en-US" sz="2000" dirty="0"/>
          </a:p>
          <a:p>
            <a:pPr marL="0" lvl="0" indent="0" eaLnBrk="0" fontAlgn="base" hangingPunct="0">
              <a:lnSpc>
                <a:spcPct val="100000"/>
              </a:lnSpc>
              <a:spcBef>
                <a:spcPct val="0"/>
              </a:spcBef>
              <a:spcAft>
                <a:spcPct val="0"/>
              </a:spcAft>
              <a:buNone/>
            </a:pPr>
            <a:r>
              <a:rPr lang="en-US" altLang="en-US" sz="2000" dirty="0">
                <a:solidFill>
                  <a:srgbClr val="4424A9"/>
                </a:solidFill>
                <a:latin typeface="fira code"/>
              </a:rPr>
              <a:t>    </a:t>
            </a:r>
            <a:r>
              <a:rPr lang="en-US" altLang="en-US" sz="2000" dirty="0">
                <a:solidFill>
                  <a:srgbClr val="000000"/>
                </a:solidFill>
                <a:latin typeface="fira code"/>
              </a:rPr>
              <a:t>Balance </a:t>
            </a:r>
            <a:r>
              <a:rPr lang="en-US" altLang="en-US" sz="2000" dirty="0">
                <a:solidFill>
                  <a:srgbClr val="4424A9"/>
                </a:solidFill>
                <a:latin typeface="fira code"/>
              </a:rPr>
              <a:t>INT</a:t>
            </a:r>
            <a:endParaRPr lang="en-US" altLang="en-US" sz="2000" dirty="0"/>
          </a:p>
          <a:p>
            <a:pPr marL="0" lvl="0" indent="0" eaLnBrk="0" fontAlgn="base" hangingPunct="0">
              <a:lnSpc>
                <a:spcPct val="100000"/>
              </a:lnSpc>
              <a:spcBef>
                <a:spcPct val="0"/>
              </a:spcBef>
              <a:spcAft>
                <a:spcPct val="0"/>
              </a:spcAft>
              <a:buNone/>
            </a:pPr>
            <a:r>
              <a:rPr lang="en-US" altLang="en-US" sz="2000" dirty="0">
                <a:solidFill>
                  <a:srgbClr val="000000"/>
                </a:solidFill>
                <a:latin typeface="fira code"/>
              </a:rPr>
              <a:t>)</a:t>
            </a:r>
            <a:endParaRPr lang="en-US" altLang="en-US" sz="2000" dirty="0">
              <a:latin typeface="Arial" panose="020B0604020202020204" pitchFamily="34" charset="0"/>
            </a:endParaRPr>
          </a:p>
          <a:p>
            <a:pPr marL="0" indent="0">
              <a:buNone/>
            </a:pPr>
            <a:endParaRPr lang="en-US" dirty="0"/>
          </a:p>
        </p:txBody>
      </p:sp>
    </p:spTree>
    <p:extLst>
      <p:ext uri="{BB962C8B-B14F-4D97-AF65-F5344CB8AC3E}">
        <p14:creationId xmlns:p14="http://schemas.microsoft.com/office/powerpoint/2010/main" val="9359627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758687" y="1030216"/>
            <a:ext cx="10515600" cy="5198306"/>
          </a:xfrm>
        </p:spPr>
        <p:txBody>
          <a:bodyPr>
            <a:normAutofit/>
          </a:bodyPr>
          <a:lstStyle/>
          <a:p>
            <a:r>
              <a:rPr lang="es-MX" dirty="0"/>
              <a:t>¿Y si quisiéramos editar la tabla para que tuviera una columna que almacenara los números de teléfono de los titulares de las cuentas? Tendríamos que utilizar el comando </a:t>
            </a:r>
            <a:r>
              <a:rPr lang="es-MX" b="1" dirty="0"/>
              <a:t>ALTER TABLE</a:t>
            </a:r>
            <a:r>
              <a:rPr lang="es-MX" dirty="0" smtClean="0"/>
              <a:t>:</a:t>
            </a:r>
          </a:p>
          <a:p>
            <a:pPr marL="457200" lvl="1" indent="0" eaLnBrk="0" fontAlgn="base" hangingPunct="0">
              <a:lnSpc>
                <a:spcPct val="100000"/>
              </a:lnSpc>
              <a:spcBef>
                <a:spcPct val="0"/>
              </a:spcBef>
              <a:spcAft>
                <a:spcPct val="0"/>
              </a:spcAft>
              <a:buNone/>
            </a:pPr>
            <a:endParaRPr lang="en-US" altLang="en-US" dirty="0" smtClean="0">
              <a:solidFill>
                <a:srgbClr val="4424A9"/>
              </a:solidFill>
              <a:latin typeface="fira code"/>
            </a:endParaRPr>
          </a:p>
          <a:p>
            <a:pPr marL="457200" lvl="1" indent="0" eaLnBrk="0" fontAlgn="base" hangingPunct="0">
              <a:lnSpc>
                <a:spcPct val="100000"/>
              </a:lnSpc>
              <a:spcBef>
                <a:spcPct val="0"/>
              </a:spcBef>
              <a:spcAft>
                <a:spcPct val="0"/>
              </a:spcAft>
              <a:buNone/>
            </a:pPr>
            <a:r>
              <a:rPr lang="en-US" altLang="en-US" dirty="0" smtClean="0">
                <a:solidFill>
                  <a:srgbClr val="4424A9"/>
                </a:solidFill>
                <a:latin typeface="fira code"/>
              </a:rPr>
              <a:t>ALTER</a:t>
            </a:r>
            <a:r>
              <a:rPr lang="en-US" altLang="en-US" sz="3200" dirty="0">
                <a:solidFill>
                  <a:srgbClr val="000000"/>
                </a:solidFill>
                <a:latin typeface="fira code"/>
              </a:rPr>
              <a:t> </a:t>
            </a:r>
            <a:r>
              <a:rPr lang="en-US" altLang="en-US" dirty="0">
                <a:solidFill>
                  <a:srgbClr val="4424A9"/>
                </a:solidFill>
                <a:latin typeface="fira code"/>
              </a:rPr>
              <a:t>TABLE</a:t>
            </a:r>
            <a:r>
              <a:rPr lang="en-US" altLang="en-US" sz="3200" dirty="0">
                <a:solidFill>
                  <a:srgbClr val="000000"/>
                </a:solidFill>
                <a:latin typeface="fira code"/>
              </a:rPr>
              <a:t> </a:t>
            </a:r>
            <a:r>
              <a:rPr lang="en-US" altLang="en-US" dirty="0">
                <a:solidFill>
                  <a:srgbClr val="000000"/>
                </a:solidFill>
                <a:latin typeface="fira code"/>
              </a:rPr>
              <a:t>Accounts</a:t>
            </a:r>
            <a:endParaRPr lang="en-US" altLang="en-US" sz="3200" dirty="0"/>
          </a:p>
          <a:p>
            <a:pPr marL="457200" lvl="1" indent="0" eaLnBrk="0" fontAlgn="base" hangingPunct="0">
              <a:lnSpc>
                <a:spcPct val="100000"/>
              </a:lnSpc>
              <a:spcBef>
                <a:spcPct val="0"/>
              </a:spcBef>
              <a:spcAft>
                <a:spcPct val="0"/>
              </a:spcAft>
              <a:buNone/>
            </a:pPr>
            <a:r>
              <a:rPr lang="en-US" altLang="en-US" dirty="0">
                <a:solidFill>
                  <a:srgbClr val="4424A9"/>
                </a:solidFill>
                <a:latin typeface="fira code"/>
              </a:rPr>
              <a:t>ADD</a:t>
            </a:r>
            <a:r>
              <a:rPr lang="en-US" altLang="en-US" sz="3200" dirty="0">
                <a:solidFill>
                  <a:srgbClr val="000000"/>
                </a:solidFill>
                <a:latin typeface="fira code"/>
              </a:rPr>
              <a:t> </a:t>
            </a:r>
            <a:r>
              <a:rPr lang="en-US" altLang="en-US" dirty="0">
                <a:solidFill>
                  <a:srgbClr val="000000"/>
                </a:solidFill>
                <a:latin typeface="fira code"/>
              </a:rPr>
              <a:t>Phone </a:t>
            </a:r>
            <a:r>
              <a:rPr lang="en-US" altLang="en-US" dirty="0">
                <a:solidFill>
                  <a:srgbClr val="4424A9"/>
                </a:solidFill>
                <a:latin typeface="fira code"/>
              </a:rPr>
              <a:t>VARCHAR</a:t>
            </a:r>
            <a:r>
              <a:rPr lang="en-US" altLang="en-US" dirty="0">
                <a:solidFill>
                  <a:srgbClr val="000000"/>
                </a:solidFill>
                <a:latin typeface="fira code"/>
              </a:rPr>
              <a:t>(255</a:t>
            </a:r>
            <a:r>
              <a:rPr lang="en-US" altLang="en-US" dirty="0" smtClean="0">
                <a:solidFill>
                  <a:srgbClr val="000000"/>
                </a:solidFill>
                <a:latin typeface="fira code"/>
              </a:rPr>
              <a:t>)</a:t>
            </a:r>
            <a:endParaRPr lang="en-US" altLang="en-US" sz="5000" dirty="0">
              <a:latin typeface="Arial" panose="020B0604020202020204" pitchFamily="34" charset="0"/>
            </a:endParaRPr>
          </a:p>
          <a:p>
            <a:pPr marL="457200" lvl="1" indent="0" eaLnBrk="0" fontAlgn="base" hangingPunct="0">
              <a:lnSpc>
                <a:spcPct val="100000"/>
              </a:lnSpc>
              <a:spcBef>
                <a:spcPct val="0"/>
              </a:spcBef>
              <a:spcAft>
                <a:spcPct val="0"/>
              </a:spcAft>
              <a:buNone/>
            </a:pPr>
            <a:endParaRPr lang="es-MX" dirty="0" smtClean="0"/>
          </a:p>
          <a:p>
            <a:pPr marL="457200" lvl="1" indent="0" eaLnBrk="0" fontAlgn="base" hangingPunct="0">
              <a:lnSpc>
                <a:spcPct val="100000"/>
              </a:lnSpc>
              <a:spcBef>
                <a:spcPct val="0"/>
              </a:spcBef>
              <a:spcAft>
                <a:spcPct val="0"/>
              </a:spcAft>
              <a:buNone/>
            </a:pPr>
            <a:endParaRPr lang="en-US" altLang="en-US" dirty="0" smtClean="0">
              <a:solidFill>
                <a:srgbClr val="2D2D2D"/>
              </a:solidFill>
              <a:latin typeface="oxygen"/>
            </a:endParaRPr>
          </a:p>
          <a:p>
            <a:pPr marL="457200" lvl="1" indent="0" eaLnBrk="0" fontAlgn="base" hangingPunct="0">
              <a:lnSpc>
                <a:spcPct val="100000"/>
              </a:lnSpc>
              <a:spcBef>
                <a:spcPct val="0"/>
              </a:spcBef>
              <a:spcAft>
                <a:spcPct val="0"/>
              </a:spcAft>
              <a:buNone/>
            </a:pPr>
            <a:r>
              <a:rPr lang="en-US" altLang="en-US" dirty="0" smtClean="0">
                <a:solidFill>
                  <a:srgbClr val="2D2D2D"/>
                </a:solidFill>
                <a:latin typeface="oxygen"/>
              </a:rPr>
              <a:t>Por </a:t>
            </a:r>
            <a:r>
              <a:rPr lang="en-US" altLang="en-US" dirty="0" err="1">
                <a:solidFill>
                  <a:srgbClr val="2D2D2D"/>
                </a:solidFill>
                <a:latin typeface="oxygen"/>
              </a:rPr>
              <a:t>último</a:t>
            </a:r>
            <a:r>
              <a:rPr lang="en-US" altLang="en-US" dirty="0">
                <a:solidFill>
                  <a:srgbClr val="2D2D2D"/>
                </a:solidFill>
                <a:latin typeface="oxygen"/>
              </a:rPr>
              <a:t>, </a:t>
            </a:r>
            <a:r>
              <a:rPr lang="en-US" altLang="en-US" dirty="0" err="1">
                <a:solidFill>
                  <a:srgbClr val="2D2D2D"/>
                </a:solidFill>
                <a:latin typeface="oxygen"/>
              </a:rPr>
              <a:t>si</a:t>
            </a:r>
            <a:r>
              <a:rPr lang="en-US" altLang="en-US" dirty="0">
                <a:solidFill>
                  <a:srgbClr val="2D2D2D"/>
                </a:solidFill>
                <a:latin typeface="oxygen"/>
              </a:rPr>
              <a:t> </a:t>
            </a:r>
            <a:r>
              <a:rPr lang="en-US" altLang="en-US" dirty="0" err="1">
                <a:solidFill>
                  <a:srgbClr val="2D2D2D"/>
                </a:solidFill>
                <a:latin typeface="oxygen"/>
              </a:rPr>
              <a:t>queremos</a:t>
            </a:r>
            <a:r>
              <a:rPr lang="en-US" altLang="en-US" dirty="0">
                <a:solidFill>
                  <a:srgbClr val="2D2D2D"/>
                </a:solidFill>
                <a:latin typeface="oxygen"/>
              </a:rPr>
              <a:t> </a:t>
            </a:r>
            <a:r>
              <a:rPr lang="en-US" altLang="en-US" dirty="0" err="1">
                <a:solidFill>
                  <a:srgbClr val="2D2D2D"/>
                </a:solidFill>
                <a:latin typeface="oxygen"/>
              </a:rPr>
              <a:t>eliminar</a:t>
            </a:r>
            <a:r>
              <a:rPr lang="en-US" altLang="en-US" dirty="0">
                <a:solidFill>
                  <a:srgbClr val="2D2D2D"/>
                </a:solidFill>
                <a:latin typeface="oxygen"/>
              </a:rPr>
              <a:t> la </a:t>
            </a:r>
            <a:r>
              <a:rPr lang="en-US" altLang="en-US" dirty="0" err="1">
                <a:solidFill>
                  <a:srgbClr val="2D2D2D"/>
                </a:solidFill>
                <a:latin typeface="oxygen"/>
              </a:rPr>
              <a:t>tabla</a:t>
            </a:r>
            <a:r>
              <a:rPr lang="en-US" altLang="en-US" dirty="0">
                <a:solidFill>
                  <a:srgbClr val="2D2D2D"/>
                </a:solidFill>
                <a:latin typeface="oxygen"/>
              </a:rPr>
              <a:t> </a:t>
            </a:r>
            <a:r>
              <a:rPr lang="en-US" altLang="en-US" b="1" dirty="0">
                <a:solidFill>
                  <a:srgbClr val="4424A9"/>
                </a:solidFill>
                <a:latin typeface="fira code"/>
              </a:rPr>
              <a:t>Accounts</a:t>
            </a:r>
            <a:r>
              <a:rPr lang="en-US" altLang="en-US" dirty="0">
                <a:solidFill>
                  <a:srgbClr val="2D2D2D"/>
                </a:solidFill>
                <a:latin typeface="oxygen"/>
              </a:rPr>
              <a:t> </a:t>
            </a:r>
            <a:r>
              <a:rPr lang="en-US" altLang="en-US" dirty="0" err="1">
                <a:solidFill>
                  <a:srgbClr val="2D2D2D"/>
                </a:solidFill>
                <a:latin typeface="oxygen"/>
              </a:rPr>
              <a:t>tabla</a:t>
            </a:r>
            <a:r>
              <a:rPr lang="en-US" altLang="en-US" dirty="0">
                <a:solidFill>
                  <a:srgbClr val="2D2D2D"/>
                </a:solidFill>
                <a:latin typeface="oxygen"/>
              </a:rPr>
              <a:t>, </a:t>
            </a:r>
            <a:r>
              <a:rPr lang="en-US" altLang="en-US" dirty="0" err="1">
                <a:solidFill>
                  <a:srgbClr val="2D2D2D"/>
                </a:solidFill>
                <a:latin typeface="oxygen"/>
              </a:rPr>
              <a:t>utilizaríamos</a:t>
            </a:r>
            <a:r>
              <a:rPr lang="en-US" altLang="en-US" dirty="0">
                <a:solidFill>
                  <a:srgbClr val="2D2D2D"/>
                </a:solidFill>
                <a:latin typeface="oxygen"/>
              </a:rPr>
              <a:t> el </a:t>
            </a:r>
            <a:r>
              <a:rPr lang="en-US" altLang="en-US" dirty="0" err="1">
                <a:solidFill>
                  <a:srgbClr val="2D2D2D"/>
                </a:solidFill>
                <a:latin typeface="oxygen"/>
              </a:rPr>
              <a:t>comando</a:t>
            </a:r>
            <a:r>
              <a:rPr lang="en-US" altLang="en-US" sz="1800" dirty="0"/>
              <a:t> </a:t>
            </a:r>
            <a:endParaRPr lang="en-US" altLang="en-US" sz="3200" dirty="0">
              <a:latin typeface="Arial" panose="020B0604020202020204" pitchFamily="34" charset="0"/>
            </a:endParaRPr>
          </a:p>
          <a:p>
            <a:pPr marL="457200" lvl="1" indent="0" eaLnBrk="0" fontAlgn="base" hangingPunct="0">
              <a:lnSpc>
                <a:spcPct val="100000"/>
              </a:lnSpc>
              <a:spcBef>
                <a:spcPct val="0"/>
              </a:spcBef>
              <a:spcAft>
                <a:spcPct val="0"/>
              </a:spcAft>
              <a:buNone/>
            </a:pPr>
            <a:endParaRPr lang="es-MX" dirty="0"/>
          </a:p>
          <a:p>
            <a:pPr marL="457200" lvl="1" indent="0" eaLnBrk="0" fontAlgn="base" hangingPunct="0">
              <a:lnSpc>
                <a:spcPct val="100000"/>
              </a:lnSpc>
              <a:spcBef>
                <a:spcPct val="0"/>
              </a:spcBef>
              <a:spcAft>
                <a:spcPct val="0"/>
              </a:spcAft>
              <a:buNone/>
            </a:pPr>
            <a:r>
              <a:rPr lang="en-US" altLang="en-US" dirty="0">
                <a:solidFill>
                  <a:srgbClr val="4424A9"/>
                </a:solidFill>
                <a:latin typeface="fira code"/>
              </a:rPr>
              <a:t>DROP</a:t>
            </a:r>
            <a:r>
              <a:rPr lang="en-US" altLang="en-US" sz="3200" dirty="0">
                <a:solidFill>
                  <a:srgbClr val="000000"/>
                </a:solidFill>
                <a:latin typeface="fira code"/>
              </a:rPr>
              <a:t> </a:t>
            </a:r>
            <a:r>
              <a:rPr lang="en-US" altLang="en-US" dirty="0">
                <a:solidFill>
                  <a:srgbClr val="4424A9"/>
                </a:solidFill>
                <a:latin typeface="fira code"/>
              </a:rPr>
              <a:t>TABLE</a:t>
            </a:r>
            <a:r>
              <a:rPr lang="en-US" altLang="en-US" sz="3200" dirty="0">
                <a:solidFill>
                  <a:srgbClr val="000000"/>
                </a:solidFill>
                <a:latin typeface="fira code"/>
              </a:rPr>
              <a:t> </a:t>
            </a:r>
            <a:r>
              <a:rPr lang="en-US" altLang="en-US" dirty="0">
                <a:solidFill>
                  <a:srgbClr val="000000"/>
                </a:solidFill>
                <a:latin typeface="fira code"/>
              </a:rPr>
              <a:t>Accounts</a:t>
            </a:r>
            <a:r>
              <a:rPr lang="en-US" altLang="en-US" sz="3200" dirty="0"/>
              <a:t> </a:t>
            </a:r>
            <a:endParaRPr lang="en-US" altLang="en-US" sz="4800" dirty="0">
              <a:latin typeface="Arial" panose="020B0604020202020204" pitchFamily="34" charset="0"/>
            </a:endParaRPr>
          </a:p>
          <a:p>
            <a:endParaRPr lang="en-US" dirty="0"/>
          </a:p>
        </p:txBody>
      </p:sp>
      <p:sp>
        <p:nvSpPr>
          <p:cNvPr id="5" name="Rectangle 2"/>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pic>
        <p:nvPicPr>
          <p:cNvPr id="6" name="Imagen 5"/>
          <p:cNvPicPr>
            <a:picLocks noChangeAspect="1"/>
          </p:cNvPicPr>
          <p:nvPr/>
        </p:nvPicPr>
        <p:blipFill>
          <a:blip r:embed="rId2"/>
          <a:stretch>
            <a:fillRect/>
          </a:stretch>
        </p:blipFill>
        <p:spPr>
          <a:xfrm>
            <a:off x="6031262" y="2415938"/>
            <a:ext cx="2410374" cy="1658851"/>
          </a:xfrm>
          <a:prstGeom prst="rect">
            <a:avLst/>
          </a:prstGeom>
        </p:spPr>
      </p:pic>
      <p:sp>
        <p:nvSpPr>
          <p:cNvPr id="9" name="Rectangle 5"/>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65913294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MX" b="1" dirty="0"/>
              <a:t>Lenguaje de manipulación de datos (DML</a:t>
            </a:r>
            <a:r>
              <a:rPr lang="es-MX" b="1" dirty="0" smtClean="0"/>
              <a:t>)</a:t>
            </a:r>
            <a:endParaRPr lang="en-US" dirty="0"/>
          </a:p>
        </p:txBody>
      </p:sp>
      <p:sp>
        <p:nvSpPr>
          <p:cNvPr id="3" name="Marcador de contenido 2"/>
          <p:cNvSpPr>
            <a:spLocks noGrp="1"/>
          </p:cNvSpPr>
          <p:nvPr>
            <p:ph idx="1"/>
          </p:nvPr>
        </p:nvSpPr>
        <p:spPr/>
        <p:txBody>
          <a:bodyPr>
            <a:normAutofit lnSpcReduction="10000"/>
          </a:bodyPr>
          <a:lstStyle/>
          <a:p>
            <a:pPr algn="just"/>
            <a:r>
              <a:rPr lang="es-MX" dirty="0"/>
              <a:t>El Lenguaje de Manipulación de Datos, o DML por sus siglas en inglés, es el grupo de comandos responsables de </a:t>
            </a:r>
            <a:r>
              <a:rPr lang="es-MX" b="1" dirty="0">
                <a:solidFill>
                  <a:srgbClr val="FF0000"/>
                </a:solidFill>
              </a:rPr>
              <a:t>manipular datos en una base de datos</a:t>
            </a:r>
            <a:r>
              <a:rPr lang="es-MX" dirty="0"/>
              <a:t>; esto generalmente implica </a:t>
            </a:r>
            <a:r>
              <a:rPr lang="es-MX" b="1" dirty="0">
                <a:solidFill>
                  <a:srgbClr val="FF0000"/>
                </a:solidFill>
              </a:rPr>
              <a:t>insertar, editar o borrar </a:t>
            </a:r>
            <a:r>
              <a:rPr lang="es-MX" dirty="0"/>
              <a:t>filas en tablas SQL</a:t>
            </a:r>
            <a:r>
              <a:rPr lang="es-MX" dirty="0" smtClean="0"/>
              <a:t>.</a:t>
            </a:r>
            <a:endParaRPr lang="es-MX" dirty="0"/>
          </a:p>
          <a:p>
            <a:pPr algn="just"/>
            <a:r>
              <a:rPr lang="es-MX" dirty="0"/>
              <a:t>El comando SQL para insertar una nueva fila en una tabla es el comando INSERT. Si queremos añadir una </a:t>
            </a:r>
            <a:r>
              <a:rPr lang="es-MX" dirty="0">
                <a:solidFill>
                  <a:srgbClr val="FF0000"/>
                </a:solidFill>
              </a:rPr>
              <a:t>fila</a:t>
            </a:r>
            <a:r>
              <a:rPr lang="es-MX" dirty="0"/>
              <a:t> a la tabla </a:t>
            </a:r>
            <a:r>
              <a:rPr lang="es-MX" dirty="0" err="1"/>
              <a:t>Accounts</a:t>
            </a:r>
            <a:r>
              <a:rPr lang="es-MX" dirty="0"/>
              <a:t> para un usuario llamado </a:t>
            </a:r>
            <a:r>
              <a:rPr lang="es-MX" dirty="0" err="1"/>
              <a:t>Evan</a:t>
            </a:r>
            <a:r>
              <a:rPr lang="es-MX" dirty="0"/>
              <a:t> Johnson con un saldo de 3200 $, haríamos algo como esto</a:t>
            </a:r>
            <a:r>
              <a:rPr lang="es-MX" dirty="0" smtClean="0"/>
              <a:t>:</a:t>
            </a:r>
          </a:p>
          <a:p>
            <a:endParaRPr lang="es-MX" dirty="0" smtClean="0"/>
          </a:p>
          <a:p>
            <a:pPr marL="457200" lvl="1" indent="0" eaLnBrk="0" fontAlgn="base" hangingPunct="0">
              <a:lnSpc>
                <a:spcPct val="100000"/>
              </a:lnSpc>
              <a:spcBef>
                <a:spcPct val="0"/>
              </a:spcBef>
              <a:spcAft>
                <a:spcPct val="0"/>
              </a:spcAft>
              <a:buNone/>
            </a:pPr>
            <a:r>
              <a:rPr lang="en-US" altLang="en-US" dirty="0" smtClean="0">
                <a:solidFill>
                  <a:srgbClr val="4424A9"/>
                </a:solidFill>
                <a:latin typeface="fira code"/>
              </a:rPr>
              <a:t>INSERT</a:t>
            </a:r>
            <a:r>
              <a:rPr lang="en-US" altLang="en-US" sz="3200" dirty="0" smtClean="0">
                <a:solidFill>
                  <a:srgbClr val="000000"/>
                </a:solidFill>
                <a:latin typeface="fira code"/>
              </a:rPr>
              <a:t> </a:t>
            </a:r>
            <a:r>
              <a:rPr lang="en-US" altLang="en-US" dirty="0" smtClean="0">
                <a:solidFill>
                  <a:srgbClr val="4424A9"/>
                </a:solidFill>
                <a:latin typeface="fira code"/>
              </a:rPr>
              <a:t>INTO</a:t>
            </a:r>
            <a:r>
              <a:rPr lang="en-US" altLang="en-US" sz="3200" dirty="0" smtClean="0">
                <a:solidFill>
                  <a:srgbClr val="000000"/>
                </a:solidFill>
                <a:latin typeface="fira code"/>
              </a:rPr>
              <a:t> </a:t>
            </a:r>
            <a:r>
              <a:rPr lang="en-US" altLang="en-US" dirty="0" smtClean="0">
                <a:solidFill>
                  <a:srgbClr val="000000"/>
                </a:solidFill>
                <a:latin typeface="fira code"/>
              </a:rPr>
              <a:t>Accounts (</a:t>
            </a:r>
            <a:r>
              <a:rPr lang="en-US" altLang="en-US" dirty="0" smtClean="0">
                <a:solidFill>
                  <a:srgbClr val="4424A9"/>
                </a:solidFill>
                <a:latin typeface="fira code"/>
              </a:rPr>
              <a:t>Name</a:t>
            </a:r>
            <a:r>
              <a:rPr lang="en-US" altLang="en-US" dirty="0" smtClean="0">
                <a:solidFill>
                  <a:srgbClr val="000000"/>
                </a:solidFill>
                <a:latin typeface="fira code"/>
              </a:rPr>
              <a:t>, Balance)</a:t>
            </a:r>
            <a:endParaRPr lang="en-US" altLang="en-US" sz="3200" dirty="0" smtClean="0"/>
          </a:p>
          <a:p>
            <a:pPr marL="457200" lvl="1" indent="0" eaLnBrk="0" fontAlgn="base" hangingPunct="0">
              <a:lnSpc>
                <a:spcPct val="100000"/>
              </a:lnSpc>
              <a:spcBef>
                <a:spcPct val="0"/>
              </a:spcBef>
              <a:spcAft>
                <a:spcPct val="0"/>
              </a:spcAft>
              <a:buNone/>
            </a:pPr>
            <a:r>
              <a:rPr lang="en-US" altLang="en-US" dirty="0" smtClean="0">
                <a:solidFill>
                  <a:srgbClr val="4424A9"/>
                </a:solidFill>
                <a:latin typeface="fira code"/>
              </a:rPr>
              <a:t>VALUES</a:t>
            </a:r>
            <a:r>
              <a:rPr lang="en-US" altLang="en-US" sz="3200" dirty="0" smtClean="0">
                <a:solidFill>
                  <a:srgbClr val="000000"/>
                </a:solidFill>
                <a:latin typeface="fira code"/>
              </a:rPr>
              <a:t> </a:t>
            </a:r>
            <a:r>
              <a:rPr lang="en-US" altLang="en-US" dirty="0" smtClean="0">
                <a:solidFill>
                  <a:srgbClr val="000000"/>
                </a:solidFill>
                <a:latin typeface="fira code"/>
              </a:rPr>
              <a:t>(‘Evan Johnson’, 3200)</a:t>
            </a:r>
            <a:endParaRPr lang="en-US" altLang="en-US" sz="5000" dirty="0" smtClean="0">
              <a:latin typeface="Arial" panose="020B0604020202020204" pitchFamily="34" charset="0"/>
            </a:endParaRPr>
          </a:p>
          <a:p>
            <a:pPr marL="0" indent="0">
              <a:buNone/>
            </a:pPr>
            <a:endParaRPr lang="es-MX" dirty="0"/>
          </a:p>
          <a:p>
            <a:pPr marL="0" indent="0">
              <a:buNone/>
            </a:pPr>
            <a:endParaRPr lang="en-US" dirty="0"/>
          </a:p>
        </p:txBody>
      </p:sp>
      <p:sp>
        <p:nvSpPr>
          <p:cNvPr id="5" name="Rectangle 2"/>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12977758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851452" y="831711"/>
            <a:ext cx="10515600" cy="5025749"/>
          </a:xfrm>
        </p:spPr>
        <p:txBody>
          <a:bodyPr>
            <a:normAutofit fontScale="92500" lnSpcReduction="10000"/>
          </a:bodyPr>
          <a:lstStyle/>
          <a:p>
            <a:pPr algn="just"/>
            <a:r>
              <a:rPr lang="es-MX" dirty="0"/>
              <a:t>Si, en algún momento en el futuro, </a:t>
            </a:r>
            <a:r>
              <a:rPr lang="es-MX" dirty="0" err="1"/>
              <a:t>Evan</a:t>
            </a:r>
            <a:r>
              <a:rPr lang="es-MX" dirty="0"/>
              <a:t> hiciera un retiro de $200, necesitaríamos actualizar su saldo a $3000. Para editar el registro de la </a:t>
            </a:r>
            <a:r>
              <a:rPr lang="es-MX" dirty="0" smtClean="0"/>
              <a:t>cuenta </a:t>
            </a:r>
            <a:r>
              <a:rPr lang="es-MX" dirty="0"/>
              <a:t>bancaria de </a:t>
            </a:r>
            <a:r>
              <a:rPr lang="es-MX" dirty="0" err="1"/>
              <a:t>Evan</a:t>
            </a:r>
            <a:r>
              <a:rPr lang="es-MX" dirty="0"/>
              <a:t>, necesitamos utilizar el comando UPDATE</a:t>
            </a:r>
            <a:r>
              <a:rPr lang="es-MX" dirty="0" smtClean="0"/>
              <a:t>:</a:t>
            </a:r>
          </a:p>
          <a:p>
            <a:pPr marL="0" indent="0" algn="just">
              <a:buNone/>
            </a:pPr>
            <a:endParaRPr lang="es-MX" dirty="0" smtClean="0"/>
          </a:p>
          <a:p>
            <a:pPr marL="457200" lvl="1" indent="0" eaLnBrk="0" fontAlgn="base" hangingPunct="0">
              <a:lnSpc>
                <a:spcPct val="100000"/>
              </a:lnSpc>
              <a:spcBef>
                <a:spcPct val="0"/>
              </a:spcBef>
              <a:spcAft>
                <a:spcPct val="0"/>
              </a:spcAft>
              <a:buNone/>
            </a:pPr>
            <a:r>
              <a:rPr lang="en-US" altLang="en-US" dirty="0">
                <a:solidFill>
                  <a:srgbClr val="4424A9"/>
                </a:solidFill>
                <a:latin typeface="fira code"/>
              </a:rPr>
              <a:t>UPDATE</a:t>
            </a:r>
            <a:r>
              <a:rPr lang="en-US" altLang="en-US" sz="3200" dirty="0">
                <a:solidFill>
                  <a:srgbClr val="000000"/>
                </a:solidFill>
                <a:latin typeface="fira code"/>
              </a:rPr>
              <a:t> </a:t>
            </a:r>
            <a:r>
              <a:rPr lang="en-US" altLang="en-US" dirty="0">
                <a:solidFill>
                  <a:srgbClr val="000000"/>
                </a:solidFill>
                <a:latin typeface="fira code"/>
              </a:rPr>
              <a:t>Accounts </a:t>
            </a:r>
            <a:r>
              <a:rPr lang="en-US" altLang="en-US" dirty="0">
                <a:solidFill>
                  <a:srgbClr val="4424A9"/>
                </a:solidFill>
                <a:latin typeface="fira code"/>
              </a:rPr>
              <a:t>SET</a:t>
            </a:r>
            <a:r>
              <a:rPr lang="en-US" altLang="en-US" sz="3200" dirty="0">
                <a:solidFill>
                  <a:srgbClr val="000000"/>
                </a:solidFill>
                <a:latin typeface="fira code"/>
              </a:rPr>
              <a:t> </a:t>
            </a:r>
            <a:r>
              <a:rPr lang="en-US" altLang="en-US" dirty="0">
                <a:solidFill>
                  <a:srgbClr val="000000"/>
                </a:solidFill>
                <a:latin typeface="fira code"/>
              </a:rPr>
              <a:t>Balance = 3000</a:t>
            </a:r>
            <a:endParaRPr lang="en-US" altLang="en-US" sz="3200" dirty="0"/>
          </a:p>
          <a:p>
            <a:pPr marL="457200" lvl="1" indent="0" eaLnBrk="0" fontAlgn="base" hangingPunct="0">
              <a:lnSpc>
                <a:spcPct val="100000"/>
              </a:lnSpc>
              <a:spcBef>
                <a:spcPct val="0"/>
              </a:spcBef>
              <a:spcAft>
                <a:spcPct val="0"/>
              </a:spcAft>
              <a:buNone/>
            </a:pPr>
            <a:r>
              <a:rPr lang="en-US" altLang="en-US" dirty="0">
                <a:solidFill>
                  <a:srgbClr val="4424A9"/>
                </a:solidFill>
                <a:latin typeface="fira code"/>
              </a:rPr>
              <a:t>WHERE</a:t>
            </a:r>
            <a:r>
              <a:rPr lang="en-US" altLang="en-US" sz="3200" dirty="0">
                <a:solidFill>
                  <a:srgbClr val="000000"/>
                </a:solidFill>
                <a:latin typeface="fira code"/>
              </a:rPr>
              <a:t> </a:t>
            </a:r>
            <a:r>
              <a:rPr lang="en-US" altLang="en-US" dirty="0">
                <a:solidFill>
                  <a:srgbClr val="4424A9"/>
                </a:solidFill>
                <a:latin typeface="fira code"/>
              </a:rPr>
              <a:t>Name</a:t>
            </a:r>
            <a:r>
              <a:rPr lang="en-US" altLang="en-US" sz="3200" dirty="0">
                <a:solidFill>
                  <a:srgbClr val="000000"/>
                </a:solidFill>
                <a:latin typeface="fira code"/>
              </a:rPr>
              <a:t> </a:t>
            </a:r>
            <a:r>
              <a:rPr lang="en-US" altLang="en-US" dirty="0">
                <a:solidFill>
                  <a:srgbClr val="000000"/>
                </a:solidFill>
                <a:latin typeface="fira code"/>
              </a:rPr>
              <a:t>= ‘Evan Johnson</a:t>
            </a:r>
            <a:r>
              <a:rPr lang="en-US" altLang="en-US" dirty="0" smtClean="0">
                <a:solidFill>
                  <a:srgbClr val="000000"/>
                </a:solidFill>
                <a:latin typeface="fira code"/>
              </a:rPr>
              <a:t>’</a:t>
            </a:r>
          </a:p>
          <a:p>
            <a:pPr marL="457200" lvl="1" indent="0" eaLnBrk="0" fontAlgn="base" hangingPunct="0">
              <a:lnSpc>
                <a:spcPct val="100000"/>
              </a:lnSpc>
              <a:spcBef>
                <a:spcPct val="0"/>
              </a:spcBef>
              <a:spcAft>
                <a:spcPct val="0"/>
              </a:spcAft>
              <a:buNone/>
            </a:pPr>
            <a:endParaRPr lang="es-PE" altLang="en-US" sz="5000" dirty="0" smtClean="0">
              <a:solidFill>
                <a:srgbClr val="000000"/>
              </a:solidFill>
              <a:latin typeface="fira code"/>
            </a:endParaRPr>
          </a:p>
          <a:p>
            <a:pPr marL="457200" lvl="1" indent="0" algn="just" eaLnBrk="0" fontAlgn="base" hangingPunct="0">
              <a:lnSpc>
                <a:spcPct val="100000"/>
              </a:lnSpc>
              <a:spcBef>
                <a:spcPct val="0"/>
              </a:spcBef>
              <a:spcAft>
                <a:spcPct val="0"/>
              </a:spcAft>
              <a:buNone/>
            </a:pPr>
            <a:r>
              <a:rPr lang="en-US" altLang="en-US" sz="2900" dirty="0">
                <a:solidFill>
                  <a:srgbClr val="2D2D2D"/>
                </a:solidFill>
                <a:latin typeface="oxygen"/>
              </a:rPr>
              <a:t>Por </a:t>
            </a:r>
            <a:r>
              <a:rPr lang="en-US" altLang="en-US" sz="2900" dirty="0" err="1">
                <a:solidFill>
                  <a:srgbClr val="2D2D2D"/>
                </a:solidFill>
                <a:latin typeface="oxygen"/>
              </a:rPr>
              <a:t>último</a:t>
            </a:r>
            <a:r>
              <a:rPr lang="en-US" altLang="en-US" sz="2900" dirty="0">
                <a:solidFill>
                  <a:srgbClr val="2D2D2D"/>
                </a:solidFill>
                <a:latin typeface="oxygen"/>
              </a:rPr>
              <a:t>, </a:t>
            </a:r>
            <a:r>
              <a:rPr lang="en-US" altLang="en-US" sz="2900" dirty="0" err="1">
                <a:solidFill>
                  <a:srgbClr val="2D2D2D"/>
                </a:solidFill>
                <a:latin typeface="oxygen"/>
              </a:rPr>
              <a:t>si</a:t>
            </a:r>
            <a:r>
              <a:rPr lang="en-US" altLang="en-US" sz="2900" dirty="0">
                <a:solidFill>
                  <a:srgbClr val="2D2D2D"/>
                </a:solidFill>
                <a:latin typeface="oxygen"/>
              </a:rPr>
              <a:t> Evan </a:t>
            </a:r>
            <a:r>
              <a:rPr lang="en-US" altLang="en-US" sz="2900" dirty="0" err="1">
                <a:solidFill>
                  <a:srgbClr val="2D2D2D"/>
                </a:solidFill>
                <a:latin typeface="oxygen"/>
              </a:rPr>
              <a:t>decidiera</a:t>
            </a:r>
            <a:r>
              <a:rPr lang="en-US" altLang="en-US" sz="2900" dirty="0">
                <a:solidFill>
                  <a:srgbClr val="2D2D2D"/>
                </a:solidFill>
                <a:latin typeface="oxygen"/>
              </a:rPr>
              <a:t> </a:t>
            </a:r>
            <a:r>
              <a:rPr lang="en-US" altLang="en-US" sz="2900" dirty="0" err="1">
                <a:solidFill>
                  <a:srgbClr val="2D2D2D"/>
                </a:solidFill>
                <a:latin typeface="oxygen"/>
              </a:rPr>
              <a:t>cerrar</a:t>
            </a:r>
            <a:r>
              <a:rPr lang="en-US" altLang="en-US" sz="2900" dirty="0">
                <a:solidFill>
                  <a:srgbClr val="2D2D2D"/>
                </a:solidFill>
                <a:latin typeface="oxygen"/>
              </a:rPr>
              <a:t> </a:t>
            </a:r>
            <a:r>
              <a:rPr lang="en-US" altLang="en-US" sz="2900" dirty="0" err="1">
                <a:solidFill>
                  <a:srgbClr val="2D2D2D"/>
                </a:solidFill>
                <a:latin typeface="oxygen"/>
              </a:rPr>
              <a:t>su</a:t>
            </a:r>
            <a:r>
              <a:rPr lang="en-US" altLang="en-US" sz="2900" dirty="0">
                <a:solidFill>
                  <a:srgbClr val="2D2D2D"/>
                </a:solidFill>
                <a:latin typeface="oxygen"/>
              </a:rPr>
              <a:t> </a:t>
            </a:r>
            <a:r>
              <a:rPr lang="en-US" altLang="en-US" sz="2900" dirty="0" err="1">
                <a:solidFill>
                  <a:srgbClr val="2D2D2D"/>
                </a:solidFill>
                <a:latin typeface="oxygen"/>
              </a:rPr>
              <a:t>cuenta</a:t>
            </a:r>
            <a:r>
              <a:rPr lang="en-US" altLang="en-US" sz="2900" dirty="0">
                <a:solidFill>
                  <a:srgbClr val="2D2D2D"/>
                </a:solidFill>
                <a:latin typeface="oxygen"/>
              </a:rPr>
              <a:t> </a:t>
            </a:r>
            <a:r>
              <a:rPr lang="en-US" altLang="en-US" sz="2900" dirty="0" err="1">
                <a:solidFill>
                  <a:srgbClr val="2D2D2D"/>
                </a:solidFill>
                <a:latin typeface="oxygen"/>
              </a:rPr>
              <a:t>en</a:t>
            </a:r>
            <a:r>
              <a:rPr lang="en-US" altLang="en-US" sz="2900" dirty="0">
                <a:solidFill>
                  <a:srgbClr val="2D2D2D"/>
                </a:solidFill>
                <a:latin typeface="oxygen"/>
              </a:rPr>
              <a:t> </a:t>
            </a:r>
            <a:r>
              <a:rPr lang="en-US" altLang="en-US" sz="2900" dirty="0" err="1">
                <a:solidFill>
                  <a:srgbClr val="2D2D2D"/>
                </a:solidFill>
                <a:latin typeface="oxygen"/>
              </a:rPr>
              <a:t>nuestro</a:t>
            </a:r>
            <a:r>
              <a:rPr lang="en-US" altLang="en-US" sz="2900" dirty="0">
                <a:solidFill>
                  <a:srgbClr val="2D2D2D"/>
                </a:solidFill>
                <a:latin typeface="oxygen"/>
              </a:rPr>
              <a:t> banco, </a:t>
            </a:r>
            <a:r>
              <a:rPr lang="en-US" altLang="en-US" sz="2900" dirty="0" err="1">
                <a:solidFill>
                  <a:srgbClr val="2D2D2D"/>
                </a:solidFill>
                <a:latin typeface="oxygen"/>
              </a:rPr>
              <a:t>tendríamos</a:t>
            </a:r>
            <a:r>
              <a:rPr lang="en-US" altLang="en-US" sz="2900" dirty="0">
                <a:solidFill>
                  <a:srgbClr val="2D2D2D"/>
                </a:solidFill>
                <a:latin typeface="oxygen"/>
              </a:rPr>
              <a:t> que </a:t>
            </a:r>
            <a:r>
              <a:rPr lang="en-US" altLang="en-US" sz="2900" dirty="0" err="1">
                <a:solidFill>
                  <a:srgbClr val="2D2D2D"/>
                </a:solidFill>
                <a:latin typeface="oxygen"/>
              </a:rPr>
              <a:t>borrar</a:t>
            </a:r>
            <a:r>
              <a:rPr lang="en-US" altLang="en-US" sz="2900" dirty="0">
                <a:solidFill>
                  <a:srgbClr val="2D2D2D"/>
                </a:solidFill>
                <a:latin typeface="oxygen"/>
              </a:rPr>
              <a:t> </a:t>
            </a:r>
            <a:r>
              <a:rPr lang="en-US" altLang="en-US" sz="2900" dirty="0" err="1">
                <a:solidFill>
                  <a:srgbClr val="2D2D2D"/>
                </a:solidFill>
                <a:latin typeface="oxygen"/>
              </a:rPr>
              <a:t>su</a:t>
            </a:r>
            <a:r>
              <a:rPr lang="en-US" altLang="en-US" sz="2900" dirty="0">
                <a:solidFill>
                  <a:srgbClr val="2D2D2D"/>
                </a:solidFill>
                <a:latin typeface="oxygen"/>
              </a:rPr>
              <a:t> entrada </a:t>
            </a:r>
            <a:r>
              <a:rPr lang="en-US" altLang="en-US" sz="2900" dirty="0" err="1">
                <a:solidFill>
                  <a:srgbClr val="2D2D2D"/>
                </a:solidFill>
                <a:latin typeface="oxygen"/>
              </a:rPr>
              <a:t>en</a:t>
            </a:r>
            <a:r>
              <a:rPr lang="en-US" altLang="en-US" sz="2900" dirty="0">
                <a:solidFill>
                  <a:srgbClr val="2D2D2D"/>
                </a:solidFill>
                <a:latin typeface="oxygen"/>
              </a:rPr>
              <a:t> la </a:t>
            </a:r>
            <a:r>
              <a:rPr lang="en-US" altLang="en-US" sz="2900" dirty="0" err="1">
                <a:solidFill>
                  <a:srgbClr val="2D2D2D"/>
                </a:solidFill>
                <a:latin typeface="oxygen"/>
              </a:rPr>
              <a:t>tabla</a:t>
            </a:r>
            <a:r>
              <a:rPr lang="en-US" altLang="en-US" sz="2900" dirty="0">
                <a:solidFill>
                  <a:srgbClr val="2D2D2D"/>
                </a:solidFill>
                <a:latin typeface="oxygen"/>
              </a:rPr>
              <a:t> </a:t>
            </a:r>
            <a:r>
              <a:rPr lang="en-US" altLang="en-US" sz="2900" b="1" dirty="0">
                <a:solidFill>
                  <a:srgbClr val="4424A9"/>
                </a:solidFill>
                <a:latin typeface="fira code"/>
              </a:rPr>
              <a:t>Accounts</a:t>
            </a:r>
            <a:r>
              <a:rPr lang="en-US" altLang="en-US" sz="2900" dirty="0">
                <a:solidFill>
                  <a:srgbClr val="2D2D2D"/>
                </a:solidFill>
                <a:latin typeface="oxygen"/>
              </a:rPr>
              <a:t> </a:t>
            </a:r>
            <a:r>
              <a:rPr lang="en-US" altLang="en-US" sz="2900" dirty="0" err="1">
                <a:solidFill>
                  <a:srgbClr val="2D2D2D"/>
                </a:solidFill>
                <a:latin typeface="oxygen"/>
              </a:rPr>
              <a:t>tabla</a:t>
            </a:r>
            <a:r>
              <a:rPr lang="en-US" altLang="en-US" sz="2900" dirty="0">
                <a:solidFill>
                  <a:srgbClr val="2D2D2D"/>
                </a:solidFill>
                <a:latin typeface="oxygen"/>
              </a:rPr>
              <a:t>. Para </a:t>
            </a:r>
            <a:r>
              <a:rPr lang="en-US" altLang="en-US" sz="2900" dirty="0" err="1">
                <a:solidFill>
                  <a:srgbClr val="2D2D2D"/>
                </a:solidFill>
                <a:latin typeface="oxygen"/>
              </a:rPr>
              <a:t>ello</a:t>
            </a:r>
            <a:r>
              <a:rPr lang="en-US" altLang="en-US" sz="2900" dirty="0">
                <a:solidFill>
                  <a:srgbClr val="2D2D2D"/>
                </a:solidFill>
                <a:latin typeface="oxygen"/>
              </a:rPr>
              <a:t>, </a:t>
            </a:r>
            <a:r>
              <a:rPr lang="en-US" altLang="en-US" sz="2900" dirty="0" err="1">
                <a:solidFill>
                  <a:srgbClr val="2D2D2D"/>
                </a:solidFill>
                <a:latin typeface="oxygen"/>
              </a:rPr>
              <a:t>debemos</a:t>
            </a:r>
            <a:r>
              <a:rPr lang="en-US" altLang="en-US" sz="2900" dirty="0">
                <a:solidFill>
                  <a:srgbClr val="2D2D2D"/>
                </a:solidFill>
                <a:latin typeface="oxygen"/>
              </a:rPr>
              <a:t> </a:t>
            </a:r>
            <a:r>
              <a:rPr lang="en-US" altLang="en-US" sz="2900" dirty="0" err="1">
                <a:solidFill>
                  <a:srgbClr val="2D2D2D"/>
                </a:solidFill>
                <a:latin typeface="oxygen"/>
              </a:rPr>
              <a:t>utilizar</a:t>
            </a:r>
            <a:r>
              <a:rPr lang="en-US" altLang="en-US" sz="2900" dirty="0">
                <a:solidFill>
                  <a:srgbClr val="2D2D2D"/>
                </a:solidFill>
                <a:latin typeface="oxygen"/>
              </a:rPr>
              <a:t> el </a:t>
            </a:r>
            <a:r>
              <a:rPr lang="en-US" altLang="en-US" sz="2900" dirty="0" err="1">
                <a:solidFill>
                  <a:srgbClr val="2D2D2D"/>
                </a:solidFill>
                <a:latin typeface="oxygen"/>
              </a:rPr>
              <a:t>comando</a:t>
            </a:r>
            <a:r>
              <a:rPr lang="en-US" altLang="en-US" sz="2900" dirty="0">
                <a:solidFill>
                  <a:srgbClr val="2D2D2D"/>
                </a:solidFill>
                <a:latin typeface="oxygen"/>
              </a:rPr>
              <a:t> </a:t>
            </a:r>
            <a:r>
              <a:rPr lang="en-US" altLang="en-US" sz="2900" dirty="0" smtClean="0">
                <a:solidFill>
                  <a:srgbClr val="4424A9"/>
                </a:solidFill>
                <a:latin typeface="fira code"/>
              </a:rPr>
              <a:t>DELETE</a:t>
            </a:r>
            <a:endParaRPr lang="en-US" altLang="en-US" sz="2900" dirty="0" smtClean="0"/>
          </a:p>
          <a:p>
            <a:pPr marL="457200" lvl="1" indent="0" algn="just" eaLnBrk="0" fontAlgn="base" hangingPunct="0">
              <a:lnSpc>
                <a:spcPct val="100000"/>
              </a:lnSpc>
              <a:spcBef>
                <a:spcPct val="0"/>
              </a:spcBef>
              <a:spcAft>
                <a:spcPct val="0"/>
              </a:spcAft>
              <a:buNone/>
            </a:pPr>
            <a:endParaRPr lang="en-US" altLang="en-US" sz="2900" dirty="0">
              <a:latin typeface="Arial" panose="020B0604020202020204" pitchFamily="34" charset="0"/>
            </a:endParaRPr>
          </a:p>
          <a:p>
            <a:pPr marL="457200" lvl="1" indent="0" eaLnBrk="0" fontAlgn="base" hangingPunct="0">
              <a:lnSpc>
                <a:spcPct val="100000"/>
              </a:lnSpc>
              <a:spcBef>
                <a:spcPct val="0"/>
              </a:spcBef>
              <a:spcAft>
                <a:spcPct val="0"/>
              </a:spcAft>
              <a:buNone/>
            </a:pPr>
            <a:r>
              <a:rPr lang="en-US" altLang="en-US" sz="2200" dirty="0">
                <a:solidFill>
                  <a:srgbClr val="4424A9"/>
                </a:solidFill>
                <a:latin typeface="fira code"/>
              </a:rPr>
              <a:t>DELETE</a:t>
            </a:r>
            <a:r>
              <a:rPr lang="en-US" altLang="en-US" sz="2200" dirty="0">
                <a:solidFill>
                  <a:srgbClr val="000000"/>
                </a:solidFill>
                <a:latin typeface="fira code"/>
              </a:rPr>
              <a:t> </a:t>
            </a:r>
            <a:r>
              <a:rPr lang="en-US" altLang="en-US" sz="2200" dirty="0">
                <a:solidFill>
                  <a:srgbClr val="4424A9"/>
                </a:solidFill>
                <a:latin typeface="fira code"/>
              </a:rPr>
              <a:t>FROM</a:t>
            </a:r>
            <a:r>
              <a:rPr lang="en-US" altLang="en-US" sz="2200" dirty="0">
                <a:solidFill>
                  <a:srgbClr val="000000"/>
                </a:solidFill>
                <a:latin typeface="fira code"/>
              </a:rPr>
              <a:t> Accounts</a:t>
            </a:r>
            <a:endParaRPr lang="en-US" altLang="en-US" sz="2200" dirty="0"/>
          </a:p>
          <a:p>
            <a:pPr marL="457200" lvl="1" indent="0" eaLnBrk="0" fontAlgn="base" hangingPunct="0">
              <a:lnSpc>
                <a:spcPct val="100000"/>
              </a:lnSpc>
              <a:spcBef>
                <a:spcPct val="0"/>
              </a:spcBef>
              <a:spcAft>
                <a:spcPct val="0"/>
              </a:spcAft>
              <a:buNone/>
            </a:pPr>
            <a:r>
              <a:rPr lang="en-US" altLang="en-US" sz="2200" dirty="0">
                <a:solidFill>
                  <a:srgbClr val="4424A9"/>
                </a:solidFill>
                <a:latin typeface="fira code"/>
              </a:rPr>
              <a:t>WHERE</a:t>
            </a:r>
            <a:r>
              <a:rPr lang="en-US" altLang="en-US" sz="2200" dirty="0">
                <a:solidFill>
                  <a:srgbClr val="000000"/>
                </a:solidFill>
                <a:latin typeface="fira code"/>
              </a:rPr>
              <a:t> </a:t>
            </a:r>
            <a:r>
              <a:rPr lang="en-US" altLang="en-US" sz="2200" dirty="0">
                <a:solidFill>
                  <a:srgbClr val="4424A9"/>
                </a:solidFill>
                <a:latin typeface="fira code"/>
              </a:rPr>
              <a:t>Name</a:t>
            </a:r>
            <a:r>
              <a:rPr lang="en-US" altLang="en-US" sz="2200" dirty="0">
                <a:solidFill>
                  <a:srgbClr val="000000"/>
                </a:solidFill>
                <a:latin typeface="fira code"/>
              </a:rPr>
              <a:t> = ‘Evan Johnson</a:t>
            </a:r>
            <a:r>
              <a:rPr lang="en-US" altLang="en-US" sz="2200" dirty="0" smtClean="0">
                <a:solidFill>
                  <a:srgbClr val="000000"/>
                </a:solidFill>
                <a:latin typeface="fira code"/>
              </a:rPr>
              <a:t>’</a:t>
            </a:r>
            <a:endParaRPr lang="en-US" altLang="en-US" sz="2200" dirty="0" smtClean="0">
              <a:latin typeface="Arial" panose="020B0604020202020204" pitchFamily="34" charset="0"/>
            </a:endParaRPr>
          </a:p>
          <a:p>
            <a:pPr algn="just"/>
            <a:endParaRPr lang="en-US" dirty="0"/>
          </a:p>
        </p:txBody>
      </p:sp>
      <p:sp>
        <p:nvSpPr>
          <p:cNvPr id="7" name="Rectangle 4"/>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68816181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MX" b="1" dirty="0"/>
              <a:t>Lenguaje de consulta de datos (DQL</a:t>
            </a:r>
            <a:r>
              <a:rPr lang="es-MX" b="1" dirty="0" smtClean="0"/>
              <a:t>)</a:t>
            </a:r>
            <a:endParaRPr lang="en-US" b="1" dirty="0"/>
          </a:p>
        </p:txBody>
      </p:sp>
      <p:sp>
        <p:nvSpPr>
          <p:cNvPr id="3" name="Marcador de contenido 2"/>
          <p:cNvSpPr>
            <a:spLocks noGrp="1"/>
          </p:cNvSpPr>
          <p:nvPr>
            <p:ph idx="1"/>
          </p:nvPr>
        </p:nvSpPr>
        <p:spPr>
          <a:xfrm>
            <a:off x="838200" y="1825625"/>
            <a:ext cx="10515600" cy="2799384"/>
          </a:xfrm>
        </p:spPr>
        <p:txBody>
          <a:bodyPr/>
          <a:lstStyle/>
          <a:p>
            <a:r>
              <a:rPr lang="es-MX" b="1" dirty="0"/>
              <a:t>El Lenguaje de Consulta de Datos, o DQL </a:t>
            </a:r>
            <a:r>
              <a:rPr lang="es-MX" dirty="0"/>
              <a:t>para abreviar, es el grupo de comandos responsables de la consulta de datos de una base de datos. El principal comando DQL en SQL es el comando </a:t>
            </a:r>
            <a:r>
              <a:rPr lang="es-MX" b="1" dirty="0">
                <a:solidFill>
                  <a:srgbClr val="FF0000"/>
                </a:solidFill>
              </a:rPr>
              <a:t>SELECT</a:t>
            </a:r>
            <a:r>
              <a:rPr lang="es-MX" dirty="0"/>
              <a:t>, que recupera datos de una o más tablas</a:t>
            </a:r>
            <a:r>
              <a:rPr lang="es-MX" dirty="0" smtClean="0"/>
              <a:t>.</a:t>
            </a:r>
            <a:endParaRPr lang="es-MX" dirty="0"/>
          </a:p>
          <a:p>
            <a:r>
              <a:rPr lang="es-MX" dirty="0"/>
              <a:t>Tomemos la siguiente tabla. Contiene datos de cuentas bancarias y se llama </a:t>
            </a:r>
            <a:r>
              <a:rPr lang="es-MX" b="1" dirty="0" err="1"/>
              <a:t>Accounts</a:t>
            </a:r>
            <a:r>
              <a:rPr lang="es-MX" dirty="0"/>
              <a:t>:</a:t>
            </a:r>
            <a:endParaRPr lang="en-US" dirty="0"/>
          </a:p>
        </p:txBody>
      </p:sp>
      <p:pic>
        <p:nvPicPr>
          <p:cNvPr id="5" name="Imagen 4"/>
          <p:cNvPicPr>
            <a:picLocks noChangeAspect="1"/>
          </p:cNvPicPr>
          <p:nvPr/>
        </p:nvPicPr>
        <p:blipFill>
          <a:blip r:embed="rId2"/>
          <a:stretch>
            <a:fillRect/>
          </a:stretch>
        </p:blipFill>
        <p:spPr>
          <a:xfrm>
            <a:off x="5090845" y="4197731"/>
            <a:ext cx="5245851" cy="1991600"/>
          </a:xfrm>
          <a:prstGeom prst="rect">
            <a:avLst/>
          </a:prstGeom>
        </p:spPr>
      </p:pic>
    </p:spTree>
    <p:extLst>
      <p:ext uri="{BB962C8B-B14F-4D97-AF65-F5344CB8AC3E}">
        <p14:creationId xmlns:p14="http://schemas.microsoft.com/office/powerpoint/2010/main" val="305336599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MX" b="1" dirty="0"/>
              <a:t>Lenguaje de consulta de datos (DQL)</a:t>
            </a:r>
            <a:endParaRPr lang="en-US" dirty="0"/>
          </a:p>
        </p:txBody>
      </p:sp>
      <p:sp>
        <p:nvSpPr>
          <p:cNvPr id="3" name="Marcador de contenido 2"/>
          <p:cNvSpPr>
            <a:spLocks noGrp="1"/>
          </p:cNvSpPr>
          <p:nvPr>
            <p:ph idx="1"/>
          </p:nvPr>
        </p:nvSpPr>
        <p:spPr/>
        <p:txBody>
          <a:bodyPr>
            <a:normAutofit fontScale="92500" lnSpcReduction="10000"/>
          </a:bodyPr>
          <a:lstStyle/>
          <a:p>
            <a:r>
              <a:rPr lang="es-MX" dirty="0"/>
              <a:t>Si quisiéramos recuperar los nombres de todos los usuarios con una cuenta bancaria, utilizaríamos este comando SELECT</a:t>
            </a:r>
            <a:r>
              <a:rPr lang="es-MX" dirty="0" smtClean="0"/>
              <a:t>:</a:t>
            </a:r>
          </a:p>
          <a:p>
            <a:pPr marL="457200" lvl="1" indent="0" eaLnBrk="0" fontAlgn="base" hangingPunct="0">
              <a:lnSpc>
                <a:spcPct val="100000"/>
              </a:lnSpc>
              <a:spcBef>
                <a:spcPct val="0"/>
              </a:spcBef>
              <a:spcAft>
                <a:spcPct val="0"/>
              </a:spcAft>
              <a:buNone/>
            </a:pPr>
            <a:r>
              <a:rPr lang="en-US" altLang="en-US" dirty="0">
                <a:solidFill>
                  <a:srgbClr val="4424A9"/>
                </a:solidFill>
                <a:latin typeface="fira code"/>
              </a:rPr>
              <a:t>SELECT</a:t>
            </a:r>
            <a:r>
              <a:rPr lang="en-US" altLang="en-US" sz="3200" dirty="0">
                <a:solidFill>
                  <a:srgbClr val="000000"/>
                </a:solidFill>
                <a:latin typeface="fira code"/>
              </a:rPr>
              <a:t> </a:t>
            </a:r>
            <a:r>
              <a:rPr lang="en-US" altLang="en-US" dirty="0">
                <a:solidFill>
                  <a:srgbClr val="4424A9"/>
                </a:solidFill>
                <a:latin typeface="fira code"/>
              </a:rPr>
              <a:t>Name</a:t>
            </a:r>
            <a:endParaRPr lang="en-US" altLang="en-US" sz="3200" dirty="0"/>
          </a:p>
          <a:p>
            <a:pPr marL="457200" lvl="1" indent="0" eaLnBrk="0" fontAlgn="base" hangingPunct="0">
              <a:lnSpc>
                <a:spcPct val="100000"/>
              </a:lnSpc>
              <a:spcBef>
                <a:spcPct val="0"/>
              </a:spcBef>
              <a:spcAft>
                <a:spcPct val="0"/>
              </a:spcAft>
              <a:buNone/>
            </a:pPr>
            <a:r>
              <a:rPr lang="en-US" altLang="en-US" dirty="0">
                <a:solidFill>
                  <a:srgbClr val="4424A9"/>
                </a:solidFill>
                <a:latin typeface="fira code"/>
              </a:rPr>
              <a:t>FROM</a:t>
            </a:r>
            <a:r>
              <a:rPr lang="en-US" altLang="en-US" sz="3200" dirty="0">
                <a:solidFill>
                  <a:srgbClr val="000000"/>
                </a:solidFill>
                <a:latin typeface="fira code"/>
              </a:rPr>
              <a:t> </a:t>
            </a:r>
            <a:r>
              <a:rPr lang="en-US" altLang="en-US" dirty="0" smtClean="0">
                <a:solidFill>
                  <a:srgbClr val="000000"/>
                </a:solidFill>
                <a:latin typeface="fira code"/>
              </a:rPr>
              <a:t>Accounts</a:t>
            </a:r>
          </a:p>
          <a:p>
            <a:pPr marL="457200" lvl="1" indent="0" eaLnBrk="0" fontAlgn="base" hangingPunct="0">
              <a:lnSpc>
                <a:spcPct val="100000"/>
              </a:lnSpc>
              <a:spcBef>
                <a:spcPct val="0"/>
              </a:spcBef>
              <a:spcAft>
                <a:spcPct val="0"/>
              </a:spcAft>
              <a:buNone/>
            </a:pPr>
            <a:endParaRPr lang="en-US" altLang="en-US" dirty="0" smtClean="0">
              <a:solidFill>
                <a:srgbClr val="000000"/>
              </a:solidFill>
              <a:latin typeface="fira code"/>
            </a:endParaRPr>
          </a:p>
          <a:p>
            <a:pPr marL="457200" lvl="1" indent="0" eaLnBrk="0" fontAlgn="base" hangingPunct="0">
              <a:lnSpc>
                <a:spcPct val="100000"/>
              </a:lnSpc>
              <a:spcBef>
                <a:spcPct val="0"/>
              </a:spcBef>
              <a:spcAft>
                <a:spcPct val="0"/>
              </a:spcAft>
              <a:buNone/>
            </a:pPr>
            <a:r>
              <a:rPr lang="en-US" altLang="en-US" dirty="0">
                <a:solidFill>
                  <a:srgbClr val="2D2D2D"/>
                </a:solidFill>
                <a:latin typeface="oxygen"/>
              </a:rPr>
              <a:t>El </a:t>
            </a:r>
            <a:r>
              <a:rPr lang="en-US" altLang="en-US" dirty="0" err="1">
                <a:solidFill>
                  <a:srgbClr val="2D2D2D"/>
                </a:solidFill>
                <a:latin typeface="oxygen"/>
              </a:rPr>
              <a:t>comando</a:t>
            </a:r>
            <a:r>
              <a:rPr lang="en-US" altLang="en-US" dirty="0">
                <a:solidFill>
                  <a:srgbClr val="2D2D2D"/>
                </a:solidFill>
                <a:latin typeface="oxygen"/>
              </a:rPr>
              <a:t> anterior </a:t>
            </a:r>
            <a:r>
              <a:rPr lang="en-US" altLang="en-US" dirty="0" err="1">
                <a:solidFill>
                  <a:srgbClr val="2D2D2D"/>
                </a:solidFill>
                <a:latin typeface="oxygen"/>
              </a:rPr>
              <a:t>es</a:t>
            </a:r>
            <a:r>
              <a:rPr lang="en-US" altLang="en-US" dirty="0">
                <a:solidFill>
                  <a:srgbClr val="2D2D2D"/>
                </a:solidFill>
                <a:latin typeface="oxygen"/>
              </a:rPr>
              <a:t> </a:t>
            </a:r>
            <a:r>
              <a:rPr lang="en-US" altLang="en-US" dirty="0" err="1">
                <a:solidFill>
                  <a:srgbClr val="2D2D2D"/>
                </a:solidFill>
                <a:latin typeface="oxygen"/>
              </a:rPr>
              <a:t>una</a:t>
            </a:r>
            <a:r>
              <a:rPr lang="en-US" altLang="en-US" dirty="0">
                <a:solidFill>
                  <a:srgbClr val="2D2D2D"/>
                </a:solidFill>
                <a:latin typeface="oxygen"/>
              </a:rPr>
              <a:t> </a:t>
            </a:r>
            <a:r>
              <a:rPr lang="en-US" altLang="en-US" dirty="0" err="1">
                <a:solidFill>
                  <a:srgbClr val="2D2D2D"/>
                </a:solidFill>
                <a:latin typeface="oxygen"/>
              </a:rPr>
              <a:t>sentencia</a:t>
            </a:r>
            <a:r>
              <a:rPr lang="en-US" altLang="en-US" dirty="0">
                <a:solidFill>
                  <a:srgbClr val="2D2D2D"/>
                </a:solidFill>
                <a:latin typeface="oxygen"/>
              </a:rPr>
              <a:t> </a:t>
            </a:r>
            <a:r>
              <a:rPr lang="en-US" altLang="en-US" dirty="0" err="1">
                <a:solidFill>
                  <a:srgbClr val="2D2D2D"/>
                </a:solidFill>
                <a:latin typeface="oxygen"/>
              </a:rPr>
              <a:t>típica</a:t>
            </a:r>
            <a:r>
              <a:rPr lang="en-US" altLang="en-US" dirty="0">
                <a:solidFill>
                  <a:srgbClr val="2D2D2D"/>
                </a:solidFill>
                <a:latin typeface="oxygen"/>
              </a:rPr>
              <a:t> del </a:t>
            </a:r>
            <a:r>
              <a:rPr lang="en-US" altLang="en-US" dirty="0" err="1">
                <a:solidFill>
                  <a:srgbClr val="2D2D2D"/>
                </a:solidFill>
                <a:latin typeface="oxygen"/>
              </a:rPr>
              <a:t>sublenguaje</a:t>
            </a:r>
            <a:r>
              <a:rPr lang="en-US" altLang="en-US" dirty="0">
                <a:solidFill>
                  <a:srgbClr val="2D2D2D"/>
                </a:solidFill>
                <a:latin typeface="oxygen"/>
              </a:rPr>
              <a:t> DQL. Sin embargo, ¿</a:t>
            </a:r>
            <a:r>
              <a:rPr lang="en-US" altLang="en-US" dirty="0" err="1">
                <a:solidFill>
                  <a:srgbClr val="2D2D2D"/>
                </a:solidFill>
                <a:latin typeface="oxygen"/>
              </a:rPr>
              <a:t>qué</a:t>
            </a:r>
            <a:r>
              <a:rPr lang="en-US" altLang="en-US" dirty="0">
                <a:solidFill>
                  <a:srgbClr val="2D2D2D"/>
                </a:solidFill>
                <a:latin typeface="oxygen"/>
              </a:rPr>
              <a:t> </a:t>
            </a:r>
            <a:r>
              <a:rPr lang="en-US" altLang="en-US" dirty="0" err="1">
                <a:solidFill>
                  <a:srgbClr val="2D2D2D"/>
                </a:solidFill>
                <a:latin typeface="oxygen"/>
              </a:rPr>
              <a:t>pasaría</a:t>
            </a:r>
            <a:r>
              <a:rPr lang="en-US" altLang="en-US" dirty="0">
                <a:solidFill>
                  <a:srgbClr val="2D2D2D"/>
                </a:solidFill>
                <a:latin typeface="oxygen"/>
              </a:rPr>
              <a:t> </a:t>
            </a:r>
            <a:r>
              <a:rPr lang="en-US" altLang="en-US" dirty="0" err="1">
                <a:solidFill>
                  <a:srgbClr val="2D2D2D"/>
                </a:solidFill>
                <a:latin typeface="oxygen"/>
              </a:rPr>
              <a:t>si</a:t>
            </a:r>
            <a:r>
              <a:rPr lang="en-US" altLang="en-US" dirty="0">
                <a:solidFill>
                  <a:srgbClr val="2D2D2D"/>
                </a:solidFill>
                <a:latin typeface="oxygen"/>
              </a:rPr>
              <a:t> </a:t>
            </a:r>
            <a:r>
              <a:rPr lang="en-US" altLang="en-US" dirty="0" err="1">
                <a:solidFill>
                  <a:srgbClr val="2D2D2D"/>
                </a:solidFill>
                <a:latin typeface="oxygen"/>
              </a:rPr>
              <a:t>quisiéramos</a:t>
            </a:r>
            <a:r>
              <a:rPr lang="en-US" altLang="en-US" dirty="0">
                <a:solidFill>
                  <a:srgbClr val="2D2D2D"/>
                </a:solidFill>
                <a:latin typeface="oxygen"/>
              </a:rPr>
              <a:t> </a:t>
            </a:r>
            <a:r>
              <a:rPr lang="en-US" altLang="en-US" dirty="0" err="1">
                <a:solidFill>
                  <a:srgbClr val="2D2D2D"/>
                </a:solidFill>
                <a:latin typeface="oxygen"/>
              </a:rPr>
              <a:t>obtener</a:t>
            </a:r>
            <a:r>
              <a:rPr lang="en-US" altLang="en-US" dirty="0">
                <a:solidFill>
                  <a:srgbClr val="2D2D2D"/>
                </a:solidFill>
                <a:latin typeface="oxygen"/>
              </a:rPr>
              <a:t> </a:t>
            </a:r>
            <a:r>
              <a:rPr lang="en-US" altLang="en-US" dirty="0" err="1">
                <a:solidFill>
                  <a:srgbClr val="2D2D2D"/>
                </a:solidFill>
                <a:latin typeface="oxygen"/>
              </a:rPr>
              <a:t>los</a:t>
            </a:r>
            <a:r>
              <a:rPr lang="en-US" altLang="en-US" dirty="0">
                <a:solidFill>
                  <a:srgbClr val="2D2D2D"/>
                </a:solidFill>
                <a:latin typeface="oxygen"/>
              </a:rPr>
              <a:t> </a:t>
            </a:r>
            <a:r>
              <a:rPr lang="en-US" altLang="en-US" dirty="0" err="1">
                <a:solidFill>
                  <a:srgbClr val="2D2D2D"/>
                </a:solidFill>
                <a:latin typeface="oxygen"/>
              </a:rPr>
              <a:t>nombres</a:t>
            </a:r>
            <a:r>
              <a:rPr lang="en-US" altLang="en-US" dirty="0">
                <a:solidFill>
                  <a:srgbClr val="2D2D2D"/>
                </a:solidFill>
                <a:latin typeface="oxygen"/>
              </a:rPr>
              <a:t> de </a:t>
            </a:r>
            <a:r>
              <a:rPr lang="en-US" altLang="en-US" dirty="0" err="1">
                <a:solidFill>
                  <a:srgbClr val="2D2D2D"/>
                </a:solidFill>
                <a:latin typeface="oxygen"/>
              </a:rPr>
              <a:t>todos</a:t>
            </a:r>
            <a:r>
              <a:rPr lang="en-US" altLang="en-US" dirty="0">
                <a:solidFill>
                  <a:srgbClr val="2D2D2D"/>
                </a:solidFill>
                <a:latin typeface="oxygen"/>
              </a:rPr>
              <a:t> </a:t>
            </a:r>
            <a:r>
              <a:rPr lang="en-US" altLang="en-US" dirty="0" err="1">
                <a:solidFill>
                  <a:srgbClr val="2D2D2D"/>
                </a:solidFill>
                <a:latin typeface="oxygen"/>
              </a:rPr>
              <a:t>los</a:t>
            </a:r>
            <a:r>
              <a:rPr lang="en-US" altLang="en-US" dirty="0">
                <a:solidFill>
                  <a:srgbClr val="2D2D2D"/>
                </a:solidFill>
                <a:latin typeface="oxygen"/>
              </a:rPr>
              <a:t> </a:t>
            </a:r>
            <a:r>
              <a:rPr lang="en-US" altLang="en-US" dirty="0" err="1">
                <a:solidFill>
                  <a:srgbClr val="2D2D2D"/>
                </a:solidFill>
                <a:latin typeface="oxygen"/>
              </a:rPr>
              <a:t>usuarios</a:t>
            </a:r>
            <a:r>
              <a:rPr lang="en-US" altLang="en-US" dirty="0">
                <a:solidFill>
                  <a:srgbClr val="2D2D2D"/>
                </a:solidFill>
                <a:latin typeface="oxygen"/>
              </a:rPr>
              <a:t> con un </a:t>
            </a:r>
            <a:r>
              <a:rPr lang="en-US" altLang="en-US" dirty="0" err="1">
                <a:solidFill>
                  <a:srgbClr val="2D2D2D"/>
                </a:solidFill>
                <a:latin typeface="oxygen"/>
              </a:rPr>
              <a:t>saldo</a:t>
            </a:r>
            <a:r>
              <a:rPr lang="en-US" altLang="en-US" dirty="0">
                <a:solidFill>
                  <a:srgbClr val="2D2D2D"/>
                </a:solidFill>
                <a:latin typeface="oxygen"/>
              </a:rPr>
              <a:t> superior a $1500? En ese </a:t>
            </a:r>
            <a:r>
              <a:rPr lang="en-US" altLang="en-US" dirty="0" err="1">
                <a:solidFill>
                  <a:srgbClr val="2D2D2D"/>
                </a:solidFill>
                <a:latin typeface="oxygen"/>
              </a:rPr>
              <a:t>caso</a:t>
            </a:r>
            <a:r>
              <a:rPr lang="en-US" altLang="en-US" dirty="0">
                <a:solidFill>
                  <a:srgbClr val="2D2D2D"/>
                </a:solidFill>
                <a:latin typeface="oxygen"/>
              </a:rPr>
              <a:t>, </a:t>
            </a:r>
            <a:r>
              <a:rPr lang="en-US" altLang="en-US" dirty="0" err="1">
                <a:solidFill>
                  <a:srgbClr val="2D2D2D"/>
                </a:solidFill>
                <a:latin typeface="oxygen"/>
              </a:rPr>
              <a:t>necesitamos</a:t>
            </a:r>
            <a:r>
              <a:rPr lang="en-US" altLang="en-US" dirty="0">
                <a:solidFill>
                  <a:srgbClr val="2D2D2D"/>
                </a:solidFill>
                <a:latin typeface="oxygen"/>
              </a:rPr>
              <a:t> </a:t>
            </a:r>
            <a:r>
              <a:rPr lang="en-US" altLang="en-US" dirty="0" err="1">
                <a:solidFill>
                  <a:srgbClr val="2D2D2D"/>
                </a:solidFill>
                <a:latin typeface="oxygen"/>
              </a:rPr>
              <a:t>añadir</a:t>
            </a:r>
            <a:r>
              <a:rPr lang="en-US" altLang="en-US" dirty="0">
                <a:solidFill>
                  <a:srgbClr val="2D2D2D"/>
                </a:solidFill>
                <a:latin typeface="oxygen"/>
              </a:rPr>
              <a:t> la </a:t>
            </a:r>
            <a:r>
              <a:rPr lang="en-US" altLang="en-US" dirty="0" err="1">
                <a:solidFill>
                  <a:srgbClr val="2D2D2D"/>
                </a:solidFill>
                <a:latin typeface="oxygen"/>
              </a:rPr>
              <a:t>cláusula</a:t>
            </a:r>
            <a:r>
              <a:rPr lang="en-US" altLang="en-US" dirty="0">
                <a:solidFill>
                  <a:srgbClr val="2D2D2D"/>
                </a:solidFill>
                <a:latin typeface="oxygen"/>
              </a:rPr>
              <a:t> </a:t>
            </a:r>
            <a:r>
              <a:rPr lang="en-US" altLang="en-US" dirty="0">
                <a:solidFill>
                  <a:srgbClr val="4424A9"/>
                </a:solidFill>
                <a:latin typeface="fira code"/>
              </a:rPr>
              <a:t>WHERE</a:t>
            </a:r>
            <a:r>
              <a:rPr lang="en-US" altLang="en-US" dirty="0">
                <a:solidFill>
                  <a:srgbClr val="2D2D2D"/>
                </a:solidFill>
                <a:latin typeface="oxygen"/>
              </a:rPr>
              <a:t> a la </a:t>
            </a:r>
            <a:r>
              <a:rPr lang="en-US" altLang="en-US" dirty="0" err="1">
                <a:solidFill>
                  <a:srgbClr val="2D2D2D"/>
                </a:solidFill>
                <a:latin typeface="oxygen"/>
              </a:rPr>
              <a:t>sentencia</a:t>
            </a:r>
            <a:r>
              <a:rPr lang="en-US" altLang="en-US" dirty="0">
                <a:solidFill>
                  <a:srgbClr val="2D2D2D"/>
                </a:solidFill>
                <a:latin typeface="oxygen"/>
              </a:rPr>
              <a:t>:</a:t>
            </a:r>
            <a:r>
              <a:rPr lang="en-US" altLang="en-US" dirty="0"/>
              <a:t> </a:t>
            </a:r>
            <a:endParaRPr lang="en-US" altLang="en-US" dirty="0" smtClean="0"/>
          </a:p>
          <a:p>
            <a:pPr marL="457200" lvl="1" indent="0" eaLnBrk="0" fontAlgn="base" hangingPunct="0">
              <a:lnSpc>
                <a:spcPct val="100000"/>
              </a:lnSpc>
              <a:spcBef>
                <a:spcPct val="0"/>
              </a:spcBef>
              <a:spcAft>
                <a:spcPct val="0"/>
              </a:spcAft>
              <a:buNone/>
            </a:pPr>
            <a:endParaRPr lang="es-PE" altLang="en-US" dirty="0">
              <a:latin typeface="Arial" panose="020B0604020202020204" pitchFamily="34" charset="0"/>
            </a:endParaRPr>
          </a:p>
          <a:p>
            <a:pPr marL="457200" lvl="1" indent="0" eaLnBrk="0" fontAlgn="base" hangingPunct="0">
              <a:lnSpc>
                <a:spcPct val="100000"/>
              </a:lnSpc>
              <a:spcBef>
                <a:spcPct val="0"/>
              </a:spcBef>
              <a:spcAft>
                <a:spcPct val="0"/>
              </a:spcAft>
              <a:buNone/>
            </a:pPr>
            <a:r>
              <a:rPr lang="en-US" altLang="en-US" sz="2000" dirty="0">
                <a:solidFill>
                  <a:srgbClr val="4424A9"/>
                </a:solidFill>
                <a:latin typeface="fira code"/>
              </a:rPr>
              <a:t>SELECT</a:t>
            </a:r>
            <a:r>
              <a:rPr lang="en-US" altLang="en-US" sz="2000" dirty="0">
                <a:solidFill>
                  <a:srgbClr val="000000"/>
                </a:solidFill>
                <a:latin typeface="fira code"/>
              </a:rPr>
              <a:t> </a:t>
            </a:r>
            <a:r>
              <a:rPr lang="en-US" altLang="en-US" sz="2000" dirty="0">
                <a:solidFill>
                  <a:srgbClr val="4424A9"/>
                </a:solidFill>
                <a:latin typeface="fira code"/>
              </a:rPr>
              <a:t>Name</a:t>
            </a:r>
            <a:endParaRPr lang="en-US" altLang="en-US" sz="2000" dirty="0"/>
          </a:p>
          <a:p>
            <a:pPr marL="457200" lvl="1" indent="0" eaLnBrk="0" fontAlgn="base" hangingPunct="0">
              <a:lnSpc>
                <a:spcPct val="100000"/>
              </a:lnSpc>
              <a:spcBef>
                <a:spcPct val="0"/>
              </a:spcBef>
              <a:spcAft>
                <a:spcPct val="0"/>
              </a:spcAft>
              <a:buNone/>
            </a:pPr>
            <a:r>
              <a:rPr lang="en-US" altLang="en-US" sz="2000" dirty="0">
                <a:solidFill>
                  <a:srgbClr val="4424A9"/>
                </a:solidFill>
                <a:latin typeface="fira code"/>
              </a:rPr>
              <a:t>FROM</a:t>
            </a:r>
            <a:r>
              <a:rPr lang="en-US" altLang="en-US" sz="2000" dirty="0">
                <a:solidFill>
                  <a:srgbClr val="000000"/>
                </a:solidFill>
                <a:latin typeface="fira code"/>
              </a:rPr>
              <a:t> Accounts</a:t>
            </a:r>
            <a:endParaRPr lang="en-US" altLang="en-US" sz="2000" dirty="0"/>
          </a:p>
          <a:p>
            <a:pPr marL="457200" lvl="1" indent="0" eaLnBrk="0" fontAlgn="base" hangingPunct="0">
              <a:lnSpc>
                <a:spcPct val="100000"/>
              </a:lnSpc>
              <a:spcBef>
                <a:spcPct val="0"/>
              </a:spcBef>
              <a:spcAft>
                <a:spcPct val="0"/>
              </a:spcAft>
              <a:buNone/>
            </a:pPr>
            <a:r>
              <a:rPr lang="en-US" altLang="en-US" sz="2000" dirty="0">
                <a:solidFill>
                  <a:srgbClr val="4424A9"/>
                </a:solidFill>
                <a:latin typeface="fira code"/>
              </a:rPr>
              <a:t>WHERE</a:t>
            </a:r>
            <a:r>
              <a:rPr lang="en-US" altLang="en-US" sz="2000" dirty="0">
                <a:solidFill>
                  <a:srgbClr val="000000"/>
                </a:solidFill>
                <a:latin typeface="fira code"/>
              </a:rPr>
              <a:t> Balance &gt; 1500</a:t>
            </a:r>
            <a:endParaRPr lang="en-US" altLang="en-US" sz="2000" dirty="0">
              <a:latin typeface="Arial" panose="020B0604020202020204" pitchFamily="34" charset="0"/>
            </a:endParaRPr>
          </a:p>
          <a:p>
            <a:pPr marL="457200" lvl="1" indent="0" eaLnBrk="0" fontAlgn="base" hangingPunct="0">
              <a:lnSpc>
                <a:spcPct val="100000"/>
              </a:lnSpc>
              <a:spcBef>
                <a:spcPct val="0"/>
              </a:spcBef>
              <a:spcAft>
                <a:spcPct val="0"/>
              </a:spcAft>
              <a:buNone/>
            </a:pPr>
            <a:endParaRPr lang="en-US" altLang="en-US" dirty="0">
              <a:latin typeface="Arial" panose="020B0604020202020204" pitchFamily="34" charset="0"/>
            </a:endParaRPr>
          </a:p>
          <a:p>
            <a:pPr marL="457200" lvl="1" indent="0" eaLnBrk="0" fontAlgn="base" hangingPunct="0">
              <a:lnSpc>
                <a:spcPct val="100000"/>
              </a:lnSpc>
              <a:spcBef>
                <a:spcPct val="0"/>
              </a:spcBef>
              <a:spcAft>
                <a:spcPct val="0"/>
              </a:spcAft>
              <a:buNone/>
            </a:pPr>
            <a:endParaRPr lang="es-PE" altLang="en-US" sz="5000" dirty="0" smtClean="0">
              <a:solidFill>
                <a:srgbClr val="000000"/>
              </a:solidFill>
              <a:latin typeface="fira code"/>
            </a:endParaRPr>
          </a:p>
          <a:p>
            <a:pPr marL="457200" lvl="1" indent="0" eaLnBrk="0" fontAlgn="base" hangingPunct="0">
              <a:lnSpc>
                <a:spcPct val="100000"/>
              </a:lnSpc>
              <a:spcBef>
                <a:spcPct val="0"/>
              </a:spcBef>
              <a:spcAft>
                <a:spcPct val="0"/>
              </a:spcAft>
              <a:buNone/>
            </a:pPr>
            <a:endParaRPr lang="es-PE" altLang="en-US" sz="5000" dirty="0">
              <a:solidFill>
                <a:srgbClr val="000000"/>
              </a:solidFill>
              <a:latin typeface="fira code"/>
            </a:endParaRPr>
          </a:p>
          <a:p>
            <a:pPr marL="457200" lvl="1" indent="0" eaLnBrk="0" fontAlgn="base" hangingPunct="0">
              <a:lnSpc>
                <a:spcPct val="100000"/>
              </a:lnSpc>
              <a:spcBef>
                <a:spcPct val="0"/>
              </a:spcBef>
              <a:spcAft>
                <a:spcPct val="0"/>
              </a:spcAft>
              <a:buNone/>
            </a:pPr>
            <a:endParaRPr lang="en-US" altLang="en-US" sz="5000" dirty="0">
              <a:latin typeface="Arial" panose="020B0604020202020204" pitchFamily="34" charset="0"/>
            </a:endParaRPr>
          </a:p>
          <a:p>
            <a:endParaRPr lang="en-US" dirty="0"/>
          </a:p>
        </p:txBody>
      </p:sp>
    </p:spTree>
    <p:extLst>
      <p:ext uri="{BB962C8B-B14F-4D97-AF65-F5344CB8AC3E}">
        <p14:creationId xmlns:p14="http://schemas.microsoft.com/office/powerpoint/2010/main" val="203120879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838200" y="583096"/>
            <a:ext cx="10515600" cy="617262"/>
          </a:xfrm>
        </p:spPr>
        <p:txBody>
          <a:bodyPr>
            <a:normAutofit/>
          </a:bodyPr>
          <a:lstStyle/>
          <a:p>
            <a:r>
              <a:rPr lang="es-MX" sz="3400" b="1" dirty="0" smtClean="0"/>
              <a:t>Ejercicio 2: </a:t>
            </a:r>
            <a:r>
              <a:rPr lang="es-MX" sz="3400" b="1" dirty="0"/>
              <a:t>d</a:t>
            </a:r>
            <a:r>
              <a:rPr lang="es-MX" sz="3400" b="1" dirty="0" smtClean="0"/>
              <a:t>e </a:t>
            </a:r>
            <a:r>
              <a:rPr lang="es-MX" sz="3400" b="1" dirty="0"/>
              <a:t>SQL Server: DDL, DML y DQL</a:t>
            </a:r>
            <a:endParaRPr lang="en-US" sz="3400" b="1" dirty="0"/>
          </a:p>
        </p:txBody>
      </p:sp>
      <p:sp>
        <p:nvSpPr>
          <p:cNvPr id="4" name="Rectangle 1"/>
          <p:cNvSpPr>
            <a:spLocks noGrp="1" noChangeArrowheads="1"/>
          </p:cNvSpPr>
          <p:nvPr>
            <p:ph idx="1"/>
          </p:nvPr>
        </p:nvSpPr>
        <p:spPr bwMode="auto">
          <a:xfrm>
            <a:off x="692425" y="1479901"/>
            <a:ext cx="11128513" cy="50167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smtClean="0">
                <a:ln>
                  <a:noFill/>
                </a:ln>
                <a:solidFill>
                  <a:schemeClr val="tx1"/>
                </a:solidFill>
                <a:effectLst/>
                <a:latin typeface="Arial" panose="020B0604020202020204" pitchFamily="34" charset="0"/>
              </a:rPr>
              <a:t>La </a:t>
            </a:r>
            <a:r>
              <a:rPr kumimoji="0" lang="en-US" altLang="en-US" sz="2000" b="0" i="0" u="none" strike="noStrike" cap="none" normalizeH="0" baseline="0" dirty="0" err="1" smtClean="0">
                <a:ln>
                  <a:noFill/>
                </a:ln>
                <a:solidFill>
                  <a:schemeClr val="tx1"/>
                </a:solidFill>
                <a:effectLst/>
                <a:latin typeface="Arial" panose="020B0604020202020204" pitchFamily="34" charset="0"/>
              </a:rPr>
              <a:t>empresa</a:t>
            </a:r>
            <a:r>
              <a:rPr kumimoji="0" lang="en-US" altLang="en-US" sz="2000" b="0" i="0" u="none" strike="noStrike" cap="none" normalizeH="0" baseline="0" dirty="0" smtClean="0">
                <a:ln>
                  <a:noFill/>
                </a:ln>
                <a:solidFill>
                  <a:schemeClr val="tx1"/>
                </a:solidFill>
                <a:effectLst/>
                <a:latin typeface="Arial" panose="020B0604020202020204" pitchFamily="34" charset="0"/>
              </a:rPr>
              <a:t> </a:t>
            </a:r>
            <a:r>
              <a:rPr kumimoji="0" lang="en-US" altLang="en-US" sz="2000" b="0" i="0" u="none" strike="noStrike" cap="none" normalizeH="0" baseline="0" dirty="0" err="1" smtClean="0">
                <a:ln>
                  <a:noFill/>
                </a:ln>
                <a:solidFill>
                  <a:schemeClr val="tx1"/>
                </a:solidFill>
                <a:effectLst/>
                <a:latin typeface="Arial" panose="020B0604020202020204" pitchFamily="34" charset="0"/>
              </a:rPr>
              <a:t>ficticia</a:t>
            </a:r>
            <a:r>
              <a:rPr kumimoji="0" lang="en-US" altLang="en-US" sz="2000" b="0" i="0" u="none" strike="noStrike" cap="none" normalizeH="0" baseline="0" dirty="0" smtClean="0">
                <a:ln>
                  <a:noFill/>
                </a:ln>
                <a:solidFill>
                  <a:schemeClr val="tx1"/>
                </a:solidFill>
                <a:effectLst/>
                <a:latin typeface="Arial" panose="020B0604020202020204" pitchFamily="34" charset="0"/>
              </a:rPr>
              <a:t> </a:t>
            </a:r>
            <a:r>
              <a:rPr kumimoji="0" lang="en-US" altLang="en-US" sz="2000" b="1" i="0" u="none" strike="noStrike" cap="none" normalizeH="0" baseline="0" dirty="0" smtClean="0">
                <a:ln>
                  <a:noFill/>
                </a:ln>
                <a:solidFill>
                  <a:schemeClr val="tx1"/>
                </a:solidFill>
                <a:effectLst/>
                <a:latin typeface="Arial" panose="020B0604020202020204" pitchFamily="34" charset="0"/>
              </a:rPr>
              <a:t>"</a:t>
            </a:r>
            <a:r>
              <a:rPr kumimoji="0" lang="en-US" altLang="en-US" sz="2000" b="1" i="0" u="none" strike="noStrike" cap="none" normalizeH="0" baseline="0" dirty="0" err="1" smtClean="0">
                <a:ln>
                  <a:noFill/>
                </a:ln>
                <a:solidFill>
                  <a:schemeClr val="tx1"/>
                </a:solidFill>
                <a:effectLst/>
                <a:latin typeface="Arial" panose="020B0604020202020204" pitchFamily="34" charset="0"/>
              </a:rPr>
              <a:t>TechCorp</a:t>
            </a:r>
            <a:r>
              <a:rPr kumimoji="0" lang="en-US" altLang="en-US" sz="2000" b="1" i="0" u="none" strike="noStrike" cap="none" normalizeH="0" baseline="0" dirty="0" smtClean="0">
                <a:ln>
                  <a:noFill/>
                </a:ln>
                <a:solidFill>
                  <a:schemeClr val="tx1"/>
                </a:solidFill>
                <a:effectLst/>
                <a:latin typeface="Arial" panose="020B0604020202020204" pitchFamily="34" charset="0"/>
              </a:rPr>
              <a:t>"</a:t>
            </a:r>
            <a:r>
              <a:rPr kumimoji="0" lang="en-US" altLang="en-US" sz="2000" b="0" i="0" u="none" strike="noStrike" cap="none" normalizeH="0" baseline="0" dirty="0" smtClean="0">
                <a:ln>
                  <a:noFill/>
                </a:ln>
                <a:solidFill>
                  <a:schemeClr val="tx1"/>
                </a:solidFill>
                <a:effectLst/>
                <a:latin typeface="Arial" panose="020B0604020202020204" pitchFamily="34" charset="0"/>
              </a:rPr>
              <a:t> </a:t>
            </a:r>
            <a:r>
              <a:rPr kumimoji="0" lang="en-US" altLang="en-US" sz="2000" b="0" i="0" u="none" strike="noStrike" cap="none" normalizeH="0" baseline="0" dirty="0" err="1" smtClean="0">
                <a:ln>
                  <a:noFill/>
                </a:ln>
                <a:solidFill>
                  <a:schemeClr val="tx1"/>
                </a:solidFill>
                <a:effectLst/>
                <a:latin typeface="Arial" panose="020B0604020202020204" pitchFamily="34" charset="0"/>
              </a:rPr>
              <a:t>necesita</a:t>
            </a:r>
            <a:r>
              <a:rPr kumimoji="0" lang="en-US" altLang="en-US" sz="2000" b="0" i="0" u="none" strike="noStrike" cap="none" normalizeH="0" baseline="0" dirty="0" smtClean="0">
                <a:ln>
                  <a:noFill/>
                </a:ln>
                <a:solidFill>
                  <a:schemeClr val="tx1"/>
                </a:solidFill>
                <a:effectLst/>
                <a:latin typeface="Arial" panose="020B0604020202020204" pitchFamily="34" charset="0"/>
              </a:rPr>
              <a:t> </a:t>
            </a:r>
            <a:r>
              <a:rPr kumimoji="0" lang="en-US" altLang="en-US" sz="2000" b="0" i="0" u="none" strike="noStrike" cap="none" normalizeH="0" baseline="0" dirty="0" err="1" smtClean="0">
                <a:ln>
                  <a:noFill/>
                </a:ln>
                <a:solidFill>
                  <a:schemeClr val="tx1"/>
                </a:solidFill>
                <a:effectLst/>
                <a:latin typeface="Arial" panose="020B0604020202020204" pitchFamily="34" charset="0"/>
              </a:rPr>
              <a:t>una</a:t>
            </a:r>
            <a:r>
              <a:rPr kumimoji="0" lang="en-US" altLang="en-US" sz="2000" b="0" i="0" u="none" strike="noStrike" cap="none" normalizeH="0" baseline="0" dirty="0" smtClean="0">
                <a:ln>
                  <a:noFill/>
                </a:ln>
                <a:solidFill>
                  <a:schemeClr val="tx1"/>
                </a:solidFill>
                <a:effectLst/>
                <a:latin typeface="Arial" panose="020B0604020202020204" pitchFamily="34" charset="0"/>
              </a:rPr>
              <a:t> base de </a:t>
            </a:r>
            <a:r>
              <a:rPr kumimoji="0" lang="en-US" altLang="en-US" sz="2000" b="0" i="0" u="none" strike="noStrike" cap="none" normalizeH="0" baseline="0" dirty="0" err="1" smtClean="0">
                <a:ln>
                  <a:noFill/>
                </a:ln>
                <a:solidFill>
                  <a:schemeClr val="tx1"/>
                </a:solidFill>
                <a:effectLst/>
                <a:latin typeface="Arial" panose="020B0604020202020204" pitchFamily="34" charset="0"/>
              </a:rPr>
              <a:t>datos</a:t>
            </a:r>
            <a:r>
              <a:rPr kumimoji="0" lang="en-US" altLang="en-US" sz="2000" b="0" i="0" u="none" strike="noStrike" cap="none" normalizeH="0" baseline="0" dirty="0" smtClean="0">
                <a:ln>
                  <a:noFill/>
                </a:ln>
                <a:solidFill>
                  <a:schemeClr val="tx1"/>
                </a:solidFill>
                <a:effectLst/>
                <a:latin typeface="Arial" panose="020B0604020202020204" pitchFamily="34" charset="0"/>
              </a:rPr>
              <a:t> para </a:t>
            </a:r>
            <a:r>
              <a:rPr kumimoji="0" lang="en-US" altLang="en-US" sz="2000" b="0" i="0" u="none" strike="noStrike" cap="none" normalizeH="0" baseline="0" dirty="0" err="1" smtClean="0">
                <a:ln>
                  <a:noFill/>
                </a:ln>
                <a:solidFill>
                  <a:schemeClr val="tx1"/>
                </a:solidFill>
                <a:effectLst/>
                <a:latin typeface="Arial" panose="020B0604020202020204" pitchFamily="34" charset="0"/>
              </a:rPr>
              <a:t>almacenar</a:t>
            </a:r>
            <a:r>
              <a:rPr kumimoji="0" lang="en-US" altLang="en-US" sz="2000" b="0" i="0" u="none" strike="noStrike" cap="none" normalizeH="0" baseline="0" dirty="0" smtClean="0">
                <a:ln>
                  <a:noFill/>
                </a:ln>
                <a:solidFill>
                  <a:schemeClr val="tx1"/>
                </a:solidFill>
                <a:effectLst/>
                <a:latin typeface="Arial" panose="020B0604020202020204" pitchFamily="34" charset="0"/>
              </a:rPr>
              <a:t> la </a:t>
            </a:r>
            <a:r>
              <a:rPr kumimoji="0" lang="en-US" altLang="en-US" sz="2000" b="0" i="0" u="none" strike="noStrike" cap="none" normalizeH="0" baseline="0" dirty="0" err="1" smtClean="0">
                <a:ln>
                  <a:noFill/>
                </a:ln>
                <a:solidFill>
                  <a:schemeClr val="tx1"/>
                </a:solidFill>
                <a:effectLst/>
                <a:latin typeface="Arial" panose="020B0604020202020204" pitchFamily="34" charset="0"/>
              </a:rPr>
              <a:t>información</a:t>
            </a:r>
            <a:r>
              <a:rPr kumimoji="0" lang="en-US" altLang="en-US" sz="2000" b="0" i="0" u="none" strike="noStrike" cap="none" normalizeH="0" baseline="0" dirty="0" smtClean="0">
                <a:ln>
                  <a:noFill/>
                </a:ln>
                <a:solidFill>
                  <a:schemeClr val="tx1"/>
                </a:solidFill>
                <a:effectLst/>
                <a:latin typeface="Arial" panose="020B0604020202020204" pitchFamily="34" charset="0"/>
              </a:rPr>
              <a:t> de </a:t>
            </a:r>
            <a:r>
              <a:rPr kumimoji="0" lang="en-US" altLang="en-US" sz="2000" b="0" i="0" u="none" strike="noStrike" cap="none" normalizeH="0" baseline="0" dirty="0" err="1" smtClean="0">
                <a:ln>
                  <a:noFill/>
                </a:ln>
                <a:solidFill>
                  <a:schemeClr val="tx1"/>
                </a:solidFill>
                <a:effectLst/>
                <a:latin typeface="Arial" panose="020B0604020202020204" pitchFamily="34" charset="0"/>
              </a:rPr>
              <a:t>sus</a:t>
            </a:r>
            <a:r>
              <a:rPr kumimoji="0" lang="en-US" altLang="en-US" sz="2000" b="0" i="0" u="none" strike="noStrike" cap="none" normalizeH="0" baseline="0" dirty="0" smtClean="0">
                <a:ln>
                  <a:noFill/>
                </a:ln>
                <a:solidFill>
                  <a:schemeClr val="tx1"/>
                </a:solidFill>
                <a:effectLst/>
                <a:latin typeface="Arial" panose="020B0604020202020204" pitchFamily="34" charset="0"/>
              </a:rPr>
              <a:t> </a:t>
            </a:r>
            <a:r>
              <a:rPr kumimoji="0" lang="en-US" altLang="en-US" sz="2000" b="0" i="0" u="none" strike="noStrike" cap="none" normalizeH="0" baseline="0" dirty="0" err="1" smtClean="0">
                <a:ln>
                  <a:noFill/>
                </a:ln>
                <a:solidFill>
                  <a:schemeClr val="tx1"/>
                </a:solidFill>
                <a:effectLst/>
                <a:latin typeface="Arial" panose="020B0604020202020204" pitchFamily="34" charset="0"/>
              </a:rPr>
              <a:t>departamentos</a:t>
            </a:r>
            <a:r>
              <a:rPr kumimoji="0" lang="en-US" altLang="en-US" sz="2000" b="0" i="0" u="none" strike="noStrike" cap="none" normalizeH="0" baseline="0" dirty="0" smtClean="0">
                <a:ln>
                  <a:noFill/>
                </a:ln>
                <a:solidFill>
                  <a:schemeClr val="tx1"/>
                </a:solidFill>
                <a:effectLst/>
                <a:latin typeface="Arial" panose="020B0604020202020204" pitchFamily="34" charset="0"/>
              </a:rPr>
              <a:t> y </a:t>
            </a:r>
            <a:r>
              <a:rPr kumimoji="0" lang="en-US" altLang="en-US" sz="2000" b="0" i="0" u="none" strike="noStrike" cap="none" normalizeH="0" baseline="0" dirty="0" err="1" smtClean="0">
                <a:ln>
                  <a:noFill/>
                </a:ln>
                <a:solidFill>
                  <a:schemeClr val="tx1"/>
                </a:solidFill>
                <a:effectLst/>
                <a:latin typeface="Arial" panose="020B0604020202020204" pitchFamily="34" charset="0"/>
              </a:rPr>
              <a:t>empleados</a:t>
            </a:r>
            <a:r>
              <a:rPr kumimoji="0" lang="en-US" altLang="en-US" sz="2000" b="0" i="0" u="none" strike="noStrike" cap="none" normalizeH="0" baseline="0" dirty="0" smtClean="0">
                <a:ln>
                  <a:noFill/>
                </a:ln>
                <a:solidFill>
                  <a:schemeClr val="tx1"/>
                </a:solidFill>
                <a:effectLst/>
                <a:latin typeface="Arial" panose="020B0604020202020204" pitchFamily="34" charset="0"/>
              </a:rPr>
              <a:t>.</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smtClean="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AutoNum type="arabicPeriod"/>
              <a:tabLst/>
            </a:pPr>
            <a:r>
              <a:rPr kumimoji="0" lang="en-US" altLang="en-US" sz="2000" b="1" i="0" u="none" strike="noStrike" cap="none" normalizeH="0" baseline="0" dirty="0" err="1" smtClean="0">
                <a:ln>
                  <a:noFill/>
                </a:ln>
                <a:solidFill>
                  <a:schemeClr val="tx1"/>
                </a:solidFill>
                <a:effectLst/>
                <a:latin typeface="Arial" panose="020B0604020202020204" pitchFamily="34" charset="0"/>
              </a:rPr>
              <a:t>Estructura</a:t>
            </a:r>
            <a:r>
              <a:rPr kumimoji="0" lang="en-US" altLang="en-US" sz="2000" b="1" i="0" u="none" strike="noStrike" cap="none" normalizeH="0" baseline="0" dirty="0" smtClean="0">
                <a:ln>
                  <a:noFill/>
                </a:ln>
                <a:solidFill>
                  <a:schemeClr val="tx1"/>
                </a:solidFill>
                <a:effectLst/>
                <a:latin typeface="Arial" panose="020B0604020202020204" pitchFamily="34" charset="0"/>
              </a:rPr>
              <a:t> de la base de datos (DDL):</a:t>
            </a:r>
            <a:r>
              <a:rPr kumimoji="0" lang="en-US" altLang="en-US" sz="2000" b="0" i="0" u="none" strike="noStrike" cap="none" normalizeH="0" baseline="0" dirty="0" smtClean="0">
                <a:ln>
                  <a:noFill/>
                </a:ln>
                <a:solidFill>
                  <a:schemeClr val="tx1"/>
                </a:solidFill>
                <a:effectLst/>
                <a:latin typeface="Arial" panose="020B0604020202020204" pitchFamily="34" charset="0"/>
              </a:rPr>
              <a:t> Se </a:t>
            </a:r>
            <a:r>
              <a:rPr kumimoji="0" lang="en-US" altLang="en-US" sz="2000" b="0" i="0" u="none" strike="noStrike" cap="none" normalizeH="0" baseline="0" dirty="0" err="1" smtClean="0">
                <a:ln>
                  <a:noFill/>
                </a:ln>
                <a:solidFill>
                  <a:schemeClr val="tx1"/>
                </a:solidFill>
                <a:effectLst/>
                <a:latin typeface="Arial" panose="020B0604020202020204" pitchFamily="34" charset="0"/>
              </a:rPr>
              <a:t>crearán</a:t>
            </a:r>
            <a:r>
              <a:rPr kumimoji="0" lang="en-US" altLang="en-US" sz="2000" b="0" i="0" u="none" strike="noStrike" cap="none" normalizeH="0" baseline="0" dirty="0" smtClean="0">
                <a:ln>
                  <a:noFill/>
                </a:ln>
                <a:solidFill>
                  <a:schemeClr val="tx1"/>
                </a:solidFill>
                <a:effectLst/>
                <a:latin typeface="Arial" panose="020B0604020202020204" pitchFamily="34" charset="0"/>
              </a:rPr>
              <a:t> dos </a:t>
            </a:r>
            <a:r>
              <a:rPr kumimoji="0" lang="en-US" altLang="en-US" sz="2000" b="0" i="0" u="none" strike="noStrike" cap="none" normalizeH="0" baseline="0" dirty="0" err="1" smtClean="0">
                <a:ln>
                  <a:noFill/>
                </a:ln>
                <a:solidFill>
                  <a:schemeClr val="tx1"/>
                </a:solidFill>
                <a:effectLst/>
                <a:latin typeface="Arial" panose="020B0604020202020204" pitchFamily="34" charset="0"/>
              </a:rPr>
              <a:t>tablas</a:t>
            </a:r>
            <a:r>
              <a:rPr kumimoji="0" lang="en-US" altLang="en-US" sz="2000" b="0" i="0" u="none" strike="noStrike" cap="none" normalizeH="0" baseline="0" dirty="0" smtClean="0">
                <a:ln>
                  <a:noFill/>
                </a:ln>
                <a:solidFill>
                  <a:schemeClr val="tx1"/>
                </a:solidFill>
                <a:effectLst/>
                <a:latin typeface="Arial" panose="020B0604020202020204" pitchFamily="34" charset="0"/>
              </a:rPr>
              <a:t>: </a:t>
            </a:r>
            <a:r>
              <a:rPr kumimoji="0" lang="en-US" altLang="en-US" sz="2000" b="1" i="1" u="none" strike="noStrike" cap="none" normalizeH="0" baseline="0" dirty="0" err="1" smtClean="0">
                <a:ln>
                  <a:noFill/>
                </a:ln>
                <a:solidFill>
                  <a:schemeClr val="tx1"/>
                </a:solidFill>
                <a:effectLst/>
                <a:latin typeface="Arial Unicode MS"/>
              </a:rPr>
              <a:t>Departamento</a:t>
            </a:r>
            <a:r>
              <a:rPr kumimoji="0" lang="en-US" altLang="en-US" sz="2000" b="0" i="0" u="none" strike="noStrike" cap="none" normalizeH="0" baseline="0" dirty="0" smtClean="0">
                <a:ln>
                  <a:noFill/>
                </a:ln>
                <a:solidFill>
                  <a:schemeClr val="tx1"/>
                </a:solidFill>
                <a:effectLst/>
              </a:rPr>
              <a:t> para </a:t>
            </a:r>
            <a:r>
              <a:rPr kumimoji="0" lang="en-US" altLang="en-US" sz="2000" b="0" i="0" u="none" strike="noStrike" cap="none" normalizeH="0" baseline="0" dirty="0" err="1" smtClean="0">
                <a:ln>
                  <a:noFill/>
                </a:ln>
                <a:solidFill>
                  <a:schemeClr val="tx1"/>
                </a:solidFill>
                <a:effectLst/>
              </a:rPr>
              <a:t>almacenar</a:t>
            </a:r>
            <a:r>
              <a:rPr kumimoji="0" lang="en-US" altLang="en-US" sz="2000" b="0" i="0" u="none" strike="noStrike" cap="none" normalizeH="0" baseline="0" dirty="0" smtClean="0">
                <a:ln>
                  <a:noFill/>
                </a:ln>
                <a:solidFill>
                  <a:schemeClr val="tx1"/>
                </a:solidFill>
                <a:effectLst/>
              </a:rPr>
              <a:t> los </a:t>
            </a:r>
            <a:r>
              <a:rPr kumimoji="0" lang="en-US" altLang="en-US" sz="2000" b="0" i="0" u="none" strike="noStrike" cap="none" normalizeH="0" baseline="0" dirty="0" err="1" smtClean="0">
                <a:ln>
                  <a:noFill/>
                </a:ln>
                <a:solidFill>
                  <a:schemeClr val="tx1"/>
                </a:solidFill>
                <a:effectLst/>
              </a:rPr>
              <a:t>departamentos</a:t>
            </a:r>
            <a:r>
              <a:rPr kumimoji="0" lang="en-US" altLang="en-US" sz="2000" b="0" i="0" u="none" strike="noStrike" cap="none" normalizeH="0" baseline="0" dirty="0" smtClean="0">
                <a:ln>
                  <a:noFill/>
                </a:ln>
                <a:solidFill>
                  <a:schemeClr val="tx1"/>
                </a:solidFill>
                <a:effectLst/>
              </a:rPr>
              <a:t> y </a:t>
            </a:r>
            <a:r>
              <a:rPr kumimoji="0" lang="en-US" altLang="en-US" sz="2000" b="1" i="1" u="none" strike="noStrike" cap="none" normalizeH="0" baseline="0" dirty="0" err="1" smtClean="0">
                <a:ln>
                  <a:noFill/>
                </a:ln>
                <a:solidFill>
                  <a:schemeClr val="tx1"/>
                </a:solidFill>
                <a:effectLst/>
                <a:latin typeface="Arial Unicode MS"/>
              </a:rPr>
              <a:t>Empleado</a:t>
            </a:r>
            <a:r>
              <a:rPr kumimoji="0" lang="en-US" altLang="en-US" sz="2000" b="0" i="0" u="none" strike="noStrike" cap="none" normalizeH="0" baseline="0" dirty="0" smtClean="0">
                <a:ln>
                  <a:noFill/>
                </a:ln>
                <a:solidFill>
                  <a:schemeClr val="tx1"/>
                </a:solidFill>
                <a:effectLst/>
              </a:rPr>
              <a:t> para registrar los datos de los </a:t>
            </a:r>
            <a:r>
              <a:rPr kumimoji="0" lang="en-US" altLang="en-US" sz="2000" b="0" i="0" u="none" strike="noStrike" cap="none" normalizeH="0" baseline="0" dirty="0" err="1" smtClean="0">
                <a:ln>
                  <a:noFill/>
                </a:ln>
                <a:solidFill>
                  <a:schemeClr val="tx1"/>
                </a:solidFill>
                <a:effectLst/>
              </a:rPr>
              <a:t>empleados</a:t>
            </a:r>
            <a:r>
              <a:rPr kumimoji="0" lang="en-US" altLang="en-US" sz="2000" b="0" i="0" u="none" strike="noStrike" cap="none" normalizeH="0" baseline="0" dirty="0" smtClean="0">
                <a:ln>
                  <a:noFill/>
                </a:ln>
                <a:solidFill>
                  <a:schemeClr val="tx1"/>
                </a:solidFill>
                <a:effectLst/>
              </a:rPr>
              <a:t> junto con su </a:t>
            </a:r>
            <a:r>
              <a:rPr kumimoji="0" lang="en-US" altLang="en-US" sz="2000" b="0" i="0" u="none" strike="noStrike" cap="none" normalizeH="0" baseline="0" dirty="0" err="1" smtClean="0">
                <a:ln>
                  <a:noFill/>
                </a:ln>
                <a:solidFill>
                  <a:schemeClr val="tx1"/>
                </a:solidFill>
                <a:effectLst/>
              </a:rPr>
              <a:t>asignación</a:t>
            </a:r>
            <a:r>
              <a:rPr kumimoji="0" lang="en-US" altLang="en-US" sz="2000" b="0" i="0" u="none" strike="noStrike" cap="none" normalizeH="0" baseline="0" dirty="0" smtClean="0">
                <a:ln>
                  <a:noFill/>
                </a:ln>
                <a:solidFill>
                  <a:schemeClr val="tx1"/>
                </a:solidFill>
                <a:effectLst/>
              </a:rPr>
              <a:t> a un </a:t>
            </a:r>
            <a:r>
              <a:rPr kumimoji="0" lang="en-US" altLang="en-US" sz="2000" b="0" i="0" u="none" strike="noStrike" cap="none" normalizeH="0" baseline="0" dirty="0" err="1" smtClean="0">
                <a:ln>
                  <a:noFill/>
                </a:ln>
                <a:solidFill>
                  <a:schemeClr val="tx1"/>
                </a:solidFill>
                <a:effectLst/>
              </a:rPr>
              <a:t>departamento</a:t>
            </a:r>
            <a:r>
              <a:rPr kumimoji="0" lang="en-US" altLang="en-US" sz="2000" b="0" i="0" u="none" strike="noStrike" cap="none" normalizeH="0" baseline="0" dirty="0" smtClean="0">
                <a:ln>
                  <a:noFill/>
                </a:ln>
                <a:solidFill>
                  <a:schemeClr val="tx1"/>
                </a:solidFill>
                <a:effectLst/>
              </a:rPr>
              <a:t> </a:t>
            </a:r>
            <a:r>
              <a:rPr kumimoji="0" lang="en-US" altLang="en-US" sz="2000" b="0" i="0" u="none" strike="noStrike" cap="none" normalizeH="0" baseline="0" dirty="0" err="1" smtClean="0">
                <a:ln>
                  <a:noFill/>
                </a:ln>
                <a:solidFill>
                  <a:schemeClr val="tx1"/>
                </a:solidFill>
                <a:effectLst/>
              </a:rPr>
              <a:t>específico</a:t>
            </a:r>
            <a:r>
              <a:rPr lang="en-US" altLang="en-US" sz="2000" dirty="0" smtClean="0"/>
              <a:t>,; </a:t>
            </a:r>
            <a:r>
              <a:rPr lang="en-US" altLang="en-US" sz="2000" dirty="0" err="1" smtClean="0"/>
              <a:t>campos</a:t>
            </a:r>
            <a:r>
              <a:rPr lang="en-US" altLang="en-US" sz="2000" dirty="0" smtClean="0"/>
              <a:t> de la table </a:t>
            </a:r>
            <a:r>
              <a:rPr lang="en-US" altLang="en-US" sz="2000" b="1" dirty="0" err="1" smtClean="0"/>
              <a:t>Empleados</a:t>
            </a:r>
            <a:r>
              <a:rPr lang="en-US" altLang="en-US" sz="2000" dirty="0" smtClean="0"/>
              <a:t>: </a:t>
            </a:r>
            <a:r>
              <a:rPr lang="en-US" altLang="en-US" sz="2000" b="1" u="sng" dirty="0" smtClean="0"/>
              <a:t>Nombre(</a:t>
            </a:r>
            <a:r>
              <a:rPr lang="en-US" altLang="en-US" sz="2000" b="1" u="sng" dirty="0" err="1" smtClean="0"/>
              <a:t>nvarchar</a:t>
            </a:r>
            <a:r>
              <a:rPr lang="en-US" altLang="en-US" sz="2000" b="1" u="sng" dirty="0" smtClean="0"/>
              <a:t>(100)) not null, </a:t>
            </a:r>
            <a:r>
              <a:rPr lang="en-US" altLang="en-US" sz="2000" b="1" u="sng" dirty="0" err="1" smtClean="0"/>
              <a:t>Apellido</a:t>
            </a:r>
            <a:r>
              <a:rPr lang="en-US" altLang="en-US" sz="2000" b="1" u="sng" dirty="0" smtClean="0"/>
              <a:t>(</a:t>
            </a:r>
            <a:r>
              <a:rPr lang="en-US" altLang="en-US" sz="2000" b="1" u="sng" dirty="0" err="1" smtClean="0"/>
              <a:t>nvarchar</a:t>
            </a:r>
            <a:r>
              <a:rPr lang="en-US" altLang="en-US" sz="2000" b="1" u="sng" dirty="0" smtClean="0"/>
              <a:t>(100)) not null, </a:t>
            </a:r>
            <a:r>
              <a:rPr lang="en-US" altLang="en-US" sz="2000" b="1" u="sng" dirty="0" err="1" smtClean="0"/>
              <a:t>Salario</a:t>
            </a:r>
            <a:r>
              <a:rPr lang="en-US" altLang="en-US" sz="2000" b="1" u="sng" dirty="0" smtClean="0"/>
              <a:t>(decimal(10, 2)) not null, </a:t>
            </a:r>
            <a:r>
              <a:rPr lang="en-US" altLang="en-US" sz="2000" b="1" u="sng" dirty="0" err="1" smtClean="0"/>
              <a:t>Fecha</a:t>
            </a:r>
            <a:r>
              <a:rPr lang="en-US" altLang="en-US" sz="2000" b="1" u="sng" dirty="0" smtClean="0"/>
              <a:t> </a:t>
            </a:r>
            <a:r>
              <a:rPr lang="en-US" altLang="en-US" sz="2000" b="1" u="sng" dirty="0" err="1" smtClean="0"/>
              <a:t>Ingreso</a:t>
            </a:r>
            <a:r>
              <a:rPr lang="en-US" altLang="en-US" sz="2000" b="1" u="sng" dirty="0" smtClean="0"/>
              <a:t> Date not null</a:t>
            </a:r>
            <a:r>
              <a:rPr lang="en-US" altLang="en-US" sz="2000" dirty="0" smtClean="0"/>
              <a:t>; </a:t>
            </a:r>
            <a:r>
              <a:rPr lang="en-US" altLang="en-US" sz="2000" dirty="0" err="1" smtClean="0"/>
              <a:t>establecemos</a:t>
            </a:r>
            <a:r>
              <a:rPr lang="en-US" altLang="en-US" sz="2000" dirty="0" smtClean="0"/>
              <a:t> un </a:t>
            </a:r>
            <a:r>
              <a:rPr lang="en-US" altLang="en-US" sz="2000" b="1" dirty="0" smtClean="0"/>
              <a:t>foreign key </a:t>
            </a:r>
            <a:r>
              <a:rPr lang="en-US" altLang="en-US" sz="2000" b="1" dirty="0" err="1" smtClean="0"/>
              <a:t>DepartamentoId</a:t>
            </a:r>
            <a:r>
              <a:rPr lang="en-US" altLang="en-US" sz="2000" b="1" dirty="0" smtClean="0"/>
              <a:t>.</a:t>
            </a:r>
            <a:endParaRPr kumimoji="0" lang="en-US" altLang="en-US" sz="2000" b="0" i="0" u="none" strike="noStrike" cap="none" normalizeH="0" baseline="0" dirty="0" smtClean="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AutoNum type="arabicPeriod"/>
              <a:tabLst/>
            </a:pPr>
            <a:endParaRPr kumimoji="0" lang="en-US" altLang="en-US" sz="2000" b="0" i="0" u="none" strike="noStrike" cap="none" normalizeH="0" baseline="0" dirty="0" smtClean="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AutoNum type="arabicPeriod" startAt="2"/>
              <a:tabLst/>
            </a:pPr>
            <a:r>
              <a:rPr kumimoji="0" lang="en-US" altLang="en-US" sz="2000" b="1" i="0" u="none" strike="noStrike" cap="none" normalizeH="0" baseline="0" dirty="0" err="1" smtClean="0">
                <a:ln>
                  <a:noFill/>
                </a:ln>
                <a:solidFill>
                  <a:schemeClr val="tx1"/>
                </a:solidFill>
                <a:effectLst/>
                <a:latin typeface="Arial" panose="020B0604020202020204" pitchFamily="34" charset="0"/>
              </a:rPr>
              <a:t>Manipulación</a:t>
            </a:r>
            <a:r>
              <a:rPr kumimoji="0" lang="en-US" altLang="en-US" sz="2000" b="1" i="0" u="none" strike="noStrike" cap="none" normalizeH="0" baseline="0" dirty="0" smtClean="0">
                <a:ln>
                  <a:noFill/>
                </a:ln>
                <a:solidFill>
                  <a:schemeClr val="tx1"/>
                </a:solidFill>
                <a:effectLst/>
                <a:latin typeface="Arial" panose="020B0604020202020204" pitchFamily="34" charset="0"/>
              </a:rPr>
              <a:t> de </a:t>
            </a:r>
            <a:r>
              <a:rPr kumimoji="0" lang="en-US" altLang="en-US" sz="2000" b="1" i="0" u="none" strike="noStrike" cap="none" normalizeH="0" baseline="0" dirty="0" err="1" smtClean="0">
                <a:ln>
                  <a:noFill/>
                </a:ln>
                <a:solidFill>
                  <a:schemeClr val="tx1"/>
                </a:solidFill>
                <a:effectLst/>
                <a:latin typeface="Arial" panose="020B0604020202020204" pitchFamily="34" charset="0"/>
              </a:rPr>
              <a:t>datos</a:t>
            </a:r>
            <a:r>
              <a:rPr kumimoji="0" lang="en-US" altLang="en-US" sz="2000" b="1" i="0" u="none" strike="noStrike" cap="none" normalizeH="0" baseline="0" dirty="0" smtClean="0">
                <a:ln>
                  <a:noFill/>
                </a:ln>
                <a:solidFill>
                  <a:schemeClr val="tx1"/>
                </a:solidFill>
                <a:effectLst/>
                <a:latin typeface="Arial" panose="020B0604020202020204" pitchFamily="34" charset="0"/>
              </a:rPr>
              <a:t> (DML):</a:t>
            </a:r>
            <a:r>
              <a:rPr kumimoji="0" lang="en-US" altLang="en-US" sz="2000" b="0" i="0" u="none" strike="noStrike" cap="none" normalizeH="0" baseline="0" dirty="0" smtClean="0">
                <a:ln>
                  <a:noFill/>
                </a:ln>
                <a:solidFill>
                  <a:schemeClr val="tx1"/>
                </a:solidFill>
                <a:effectLst/>
                <a:latin typeface="Arial" panose="020B0604020202020204" pitchFamily="34" charset="0"/>
              </a:rPr>
              <a:t> </a:t>
            </a:r>
            <a:r>
              <a:rPr kumimoji="0" lang="en-US" altLang="en-US" sz="2000" b="0" i="0" u="none" strike="noStrike" cap="none" normalizeH="0" baseline="0" dirty="0" err="1" smtClean="0">
                <a:ln>
                  <a:noFill/>
                </a:ln>
                <a:solidFill>
                  <a:schemeClr val="tx1"/>
                </a:solidFill>
                <a:effectLst/>
                <a:latin typeface="Arial" panose="020B0604020202020204" pitchFamily="34" charset="0"/>
              </a:rPr>
              <a:t>Insertaremos</a:t>
            </a:r>
            <a:r>
              <a:rPr kumimoji="0" lang="en-US" altLang="en-US" sz="2000" b="0" i="0" u="none" strike="noStrike" cap="none" normalizeH="0" baseline="0" dirty="0" smtClean="0">
                <a:ln>
                  <a:noFill/>
                </a:ln>
                <a:solidFill>
                  <a:schemeClr val="tx1"/>
                </a:solidFill>
                <a:effectLst/>
                <a:latin typeface="Arial" panose="020B0604020202020204" pitchFamily="34" charset="0"/>
              </a:rPr>
              <a:t> </a:t>
            </a:r>
            <a:r>
              <a:rPr kumimoji="0" lang="en-US" altLang="en-US" sz="2000" b="0" i="0" u="none" strike="noStrike" cap="none" normalizeH="0" baseline="0" dirty="0" err="1" smtClean="0">
                <a:ln>
                  <a:noFill/>
                </a:ln>
                <a:solidFill>
                  <a:schemeClr val="tx1"/>
                </a:solidFill>
                <a:effectLst/>
                <a:latin typeface="Arial" panose="020B0604020202020204" pitchFamily="34" charset="0"/>
              </a:rPr>
              <a:t>varios</a:t>
            </a:r>
            <a:r>
              <a:rPr kumimoji="0" lang="en-US" altLang="en-US" sz="2000" b="0" i="0" u="none" strike="noStrike" cap="none" normalizeH="0" baseline="0" dirty="0" smtClean="0">
                <a:ln>
                  <a:noFill/>
                </a:ln>
                <a:solidFill>
                  <a:schemeClr val="tx1"/>
                </a:solidFill>
                <a:effectLst/>
                <a:latin typeface="Arial" panose="020B0604020202020204" pitchFamily="34" charset="0"/>
              </a:rPr>
              <a:t> </a:t>
            </a:r>
            <a:r>
              <a:rPr kumimoji="0" lang="en-US" altLang="en-US" sz="2000" b="0" i="0" u="none" strike="noStrike" cap="none" normalizeH="0" baseline="0" dirty="0" err="1" smtClean="0">
                <a:ln>
                  <a:noFill/>
                </a:ln>
                <a:solidFill>
                  <a:schemeClr val="tx1"/>
                </a:solidFill>
                <a:effectLst/>
                <a:latin typeface="Arial" panose="020B0604020202020204" pitchFamily="34" charset="0"/>
              </a:rPr>
              <a:t>departamentos</a:t>
            </a:r>
            <a:r>
              <a:rPr kumimoji="0" lang="en-US" altLang="en-US" sz="2000" b="0" i="0" u="none" strike="noStrike" cap="none" normalizeH="0" baseline="0" dirty="0" smtClean="0">
                <a:ln>
                  <a:noFill/>
                </a:ln>
                <a:solidFill>
                  <a:schemeClr val="tx1"/>
                </a:solidFill>
                <a:effectLst/>
                <a:latin typeface="Arial" panose="020B0604020202020204" pitchFamily="34" charset="0"/>
              </a:rPr>
              <a:t> y </a:t>
            </a:r>
            <a:r>
              <a:rPr kumimoji="0" lang="en-US" altLang="en-US" sz="2000" b="0" i="0" u="none" strike="noStrike" cap="none" normalizeH="0" baseline="0" dirty="0" err="1" smtClean="0">
                <a:ln>
                  <a:noFill/>
                </a:ln>
                <a:solidFill>
                  <a:schemeClr val="tx1"/>
                </a:solidFill>
                <a:effectLst/>
                <a:latin typeface="Arial" panose="020B0604020202020204" pitchFamily="34" charset="0"/>
              </a:rPr>
              <a:t>empleados</a:t>
            </a:r>
            <a:r>
              <a:rPr kumimoji="0" lang="en-US" altLang="en-US" sz="2000" b="0" i="0" u="none" strike="noStrike" cap="none" normalizeH="0" baseline="0" dirty="0" smtClean="0">
                <a:ln>
                  <a:noFill/>
                </a:ln>
                <a:solidFill>
                  <a:schemeClr val="tx1"/>
                </a:solidFill>
                <a:effectLst/>
                <a:latin typeface="Arial" panose="020B0604020202020204" pitchFamily="34" charset="0"/>
              </a:rPr>
              <a:t>, </a:t>
            </a:r>
            <a:r>
              <a:rPr kumimoji="0" lang="en-US" altLang="en-US" sz="2000" b="0" i="0" u="none" strike="noStrike" cap="none" normalizeH="0" baseline="0" dirty="0" err="1" smtClean="0">
                <a:ln>
                  <a:noFill/>
                </a:ln>
                <a:solidFill>
                  <a:schemeClr val="tx1"/>
                </a:solidFill>
                <a:effectLst/>
                <a:latin typeface="Arial" panose="020B0604020202020204" pitchFamily="34" charset="0"/>
              </a:rPr>
              <a:t>actualizaremos</a:t>
            </a:r>
            <a:r>
              <a:rPr kumimoji="0" lang="en-US" altLang="en-US" sz="2000" b="0" i="0" u="none" strike="noStrike" cap="none" normalizeH="0" baseline="0" dirty="0" smtClean="0">
                <a:ln>
                  <a:noFill/>
                </a:ln>
                <a:solidFill>
                  <a:schemeClr val="tx1"/>
                </a:solidFill>
                <a:effectLst/>
                <a:latin typeface="Arial" panose="020B0604020202020204" pitchFamily="34" charset="0"/>
              </a:rPr>
              <a:t> el </a:t>
            </a:r>
            <a:r>
              <a:rPr kumimoji="0" lang="en-US" altLang="en-US" sz="2000" b="0" i="0" u="none" strike="noStrike" cap="none" normalizeH="0" baseline="0" dirty="0" err="1" smtClean="0">
                <a:ln>
                  <a:noFill/>
                </a:ln>
                <a:solidFill>
                  <a:schemeClr val="tx1"/>
                </a:solidFill>
                <a:effectLst/>
                <a:latin typeface="Arial" panose="020B0604020202020204" pitchFamily="34" charset="0"/>
              </a:rPr>
              <a:t>salario</a:t>
            </a:r>
            <a:r>
              <a:rPr kumimoji="0" lang="en-US" altLang="en-US" sz="2000" b="0" i="0" u="none" strike="noStrike" cap="none" normalizeH="0" baseline="0" dirty="0" smtClean="0">
                <a:ln>
                  <a:noFill/>
                </a:ln>
                <a:solidFill>
                  <a:schemeClr val="tx1"/>
                </a:solidFill>
                <a:effectLst/>
                <a:latin typeface="Arial" panose="020B0604020202020204" pitchFamily="34" charset="0"/>
              </a:rPr>
              <a:t> de un </a:t>
            </a:r>
            <a:r>
              <a:rPr kumimoji="0" lang="en-US" altLang="en-US" sz="2000" b="0" i="0" u="none" strike="noStrike" cap="none" normalizeH="0" baseline="0" dirty="0" err="1" smtClean="0">
                <a:ln>
                  <a:noFill/>
                </a:ln>
                <a:solidFill>
                  <a:schemeClr val="tx1"/>
                </a:solidFill>
                <a:effectLst/>
                <a:latin typeface="Arial" panose="020B0604020202020204" pitchFamily="34" charset="0"/>
              </a:rPr>
              <a:t>empleado</a:t>
            </a:r>
            <a:r>
              <a:rPr kumimoji="0" lang="en-US" altLang="en-US" sz="2000" b="0" i="0" u="none" strike="noStrike" cap="none" normalizeH="0" baseline="0" dirty="0" smtClean="0">
                <a:ln>
                  <a:noFill/>
                </a:ln>
                <a:solidFill>
                  <a:schemeClr val="tx1"/>
                </a:solidFill>
                <a:effectLst/>
                <a:latin typeface="Arial" panose="020B0604020202020204" pitchFamily="34" charset="0"/>
              </a:rPr>
              <a:t> </a:t>
            </a:r>
            <a:r>
              <a:rPr kumimoji="0" lang="en-US" altLang="en-US" sz="2000" b="0" i="0" u="none" strike="noStrike" cap="none" normalizeH="0" baseline="0" dirty="0" err="1" smtClean="0">
                <a:ln>
                  <a:noFill/>
                </a:ln>
                <a:solidFill>
                  <a:schemeClr val="tx1"/>
                </a:solidFill>
                <a:effectLst/>
                <a:latin typeface="Arial" panose="020B0604020202020204" pitchFamily="34" charset="0"/>
              </a:rPr>
              <a:t>específico</a:t>
            </a:r>
            <a:r>
              <a:rPr kumimoji="0" lang="en-US" altLang="en-US" sz="2000" b="0" i="0" u="none" strike="noStrike" cap="none" normalizeH="0" baseline="0" dirty="0" smtClean="0">
                <a:ln>
                  <a:noFill/>
                </a:ln>
                <a:solidFill>
                  <a:schemeClr val="tx1"/>
                </a:solidFill>
                <a:effectLst/>
                <a:latin typeface="Arial" panose="020B0604020202020204" pitchFamily="34" charset="0"/>
              </a:rPr>
              <a:t>, y </a:t>
            </a:r>
            <a:r>
              <a:rPr kumimoji="0" lang="en-US" altLang="en-US" sz="2000" b="0" i="0" u="none" strike="noStrike" cap="none" normalizeH="0" baseline="0" dirty="0" err="1" smtClean="0">
                <a:ln>
                  <a:noFill/>
                </a:ln>
                <a:solidFill>
                  <a:schemeClr val="tx1"/>
                </a:solidFill>
                <a:effectLst/>
                <a:latin typeface="Arial" panose="020B0604020202020204" pitchFamily="34" charset="0"/>
              </a:rPr>
              <a:t>eliminaremos</a:t>
            </a:r>
            <a:r>
              <a:rPr kumimoji="0" lang="en-US" altLang="en-US" sz="2000" b="0" i="0" u="none" strike="noStrike" cap="none" normalizeH="0" baseline="0" dirty="0" smtClean="0">
                <a:ln>
                  <a:noFill/>
                </a:ln>
                <a:solidFill>
                  <a:schemeClr val="tx1"/>
                </a:solidFill>
                <a:effectLst/>
                <a:latin typeface="Arial" panose="020B0604020202020204" pitchFamily="34" charset="0"/>
              </a:rPr>
              <a:t> un </a:t>
            </a:r>
            <a:r>
              <a:rPr kumimoji="0" lang="en-US" altLang="en-US" sz="2000" b="0" i="0" u="none" strike="noStrike" cap="none" normalizeH="0" baseline="0" dirty="0" err="1" smtClean="0">
                <a:ln>
                  <a:noFill/>
                </a:ln>
                <a:solidFill>
                  <a:schemeClr val="tx1"/>
                </a:solidFill>
                <a:effectLst/>
                <a:latin typeface="Arial" panose="020B0604020202020204" pitchFamily="34" charset="0"/>
              </a:rPr>
              <a:t>departamento</a:t>
            </a:r>
            <a:r>
              <a:rPr kumimoji="0" lang="en-US" altLang="en-US" sz="2000" b="0" i="0" u="none" strike="noStrike" cap="none" normalizeH="0" baseline="0" dirty="0" smtClean="0">
                <a:ln>
                  <a:noFill/>
                </a:ln>
                <a:solidFill>
                  <a:schemeClr val="tx1"/>
                </a:solidFill>
                <a:effectLst/>
                <a:latin typeface="Arial" panose="020B0604020202020204" pitchFamily="34" charset="0"/>
              </a:rPr>
              <a:t> que no </a:t>
            </a:r>
            <a:r>
              <a:rPr kumimoji="0" lang="en-US" altLang="en-US" sz="2000" b="0" i="0" u="none" strike="noStrike" cap="none" normalizeH="0" baseline="0" dirty="0" err="1" smtClean="0">
                <a:ln>
                  <a:noFill/>
                </a:ln>
                <a:solidFill>
                  <a:schemeClr val="tx1"/>
                </a:solidFill>
                <a:effectLst/>
                <a:latin typeface="Arial" panose="020B0604020202020204" pitchFamily="34" charset="0"/>
              </a:rPr>
              <a:t>tiene</a:t>
            </a:r>
            <a:r>
              <a:rPr kumimoji="0" lang="en-US" altLang="en-US" sz="2000" b="0" i="0" u="none" strike="noStrike" cap="none" normalizeH="0" baseline="0" dirty="0" smtClean="0">
                <a:ln>
                  <a:noFill/>
                </a:ln>
                <a:solidFill>
                  <a:schemeClr val="tx1"/>
                </a:solidFill>
                <a:effectLst/>
                <a:latin typeface="Arial" panose="020B0604020202020204" pitchFamily="34" charset="0"/>
              </a:rPr>
              <a:t> </a:t>
            </a:r>
            <a:r>
              <a:rPr kumimoji="0" lang="en-US" altLang="en-US" sz="2000" b="0" i="0" u="none" strike="noStrike" cap="none" normalizeH="0" baseline="0" dirty="0" err="1" smtClean="0">
                <a:ln>
                  <a:noFill/>
                </a:ln>
                <a:solidFill>
                  <a:schemeClr val="tx1"/>
                </a:solidFill>
                <a:effectLst/>
                <a:latin typeface="Arial" panose="020B0604020202020204" pitchFamily="34" charset="0"/>
              </a:rPr>
              <a:t>empleados</a:t>
            </a:r>
            <a:r>
              <a:rPr kumimoji="0" lang="en-US" altLang="en-US" sz="2000" b="0" i="0" u="none" strike="noStrike" cap="none" normalizeH="0" baseline="0" dirty="0" smtClean="0">
                <a:ln>
                  <a:noFill/>
                </a:ln>
                <a:solidFill>
                  <a:schemeClr val="tx1"/>
                </a:solidFill>
                <a:effectLst/>
                <a:latin typeface="Arial" panose="020B0604020202020204" pitchFamily="34" charset="0"/>
              </a:rPr>
              <a:t>.</a:t>
            </a:r>
          </a:p>
          <a:p>
            <a:pPr marL="0" marR="0" lvl="0" indent="0" algn="just" defTabSz="914400" rtl="0" eaLnBrk="0" fontAlgn="base" latinLnBrk="0" hangingPunct="0">
              <a:lnSpc>
                <a:spcPct val="100000"/>
              </a:lnSpc>
              <a:spcBef>
                <a:spcPct val="0"/>
              </a:spcBef>
              <a:spcAft>
                <a:spcPct val="0"/>
              </a:spcAft>
              <a:buClrTx/>
              <a:buSzTx/>
              <a:buFontTx/>
              <a:buAutoNum type="arabicPeriod" startAt="2"/>
              <a:tabLst/>
            </a:pPr>
            <a:endParaRPr kumimoji="0" lang="en-US" altLang="en-US" sz="2000" b="0" i="0" u="none" strike="noStrike" cap="none" normalizeH="0" baseline="0" dirty="0" smtClean="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AutoNum type="arabicPeriod" startAt="3"/>
              <a:tabLst/>
            </a:pPr>
            <a:r>
              <a:rPr kumimoji="0" lang="en-US" altLang="en-US" sz="2000" b="1" i="0" u="none" strike="noStrike" cap="none" normalizeH="0" baseline="0" dirty="0" err="1" smtClean="0">
                <a:ln>
                  <a:noFill/>
                </a:ln>
                <a:solidFill>
                  <a:schemeClr val="tx1"/>
                </a:solidFill>
                <a:effectLst/>
                <a:latin typeface="Arial" panose="020B0604020202020204" pitchFamily="34" charset="0"/>
              </a:rPr>
              <a:t>Consulta</a:t>
            </a:r>
            <a:r>
              <a:rPr kumimoji="0" lang="en-US" altLang="en-US" sz="2000" b="1" i="0" u="none" strike="noStrike" cap="none" normalizeH="0" baseline="0" dirty="0" smtClean="0">
                <a:ln>
                  <a:noFill/>
                </a:ln>
                <a:solidFill>
                  <a:schemeClr val="tx1"/>
                </a:solidFill>
                <a:effectLst/>
                <a:latin typeface="Arial" panose="020B0604020202020204" pitchFamily="34" charset="0"/>
              </a:rPr>
              <a:t> de </a:t>
            </a:r>
            <a:r>
              <a:rPr kumimoji="0" lang="en-US" altLang="en-US" sz="2000" b="1" i="0" u="none" strike="noStrike" cap="none" normalizeH="0" baseline="0" dirty="0" err="1" smtClean="0">
                <a:ln>
                  <a:noFill/>
                </a:ln>
                <a:solidFill>
                  <a:schemeClr val="tx1"/>
                </a:solidFill>
                <a:effectLst/>
                <a:latin typeface="Arial" panose="020B0604020202020204" pitchFamily="34" charset="0"/>
              </a:rPr>
              <a:t>datos</a:t>
            </a:r>
            <a:r>
              <a:rPr kumimoji="0" lang="en-US" altLang="en-US" sz="2000" b="1" i="0" u="none" strike="noStrike" cap="none" normalizeH="0" baseline="0" dirty="0" smtClean="0">
                <a:ln>
                  <a:noFill/>
                </a:ln>
                <a:solidFill>
                  <a:schemeClr val="tx1"/>
                </a:solidFill>
                <a:effectLst/>
                <a:latin typeface="Arial" panose="020B0604020202020204" pitchFamily="34" charset="0"/>
              </a:rPr>
              <a:t> (DQL):</a:t>
            </a:r>
            <a:r>
              <a:rPr kumimoji="0" lang="en-US" altLang="en-US" sz="2000" b="0" i="0" u="none" strike="noStrike" cap="none" normalizeH="0" baseline="0" dirty="0" smtClean="0">
                <a:ln>
                  <a:noFill/>
                </a:ln>
                <a:solidFill>
                  <a:schemeClr val="tx1"/>
                </a:solidFill>
                <a:effectLst/>
                <a:latin typeface="Arial" panose="020B0604020202020204" pitchFamily="34" charset="0"/>
              </a:rPr>
              <a:t> </a:t>
            </a:r>
            <a:r>
              <a:rPr kumimoji="0" lang="en-US" altLang="en-US" sz="2000" b="0" i="0" u="none" strike="noStrike" cap="none" normalizeH="0" baseline="0" dirty="0" err="1" smtClean="0">
                <a:ln>
                  <a:noFill/>
                </a:ln>
                <a:solidFill>
                  <a:schemeClr val="tx1"/>
                </a:solidFill>
                <a:effectLst/>
                <a:latin typeface="Arial" panose="020B0604020202020204" pitchFamily="34" charset="0"/>
              </a:rPr>
              <a:t>Consultaremos</a:t>
            </a:r>
            <a:r>
              <a:rPr kumimoji="0" lang="en-US" altLang="en-US" sz="2000" b="0" i="0" u="none" strike="noStrike" cap="none" normalizeH="0" baseline="0" dirty="0" smtClean="0">
                <a:ln>
                  <a:noFill/>
                </a:ln>
                <a:solidFill>
                  <a:schemeClr val="tx1"/>
                </a:solidFill>
                <a:effectLst/>
                <a:latin typeface="Arial" panose="020B0604020202020204" pitchFamily="34" charset="0"/>
              </a:rPr>
              <a:t> la </a:t>
            </a:r>
            <a:r>
              <a:rPr kumimoji="0" lang="en-US" altLang="en-US" sz="2000" b="0" i="0" u="none" strike="noStrike" cap="none" normalizeH="0" baseline="0" dirty="0" err="1" smtClean="0">
                <a:ln>
                  <a:noFill/>
                </a:ln>
                <a:solidFill>
                  <a:schemeClr val="tx1"/>
                </a:solidFill>
                <a:effectLst/>
                <a:latin typeface="Arial" panose="020B0604020202020204" pitchFamily="34" charset="0"/>
              </a:rPr>
              <a:t>lista</a:t>
            </a:r>
            <a:r>
              <a:rPr kumimoji="0" lang="en-US" altLang="en-US" sz="2000" b="0" i="0" u="none" strike="noStrike" cap="none" normalizeH="0" baseline="0" dirty="0" smtClean="0">
                <a:ln>
                  <a:noFill/>
                </a:ln>
                <a:solidFill>
                  <a:schemeClr val="tx1"/>
                </a:solidFill>
                <a:effectLst/>
                <a:latin typeface="Arial" panose="020B0604020202020204" pitchFamily="34" charset="0"/>
              </a:rPr>
              <a:t> de </a:t>
            </a:r>
            <a:r>
              <a:rPr kumimoji="0" lang="en-US" altLang="en-US" sz="2000" b="0" i="0" u="none" strike="noStrike" cap="none" normalizeH="0" baseline="0" dirty="0" err="1" smtClean="0">
                <a:ln>
                  <a:noFill/>
                </a:ln>
                <a:solidFill>
                  <a:schemeClr val="tx1"/>
                </a:solidFill>
                <a:effectLst/>
                <a:latin typeface="Arial" panose="020B0604020202020204" pitchFamily="34" charset="0"/>
              </a:rPr>
              <a:t>empleados</a:t>
            </a:r>
            <a:r>
              <a:rPr kumimoji="0" lang="en-US" altLang="en-US" sz="2000" b="0" i="0" u="none" strike="noStrike" cap="none" normalizeH="0" baseline="0" dirty="0" smtClean="0">
                <a:ln>
                  <a:noFill/>
                </a:ln>
                <a:solidFill>
                  <a:schemeClr val="tx1"/>
                </a:solidFill>
                <a:effectLst/>
                <a:latin typeface="Arial" panose="020B0604020202020204" pitchFamily="34" charset="0"/>
              </a:rPr>
              <a:t> con </a:t>
            </a:r>
            <a:r>
              <a:rPr kumimoji="0" lang="en-US" altLang="en-US" sz="2000" b="0" i="0" u="none" strike="noStrike" cap="none" normalizeH="0" baseline="0" dirty="0" err="1" smtClean="0">
                <a:ln>
                  <a:noFill/>
                </a:ln>
                <a:solidFill>
                  <a:schemeClr val="tx1"/>
                </a:solidFill>
                <a:effectLst/>
                <a:latin typeface="Arial" panose="020B0604020202020204" pitchFamily="34" charset="0"/>
              </a:rPr>
              <a:t>detalles</a:t>
            </a:r>
            <a:r>
              <a:rPr kumimoji="0" lang="en-US" altLang="en-US" sz="2000" b="0" i="0" u="none" strike="noStrike" cap="none" normalizeH="0" baseline="0" dirty="0" smtClean="0">
                <a:ln>
                  <a:noFill/>
                </a:ln>
                <a:solidFill>
                  <a:schemeClr val="tx1"/>
                </a:solidFill>
                <a:effectLst/>
                <a:latin typeface="Arial" panose="020B0604020202020204" pitchFamily="34" charset="0"/>
              </a:rPr>
              <a:t> de </a:t>
            </a:r>
            <a:r>
              <a:rPr kumimoji="0" lang="en-US" altLang="en-US" sz="2000" b="0" i="0" u="none" strike="noStrike" cap="none" normalizeH="0" baseline="0" dirty="0" err="1" smtClean="0">
                <a:ln>
                  <a:noFill/>
                </a:ln>
                <a:solidFill>
                  <a:schemeClr val="tx1"/>
                </a:solidFill>
                <a:effectLst/>
                <a:latin typeface="Arial" panose="020B0604020202020204" pitchFamily="34" charset="0"/>
              </a:rPr>
              <a:t>su</a:t>
            </a:r>
            <a:r>
              <a:rPr kumimoji="0" lang="en-US" altLang="en-US" sz="2000" b="0" i="0" u="none" strike="noStrike" cap="none" normalizeH="0" baseline="0" dirty="0" smtClean="0">
                <a:ln>
                  <a:noFill/>
                </a:ln>
                <a:solidFill>
                  <a:schemeClr val="tx1"/>
                </a:solidFill>
                <a:effectLst/>
                <a:latin typeface="Arial" panose="020B0604020202020204" pitchFamily="34" charset="0"/>
              </a:rPr>
              <a:t> </a:t>
            </a:r>
            <a:r>
              <a:rPr kumimoji="0" lang="en-US" altLang="en-US" sz="2000" b="0" i="0" u="none" strike="noStrike" cap="none" normalizeH="0" baseline="0" dirty="0" err="1" smtClean="0">
                <a:ln>
                  <a:noFill/>
                </a:ln>
                <a:solidFill>
                  <a:schemeClr val="tx1"/>
                </a:solidFill>
                <a:effectLst/>
                <a:latin typeface="Arial" panose="020B0604020202020204" pitchFamily="34" charset="0"/>
              </a:rPr>
              <a:t>departamento</a:t>
            </a:r>
            <a:r>
              <a:rPr kumimoji="0" lang="en-US" altLang="en-US" sz="2000" b="0" i="0" u="none" strike="noStrike" cap="none" normalizeH="0" baseline="0" dirty="0" smtClean="0">
                <a:ln>
                  <a:noFill/>
                </a:ln>
                <a:solidFill>
                  <a:schemeClr val="tx1"/>
                </a:solidFill>
                <a:effectLst/>
                <a:latin typeface="Arial" panose="020B0604020202020204" pitchFamily="34" charset="0"/>
              </a:rPr>
              <a:t>, </a:t>
            </a:r>
            <a:r>
              <a:rPr kumimoji="0" lang="en-US" altLang="en-US" sz="2000" b="0" i="0" u="none" strike="noStrike" cap="none" normalizeH="0" baseline="0" dirty="0" err="1" smtClean="0">
                <a:ln>
                  <a:noFill/>
                </a:ln>
                <a:solidFill>
                  <a:schemeClr val="tx1"/>
                </a:solidFill>
                <a:effectLst/>
                <a:latin typeface="Arial" panose="020B0604020202020204" pitchFamily="34" charset="0"/>
              </a:rPr>
              <a:t>ordenaremos</a:t>
            </a:r>
            <a:r>
              <a:rPr kumimoji="0" lang="en-US" altLang="en-US" sz="2000" b="0" i="0" u="none" strike="noStrike" cap="none" normalizeH="0" baseline="0" dirty="0" smtClean="0">
                <a:ln>
                  <a:noFill/>
                </a:ln>
                <a:solidFill>
                  <a:schemeClr val="tx1"/>
                </a:solidFill>
                <a:effectLst/>
                <a:latin typeface="Arial" panose="020B0604020202020204" pitchFamily="34" charset="0"/>
              </a:rPr>
              <a:t> </a:t>
            </a:r>
            <a:r>
              <a:rPr kumimoji="0" lang="en-US" altLang="en-US" sz="2000" b="0" i="0" u="none" strike="noStrike" cap="none" normalizeH="0" baseline="0" dirty="0" err="1" smtClean="0">
                <a:ln>
                  <a:noFill/>
                </a:ln>
                <a:solidFill>
                  <a:schemeClr val="tx1"/>
                </a:solidFill>
                <a:effectLst/>
                <a:latin typeface="Arial" panose="020B0604020202020204" pitchFamily="34" charset="0"/>
              </a:rPr>
              <a:t>los</a:t>
            </a:r>
            <a:r>
              <a:rPr kumimoji="0" lang="en-US" altLang="en-US" sz="2000" b="0" i="0" u="none" strike="noStrike" cap="none" normalizeH="0" baseline="0" dirty="0" smtClean="0">
                <a:ln>
                  <a:noFill/>
                </a:ln>
                <a:solidFill>
                  <a:schemeClr val="tx1"/>
                </a:solidFill>
                <a:effectLst/>
                <a:latin typeface="Arial" panose="020B0604020202020204" pitchFamily="34" charset="0"/>
              </a:rPr>
              <a:t> </a:t>
            </a:r>
            <a:r>
              <a:rPr kumimoji="0" lang="en-US" altLang="en-US" sz="2000" b="0" i="0" u="none" strike="noStrike" cap="none" normalizeH="0" baseline="0" dirty="0" err="1" smtClean="0">
                <a:ln>
                  <a:noFill/>
                </a:ln>
                <a:solidFill>
                  <a:schemeClr val="tx1"/>
                </a:solidFill>
                <a:effectLst/>
                <a:latin typeface="Arial" panose="020B0604020202020204" pitchFamily="34" charset="0"/>
              </a:rPr>
              <a:t>empleados</a:t>
            </a:r>
            <a:r>
              <a:rPr kumimoji="0" lang="en-US" altLang="en-US" sz="2000" b="0" i="0" u="none" strike="noStrike" cap="none" normalizeH="0" baseline="0" dirty="0" smtClean="0">
                <a:ln>
                  <a:noFill/>
                </a:ln>
                <a:solidFill>
                  <a:schemeClr val="tx1"/>
                </a:solidFill>
                <a:effectLst/>
                <a:latin typeface="Arial" panose="020B0604020202020204" pitchFamily="34" charset="0"/>
              </a:rPr>
              <a:t> </a:t>
            </a:r>
            <a:r>
              <a:rPr kumimoji="0" lang="en-US" altLang="en-US" sz="2000" b="0" i="0" u="none" strike="noStrike" cap="none" normalizeH="0" baseline="0" dirty="0" err="1" smtClean="0">
                <a:ln>
                  <a:noFill/>
                </a:ln>
                <a:solidFill>
                  <a:schemeClr val="tx1"/>
                </a:solidFill>
                <a:effectLst/>
                <a:latin typeface="Arial" panose="020B0604020202020204" pitchFamily="34" charset="0"/>
              </a:rPr>
              <a:t>por</a:t>
            </a:r>
            <a:r>
              <a:rPr kumimoji="0" lang="en-US" altLang="en-US" sz="2000" b="0" i="0" u="none" strike="noStrike" cap="none" normalizeH="0" baseline="0" dirty="0" smtClean="0">
                <a:ln>
                  <a:noFill/>
                </a:ln>
                <a:solidFill>
                  <a:schemeClr val="tx1"/>
                </a:solidFill>
                <a:effectLst/>
                <a:latin typeface="Arial" panose="020B0604020202020204" pitchFamily="34" charset="0"/>
              </a:rPr>
              <a:t> </a:t>
            </a:r>
            <a:r>
              <a:rPr kumimoji="0" lang="en-US" altLang="en-US" sz="2000" b="0" i="0" u="none" strike="noStrike" cap="none" normalizeH="0" baseline="0" dirty="0" err="1" smtClean="0">
                <a:ln>
                  <a:noFill/>
                </a:ln>
                <a:solidFill>
                  <a:schemeClr val="tx1"/>
                </a:solidFill>
                <a:effectLst/>
                <a:latin typeface="Arial" panose="020B0604020202020204" pitchFamily="34" charset="0"/>
              </a:rPr>
              <a:t>salario</a:t>
            </a:r>
            <a:r>
              <a:rPr kumimoji="0" lang="en-US" altLang="en-US" sz="2000" b="0" i="0" u="none" strike="noStrike" cap="none" normalizeH="0" baseline="0" dirty="0" smtClean="0">
                <a:ln>
                  <a:noFill/>
                </a:ln>
                <a:solidFill>
                  <a:schemeClr val="tx1"/>
                </a:solidFill>
                <a:effectLst/>
                <a:latin typeface="Arial" panose="020B0604020202020204" pitchFamily="34" charset="0"/>
              </a:rPr>
              <a:t> y </a:t>
            </a:r>
            <a:r>
              <a:rPr kumimoji="0" lang="en-US" altLang="en-US" sz="2000" b="0" i="0" u="none" strike="noStrike" cap="none" normalizeH="0" baseline="0" dirty="0" err="1" smtClean="0">
                <a:ln>
                  <a:noFill/>
                </a:ln>
                <a:solidFill>
                  <a:schemeClr val="tx1"/>
                </a:solidFill>
                <a:effectLst/>
                <a:latin typeface="Arial" panose="020B0604020202020204" pitchFamily="34" charset="0"/>
              </a:rPr>
              <a:t>encontraremos</a:t>
            </a:r>
            <a:r>
              <a:rPr kumimoji="0" lang="en-US" altLang="en-US" sz="2000" b="0" i="0" u="none" strike="noStrike" cap="none" normalizeH="0" baseline="0" dirty="0" smtClean="0">
                <a:ln>
                  <a:noFill/>
                </a:ln>
                <a:solidFill>
                  <a:schemeClr val="tx1"/>
                </a:solidFill>
                <a:effectLst/>
                <a:latin typeface="Arial" panose="020B0604020202020204" pitchFamily="34" charset="0"/>
              </a:rPr>
              <a:t> el </a:t>
            </a:r>
            <a:r>
              <a:rPr kumimoji="0" lang="en-US" altLang="en-US" sz="2000" b="0" i="0" u="none" strike="noStrike" cap="none" normalizeH="0" baseline="0" dirty="0" err="1" smtClean="0">
                <a:ln>
                  <a:noFill/>
                </a:ln>
                <a:solidFill>
                  <a:schemeClr val="tx1"/>
                </a:solidFill>
                <a:effectLst/>
                <a:latin typeface="Arial" panose="020B0604020202020204" pitchFamily="34" charset="0"/>
              </a:rPr>
              <a:t>promedio</a:t>
            </a:r>
            <a:r>
              <a:rPr kumimoji="0" lang="en-US" altLang="en-US" sz="2000" b="0" i="0" u="none" strike="noStrike" cap="none" normalizeH="0" baseline="0" dirty="0" smtClean="0">
                <a:ln>
                  <a:noFill/>
                </a:ln>
                <a:solidFill>
                  <a:schemeClr val="tx1"/>
                </a:solidFill>
                <a:effectLst/>
                <a:latin typeface="Arial" panose="020B0604020202020204" pitchFamily="34" charset="0"/>
              </a:rPr>
              <a:t> de </a:t>
            </a:r>
            <a:r>
              <a:rPr kumimoji="0" lang="en-US" altLang="en-US" sz="2000" b="0" i="0" u="none" strike="noStrike" cap="none" normalizeH="0" baseline="0" dirty="0" err="1" smtClean="0">
                <a:ln>
                  <a:noFill/>
                </a:ln>
                <a:solidFill>
                  <a:schemeClr val="tx1"/>
                </a:solidFill>
                <a:effectLst/>
                <a:latin typeface="Arial" panose="020B0604020202020204" pitchFamily="34" charset="0"/>
              </a:rPr>
              <a:t>salario</a:t>
            </a:r>
            <a:r>
              <a:rPr kumimoji="0" lang="en-US" altLang="en-US" sz="2000" b="0" i="0" u="none" strike="noStrike" cap="none" normalizeH="0" baseline="0" dirty="0" smtClean="0">
                <a:ln>
                  <a:noFill/>
                </a:ln>
                <a:solidFill>
                  <a:schemeClr val="tx1"/>
                </a:solidFill>
                <a:effectLst/>
                <a:latin typeface="Arial" panose="020B0604020202020204" pitchFamily="34" charset="0"/>
              </a:rPr>
              <a:t> </a:t>
            </a:r>
            <a:r>
              <a:rPr kumimoji="0" lang="en-US" altLang="en-US" sz="2000" b="0" i="0" u="none" strike="noStrike" cap="none" normalizeH="0" baseline="0" dirty="0" err="1" smtClean="0">
                <a:ln>
                  <a:noFill/>
                </a:ln>
                <a:solidFill>
                  <a:schemeClr val="tx1"/>
                </a:solidFill>
                <a:effectLst/>
                <a:latin typeface="Arial" panose="020B0604020202020204" pitchFamily="34" charset="0"/>
              </a:rPr>
              <a:t>por</a:t>
            </a:r>
            <a:r>
              <a:rPr kumimoji="0" lang="en-US" altLang="en-US" sz="2000" b="0" i="0" u="none" strike="noStrike" cap="none" normalizeH="0" baseline="0" dirty="0" smtClean="0">
                <a:ln>
                  <a:noFill/>
                </a:ln>
                <a:solidFill>
                  <a:schemeClr val="tx1"/>
                </a:solidFill>
                <a:effectLst/>
                <a:latin typeface="Arial" panose="020B0604020202020204" pitchFamily="34" charset="0"/>
              </a:rPr>
              <a:t> </a:t>
            </a:r>
            <a:r>
              <a:rPr kumimoji="0" lang="en-US" altLang="en-US" sz="2000" b="0" i="0" u="none" strike="noStrike" cap="none" normalizeH="0" baseline="0" dirty="0" err="1" smtClean="0">
                <a:ln>
                  <a:noFill/>
                </a:ln>
                <a:solidFill>
                  <a:schemeClr val="tx1"/>
                </a:solidFill>
                <a:effectLst/>
                <a:latin typeface="Arial" panose="020B0604020202020204" pitchFamily="34" charset="0"/>
              </a:rPr>
              <a:t>departamento</a:t>
            </a:r>
            <a:r>
              <a:rPr kumimoji="0" lang="en-US" altLang="en-US" sz="2000" b="0" i="0" u="none" strike="noStrike" cap="none" normalizeH="0" baseline="0" dirty="0" smtClean="0">
                <a:ln>
                  <a:noFill/>
                </a:ln>
                <a:solidFill>
                  <a:schemeClr val="tx1"/>
                </a:solidFill>
                <a:effectLst/>
                <a:latin typeface="Arial" panose="020B0604020202020204" pitchFamily="34" charset="0"/>
              </a:rPr>
              <a:t>.</a:t>
            </a:r>
          </a:p>
        </p:txBody>
      </p:sp>
    </p:spTree>
    <p:extLst>
      <p:ext uri="{BB962C8B-B14F-4D97-AF65-F5344CB8AC3E}">
        <p14:creationId xmlns:p14="http://schemas.microsoft.com/office/powerpoint/2010/main" val="392473302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p:cNvSpPr/>
          <p:nvPr/>
        </p:nvSpPr>
        <p:spPr>
          <a:xfrm>
            <a:off x="1046923" y="1141129"/>
            <a:ext cx="10005390" cy="4308872"/>
          </a:xfrm>
          <a:prstGeom prst="rect">
            <a:avLst/>
          </a:prstGeom>
        </p:spPr>
        <p:txBody>
          <a:bodyPr wrap="square">
            <a:spAutoFit/>
          </a:bodyPr>
          <a:lstStyle/>
          <a:p>
            <a:pPr algn="ctr"/>
            <a:r>
              <a:rPr lang="es-MX" sz="3200" b="1" dirty="0">
                <a:solidFill>
                  <a:srgbClr val="000000"/>
                </a:solidFill>
                <a:latin typeface="Arial" panose="020B0604020202020204" pitchFamily="34" charset="0"/>
              </a:rPr>
              <a:t>TEORÍA MODELO(E/R</a:t>
            </a:r>
            <a:r>
              <a:rPr lang="es-MX" sz="3200" b="1" dirty="0" smtClean="0">
                <a:solidFill>
                  <a:srgbClr val="000000"/>
                </a:solidFill>
                <a:latin typeface="Arial" panose="020B0604020202020204" pitchFamily="34" charset="0"/>
              </a:rPr>
              <a:t>)</a:t>
            </a:r>
          </a:p>
          <a:p>
            <a:pPr algn="just"/>
            <a:r>
              <a:rPr lang="es-MX" dirty="0"/>
              <a:t/>
            </a:r>
            <a:br>
              <a:rPr lang="es-MX" dirty="0"/>
            </a:br>
            <a:r>
              <a:rPr lang="es-MX" sz="3200" b="1" dirty="0">
                <a:solidFill>
                  <a:srgbClr val="FF0000"/>
                </a:solidFill>
                <a:latin typeface="Arial" panose="020B0604020202020204" pitchFamily="34" charset="0"/>
              </a:rPr>
              <a:t>Entidad/Relación (E/R): </a:t>
            </a:r>
            <a:r>
              <a:rPr lang="es-MX" sz="3200" dirty="0">
                <a:solidFill>
                  <a:srgbClr val="000000"/>
                </a:solidFill>
                <a:latin typeface="Arial" panose="020B0604020202020204" pitchFamily="34" charset="0"/>
              </a:rPr>
              <a:t>Se trata de una descripción a alto nivel de la distribución de los datos procesados en un sistema</a:t>
            </a:r>
            <a:r>
              <a:rPr lang="es-MX" sz="3200" dirty="0" smtClean="0">
                <a:solidFill>
                  <a:srgbClr val="000000"/>
                </a:solidFill>
                <a:latin typeface="Arial" panose="020B0604020202020204" pitchFamily="34" charset="0"/>
              </a:rPr>
              <a:t>. El </a:t>
            </a:r>
            <a:r>
              <a:rPr lang="es-MX" sz="3200" dirty="0">
                <a:solidFill>
                  <a:srgbClr val="000000"/>
                </a:solidFill>
                <a:latin typeface="Arial" panose="020B0604020202020204" pitchFamily="34" charset="0"/>
              </a:rPr>
              <a:t>modelo de datos entidad-relación está basado en una percepción del mundo real que consta de una colección de objetos básicos, llamados entidades, y de relaciones entre esos objetos amorfos.</a:t>
            </a:r>
            <a:endParaRPr lang="en-US" sz="3200" dirty="0"/>
          </a:p>
        </p:txBody>
      </p:sp>
    </p:spTree>
    <p:extLst>
      <p:ext uri="{BB962C8B-B14F-4D97-AF65-F5344CB8AC3E}">
        <p14:creationId xmlns:p14="http://schemas.microsoft.com/office/powerpoint/2010/main" val="332805982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p:cNvSpPr/>
          <p:nvPr/>
        </p:nvSpPr>
        <p:spPr>
          <a:xfrm>
            <a:off x="543339" y="587130"/>
            <a:ext cx="11012557" cy="5293757"/>
          </a:xfrm>
          <a:prstGeom prst="rect">
            <a:avLst/>
          </a:prstGeom>
        </p:spPr>
        <p:txBody>
          <a:bodyPr wrap="square">
            <a:spAutoFit/>
          </a:bodyPr>
          <a:lstStyle/>
          <a:p>
            <a:pPr algn="ctr"/>
            <a:r>
              <a:rPr lang="es-MX" sz="4000" b="1" dirty="0">
                <a:solidFill>
                  <a:srgbClr val="000000"/>
                </a:solidFill>
                <a:latin typeface="Arial" panose="020B0604020202020204" pitchFamily="34" charset="0"/>
              </a:rPr>
              <a:t>TEORÍA MODELO(E/R</a:t>
            </a:r>
            <a:r>
              <a:rPr lang="es-MX" sz="4000" b="1" dirty="0" smtClean="0">
                <a:solidFill>
                  <a:srgbClr val="000000"/>
                </a:solidFill>
                <a:latin typeface="Arial" panose="020B0604020202020204" pitchFamily="34" charset="0"/>
              </a:rPr>
              <a:t>)</a:t>
            </a:r>
          </a:p>
          <a:p>
            <a:r>
              <a:rPr lang="es-MX" dirty="0"/>
              <a:t/>
            </a:r>
            <a:br>
              <a:rPr lang="es-MX" dirty="0"/>
            </a:br>
            <a:r>
              <a:rPr lang="es-MX" sz="2800" b="1" dirty="0">
                <a:solidFill>
                  <a:srgbClr val="000000"/>
                </a:solidFill>
                <a:latin typeface="Arial" panose="020B0604020202020204" pitchFamily="34" charset="0"/>
              </a:rPr>
              <a:t>- Entidad</a:t>
            </a:r>
            <a:r>
              <a:rPr lang="es-MX" sz="2800" dirty="0">
                <a:solidFill>
                  <a:srgbClr val="000000"/>
                </a:solidFill>
                <a:latin typeface="Arial" panose="020B0604020202020204" pitchFamily="34" charset="0"/>
              </a:rPr>
              <a:t>: Objeto real o abstracto, sobre el que se desea almacenar información en la BBDD.</a:t>
            </a:r>
            <a:r>
              <a:rPr lang="es-MX" sz="2800" dirty="0"/>
              <a:t/>
            </a:r>
            <a:br>
              <a:rPr lang="es-MX" sz="2800" dirty="0"/>
            </a:br>
            <a:r>
              <a:rPr lang="es-MX" sz="2800" b="1" dirty="0">
                <a:solidFill>
                  <a:srgbClr val="000000"/>
                </a:solidFill>
                <a:latin typeface="Arial" panose="020B0604020202020204" pitchFamily="34" charset="0"/>
              </a:rPr>
              <a:t>Reglas de creación:</a:t>
            </a:r>
            <a:r>
              <a:rPr lang="es-MX" sz="2800" dirty="0"/>
              <a:t/>
            </a:r>
            <a:br>
              <a:rPr lang="es-MX" sz="2800" dirty="0"/>
            </a:br>
            <a:r>
              <a:rPr lang="es-MX" sz="2800" dirty="0">
                <a:solidFill>
                  <a:srgbClr val="000000"/>
                </a:solidFill>
                <a:latin typeface="Arial" panose="020B0604020202020204" pitchFamily="34" charset="0"/>
              </a:rPr>
              <a:t>- Existencia Propia</a:t>
            </a:r>
            <a:r>
              <a:rPr lang="es-MX" sz="2800" dirty="0"/>
              <a:t/>
            </a:r>
            <a:br>
              <a:rPr lang="es-MX" sz="2800" dirty="0"/>
            </a:br>
            <a:r>
              <a:rPr lang="es-MX" sz="2800" dirty="0">
                <a:solidFill>
                  <a:srgbClr val="000000"/>
                </a:solidFill>
                <a:latin typeface="Arial" panose="020B0604020202020204" pitchFamily="34" charset="0"/>
              </a:rPr>
              <a:t>- Sea diferente de las demás</a:t>
            </a:r>
            <a:r>
              <a:rPr lang="es-MX" sz="2800" dirty="0"/>
              <a:t/>
            </a:r>
            <a:br>
              <a:rPr lang="es-MX" sz="2800" dirty="0"/>
            </a:br>
            <a:r>
              <a:rPr lang="es-MX" sz="2800" dirty="0">
                <a:solidFill>
                  <a:srgbClr val="000000"/>
                </a:solidFill>
                <a:latin typeface="Arial" panose="020B0604020202020204" pitchFamily="34" charset="0"/>
              </a:rPr>
              <a:t>Todas las ocurrencias de la entidad tienen que </a:t>
            </a:r>
            <a:r>
              <a:rPr lang="es-MX" sz="2800" dirty="0" smtClean="0">
                <a:solidFill>
                  <a:srgbClr val="000000"/>
                </a:solidFill>
                <a:latin typeface="Arial" panose="020B0604020202020204" pitchFamily="34" charset="0"/>
              </a:rPr>
              <a:t>tener</a:t>
            </a:r>
            <a:r>
              <a:rPr lang="es-MX" sz="2800" dirty="0"/>
              <a:t> </a:t>
            </a:r>
            <a:r>
              <a:rPr lang="es-MX" sz="2800" dirty="0" smtClean="0">
                <a:solidFill>
                  <a:srgbClr val="000000"/>
                </a:solidFill>
                <a:latin typeface="Arial" panose="020B0604020202020204" pitchFamily="34" charset="0"/>
              </a:rPr>
              <a:t>los </a:t>
            </a:r>
            <a:r>
              <a:rPr lang="es-MX" sz="2800" dirty="0">
                <a:solidFill>
                  <a:srgbClr val="000000"/>
                </a:solidFill>
                <a:latin typeface="Arial" panose="020B0604020202020204" pitchFamily="34" charset="0"/>
              </a:rPr>
              <a:t>mismos atributos.</a:t>
            </a:r>
            <a:r>
              <a:rPr lang="es-MX" sz="2800" dirty="0"/>
              <a:t/>
            </a:r>
            <a:br>
              <a:rPr lang="es-MX" sz="2800" dirty="0"/>
            </a:br>
            <a:r>
              <a:rPr lang="es-MX" sz="2800" b="1" dirty="0">
                <a:solidFill>
                  <a:srgbClr val="000000"/>
                </a:solidFill>
                <a:latin typeface="Arial" panose="020B0604020202020204" pitchFamily="34" charset="0"/>
              </a:rPr>
              <a:t>Clases:</a:t>
            </a:r>
            <a:r>
              <a:rPr lang="es-MX" sz="2800" dirty="0"/>
              <a:t/>
            </a:r>
            <a:br>
              <a:rPr lang="es-MX" sz="2800" dirty="0"/>
            </a:br>
            <a:r>
              <a:rPr lang="es-MX" sz="2800" dirty="0">
                <a:solidFill>
                  <a:srgbClr val="FF0000"/>
                </a:solidFill>
                <a:latin typeface="Arial" panose="020B0604020202020204" pitchFamily="34" charset="0"/>
              </a:rPr>
              <a:t>- Regulares (existen por si mismas) también llamadas fuertes. </a:t>
            </a:r>
            <a:endParaRPr lang="es-MX" sz="2800" dirty="0" smtClean="0">
              <a:solidFill>
                <a:srgbClr val="FF0000"/>
              </a:solidFill>
              <a:latin typeface="Arial" panose="020B0604020202020204" pitchFamily="34" charset="0"/>
            </a:endParaRPr>
          </a:p>
          <a:p>
            <a:r>
              <a:rPr lang="es-MX" sz="2800" dirty="0" smtClean="0">
                <a:solidFill>
                  <a:srgbClr val="000000"/>
                </a:solidFill>
                <a:latin typeface="Arial" panose="020B0604020202020204" pitchFamily="34" charset="0"/>
              </a:rPr>
              <a:t>- </a:t>
            </a:r>
            <a:r>
              <a:rPr lang="es-MX" sz="2800" dirty="0">
                <a:solidFill>
                  <a:srgbClr val="000000"/>
                </a:solidFill>
                <a:latin typeface="Arial" panose="020B0604020202020204" pitchFamily="34" charset="0"/>
              </a:rPr>
              <a:t>Débiles, su existencia depende de otra </a:t>
            </a:r>
            <a:r>
              <a:rPr lang="es-MX" sz="2800" dirty="0" smtClean="0">
                <a:solidFill>
                  <a:srgbClr val="000000"/>
                </a:solidFill>
                <a:latin typeface="Arial" panose="020B0604020202020204" pitchFamily="34" charset="0"/>
              </a:rPr>
              <a:t>entidad.</a:t>
            </a:r>
            <a:endParaRPr lang="en-US" sz="2800" dirty="0"/>
          </a:p>
        </p:txBody>
      </p:sp>
    </p:spTree>
    <p:extLst>
      <p:ext uri="{BB962C8B-B14F-4D97-AF65-F5344CB8AC3E}">
        <p14:creationId xmlns:p14="http://schemas.microsoft.com/office/powerpoint/2010/main" val="309981189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p:cNvSpPr/>
          <p:nvPr/>
        </p:nvSpPr>
        <p:spPr>
          <a:xfrm>
            <a:off x="861391" y="1014177"/>
            <a:ext cx="4890052" cy="4739759"/>
          </a:xfrm>
          <a:prstGeom prst="rect">
            <a:avLst/>
          </a:prstGeom>
        </p:spPr>
        <p:txBody>
          <a:bodyPr wrap="square">
            <a:spAutoFit/>
          </a:bodyPr>
          <a:lstStyle/>
          <a:p>
            <a:pPr algn="ctr"/>
            <a:r>
              <a:rPr lang="es-MX" sz="2000" b="1" dirty="0">
                <a:solidFill>
                  <a:srgbClr val="000000"/>
                </a:solidFill>
                <a:latin typeface="Arial" panose="020B0604020202020204" pitchFamily="34" charset="0"/>
              </a:rPr>
              <a:t>TEORÍA MODELO(E/R</a:t>
            </a:r>
            <a:r>
              <a:rPr lang="es-MX" sz="2000" b="1" dirty="0" smtClean="0">
                <a:solidFill>
                  <a:srgbClr val="000000"/>
                </a:solidFill>
                <a:latin typeface="Arial" panose="020B0604020202020204" pitchFamily="34" charset="0"/>
              </a:rPr>
              <a:t>)</a:t>
            </a:r>
          </a:p>
          <a:p>
            <a:pPr algn="just"/>
            <a:r>
              <a:rPr lang="es-MX" dirty="0"/>
              <a:t/>
            </a:r>
            <a:br>
              <a:rPr lang="es-MX" dirty="0"/>
            </a:br>
            <a:r>
              <a:rPr lang="es-MX" sz="2400" b="1" dirty="0">
                <a:solidFill>
                  <a:srgbClr val="000000"/>
                </a:solidFill>
                <a:latin typeface="Arial" panose="020B0604020202020204" pitchFamily="34" charset="0"/>
              </a:rPr>
              <a:t>Dependencia de Existencia: </a:t>
            </a:r>
            <a:endParaRPr lang="es-MX" sz="2400" b="1" dirty="0" smtClean="0">
              <a:solidFill>
                <a:srgbClr val="000000"/>
              </a:solidFill>
              <a:latin typeface="Arial" panose="020B0604020202020204" pitchFamily="34" charset="0"/>
            </a:endParaRPr>
          </a:p>
          <a:p>
            <a:pPr algn="just"/>
            <a:r>
              <a:rPr lang="es-MX" sz="2400" dirty="0" smtClean="0">
                <a:solidFill>
                  <a:srgbClr val="000000"/>
                </a:solidFill>
                <a:latin typeface="Arial" panose="020B0604020202020204" pitchFamily="34" charset="0"/>
              </a:rPr>
              <a:t>La </a:t>
            </a:r>
            <a:r>
              <a:rPr lang="es-MX" sz="2400" dirty="0">
                <a:solidFill>
                  <a:srgbClr val="000000"/>
                </a:solidFill>
                <a:latin typeface="Arial" panose="020B0604020202020204" pitchFamily="34" charset="0"/>
              </a:rPr>
              <a:t>entidad débil tiene su propia clave y no necesita la clave de la fuerte para identificarse</a:t>
            </a:r>
            <a:r>
              <a:rPr lang="es-MX" sz="2400" dirty="0" smtClean="0">
                <a:solidFill>
                  <a:srgbClr val="000000"/>
                </a:solidFill>
                <a:latin typeface="Arial" panose="020B0604020202020204" pitchFamily="34" charset="0"/>
              </a:rPr>
              <a:t>.</a:t>
            </a:r>
          </a:p>
          <a:p>
            <a:pPr algn="just"/>
            <a:r>
              <a:rPr lang="es-MX" sz="2400" dirty="0"/>
              <a:t/>
            </a:r>
            <a:br>
              <a:rPr lang="es-MX" sz="2400" dirty="0"/>
            </a:br>
            <a:r>
              <a:rPr lang="es-MX" sz="2400" b="1" dirty="0">
                <a:solidFill>
                  <a:srgbClr val="000000"/>
                </a:solidFill>
                <a:latin typeface="Arial" panose="020B0604020202020204" pitchFamily="34" charset="0"/>
              </a:rPr>
              <a:t>Dependencia de Identidad: </a:t>
            </a:r>
            <a:endParaRPr lang="es-MX" sz="2400" b="1" dirty="0" smtClean="0">
              <a:solidFill>
                <a:srgbClr val="000000"/>
              </a:solidFill>
              <a:latin typeface="Arial" panose="020B0604020202020204" pitchFamily="34" charset="0"/>
            </a:endParaRPr>
          </a:p>
          <a:p>
            <a:pPr algn="just"/>
            <a:r>
              <a:rPr lang="es-MX" sz="2400" dirty="0" smtClean="0">
                <a:solidFill>
                  <a:srgbClr val="000000"/>
                </a:solidFill>
                <a:latin typeface="Arial" panose="020B0604020202020204" pitchFamily="34" charset="0"/>
              </a:rPr>
              <a:t>La </a:t>
            </a:r>
            <a:r>
              <a:rPr lang="es-MX" sz="2400" dirty="0">
                <a:solidFill>
                  <a:srgbClr val="000000"/>
                </a:solidFill>
                <a:latin typeface="Arial" panose="020B0604020202020204" pitchFamily="34" charset="0"/>
              </a:rPr>
              <a:t>entidad débil no se puede identificar sin la clave de la </a:t>
            </a:r>
            <a:r>
              <a:rPr lang="es-MX" sz="2400" dirty="0" smtClean="0">
                <a:solidFill>
                  <a:srgbClr val="000000"/>
                </a:solidFill>
                <a:latin typeface="Arial" panose="020B0604020202020204" pitchFamily="34" charset="0"/>
              </a:rPr>
              <a:t>fuerte</a:t>
            </a:r>
          </a:p>
          <a:p>
            <a:r>
              <a:rPr lang="es-MX" sz="2400" dirty="0"/>
              <a:t/>
            </a:r>
            <a:br>
              <a:rPr lang="es-MX" sz="2400" dirty="0"/>
            </a:br>
            <a:r>
              <a:rPr lang="es-MX" sz="2400" dirty="0" smtClean="0">
                <a:solidFill>
                  <a:srgbClr val="000000"/>
                </a:solidFill>
                <a:latin typeface="Arial" panose="020B0604020202020204" pitchFamily="34" charset="0"/>
              </a:rPr>
              <a:t>ENTIDAD REGULAR</a:t>
            </a:r>
            <a:r>
              <a:rPr lang="es-MX" sz="2400" dirty="0"/>
              <a:t/>
            </a:r>
            <a:br>
              <a:rPr lang="es-MX" sz="2400" dirty="0"/>
            </a:br>
            <a:r>
              <a:rPr lang="es-MX" sz="2400" dirty="0">
                <a:solidFill>
                  <a:srgbClr val="000000"/>
                </a:solidFill>
                <a:latin typeface="Arial" panose="020B0604020202020204" pitchFamily="34" charset="0"/>
              </a:rPr>
              <a:t>ENTIDAD DÉBIL</a:t>
            </a:r>
            <a:endParaRPr lang="en-US" sz="2400" dirty="0"/>
          </a:p>
        </p:txBody>
      </p:sp>
      <p:sp>
        <p:nvSpPr>
          <p:cNvPr id="5" name="Rectángulo 4"/>
          <p:cNvSpPr/>
          <p:nvPr/>
        </p:nvSpPr>
        <p:spPr>
          <a:xfrm>
            <a:off x="6135757" y="1610933"/>
            <a:ext cx="5274365" cy="4678204"/>
          </a:xfrm>
          <a:prstGeom prst="rect">
            <a:avLst/>
          </a:prstGeom>
        </p:spPr>
        <p:txBody>
          <a:bodyPr wrap="square">
            <a:spAutoFit/>
          </a:bodyPr>
          <a:lstStyle/>
          <a:p>
            <a:r>
              <a:rPr lang="es-MX" sz="2000" b="1" dirty="0">
                <a:solidFill>
                  <a:srgbClr val="000000"/>
                </a:solidFill>
                <a:latin typeface="Arial" panose="020B0604020202020204" pitchFamily="34" charset="0"/>
              </a:rPr>
              <a:t>TEORÍA MODELO(E/R)</a:t>
            </a:r>
            <a:r>
              <a:rPr lang="es-MX" sz="2000" dirty="0"/>
              <a:t/>
            </a:r>
            <a:br>
              <a:rPr lang="es-MX" sz="2000" dirty="0"/>
            </a:br>
            <a:r>
              <a:rPr lang="es-MX" sz="2000" b="1" dirty="0">
                <a:solidFill>
                  <a:srgbClr val="000000"/>
                </a:solidFill>
                <a:latin typeface="Arial" panose="020B0604020202020204" pitchFamily="34" charset="0"/>
              </a:rPr>
              <a:t>Relación:</a:t>
            </a:r>
            <a:r>
              <a:rPr lang="es-MX" sz="2000" dirty="0"/>
              <a:t/>
            </a:r>
            <a:br>
              <a:rPr lang="es-MX" sz="2000" dirty="0"/>
            </a:br>
            <a:r>
              <a:rPr lang="es-MX" sz="2000" dirty="0">
                <a:solidFill>
                  <a:srgbClr val="000000"/>
                </a:solidFill>
                <a:latin typeface="Arial" panose="020B0604020202020204" pitchFamily="34" charset="0"/>
              </a:rPr>
              <a:t>- Asociación entre una o varias entidades</a:t>
            </a:r>
            <a:r>
              <a:rPr lang="es-MX" sz="2000" dirty="0"/>
              <a:t/>
            </a:r>
            <a:br>
              <a:rPr lang="es-MX" sz="2000" dirty="0"/>
            </a:br>
            <a:r>
              <a:rPr lang="es-MX" sz="2000" dirty="0">
                <a:solidFill>
                  <a:srgbClr val="000000"/>
                </a:solidFill>
                <a:latin typeface="Arial" panose="020B0604020202020204" pitchFamily="34" charset="0"/>
              </a:rPr>
              <a:t>- Nombre que la distingue del resto.</a:t>
            </a:r>
            <a:r>
              <a:rPr lang="es-MX" sz="2000" dirty="0"/>
              <a:t/>
            </a:r>
            <a:br>
              <a:rPr lang="es-MX" sz="2000" dirty="0"/>
            </a:br>
            <a:r>
              <a:rPr lang="es-MX" sz="2000" dirty="0">
                <a:solidFill>
                  <a:srgbClr val="000000"/>
                </a:solidFill>
                <a:latin typeface="Arial" panose="020B0604020202020204" pitchFamily="34" charset="0"/>
              </a:rPr>
              <a:t>-</a:t>
            </a:r>
            <a:r>
              <a:rPr lang="es-MX" sz="2000" dirty="0" err="1">
                <a:solidFill>
                  <a:srgbClr val="000000"/>
                </a:solidFill>
                <a:latin typeface="Arial" panose="020B0604020202020204" pitchFamily="34" charset="0"/>
              </a:rPr>
              <a:t>Cardinalidad</a:t>
            </a:r>
            <a:r>
              <a:rPr lang="es-MX" sz="2000" dirty="0">
                <a:solidFill>
                  <a:srgbClr val="000000"/>
                </a:solidFill>
                <a:latin typeface="Arial" panose="020B0604020202020204" pitchFamily="34" charset="0"/>
              </a:rPr>
              <a:t>: número de </a:t>
            </a:r>
            <a:r>
              <a:rPr lang="es-MX" sz="2000" dirty="0" err="1">
                <a:solidFill>
                  <a:srgbClr val="000000"/>
                </a:solidFill>
                <a:latin typeface="Arial" panose="020B0604020202020204" pitchFamily="34" charset="0"/>
              </a:rPr>
              <a:t>tuplas</a:t>
            </a:r>
            <a:r>
              <a:rPr lang="es-MX" sz="2000" dirty="0">
                <a:solidFill>
                  <a:srgbClr val="000000"/>
                </a:solidFill>
                <a:latin typeface="Arial" panose="020B0604020202020204" pitchFamily="34" charset="0"/>
              </a:rPr>
              <a:t> de una entidad. </a:t>
            </a:r>
            <a:endParaRPr lang="es-MX" sz="2000" dirty="0" smtClean="0">
              <a:solidFill>
                <a:srgbClr val="000000"/>
              </a:solidFill>
              <a:latin typeface="Arial" panose="020B0604020202020204" pitchFamily="34" charset="0"/>
            </a:endParaRPr>
          </a:p>
          <a:p>
            <a:r>
              <a:rPr lang="es-MX" sz="2000" b="1" dirty="0" smtClean="0">
                <a:solidFill>
                  <a:srgbClr val="FF0000"/>
                </a:solidFill>
                <a:latin typeface="Arial" panose="020B0604020202020204" pitchFamily="34" charset="0"/>
              </a:rPr>
              <a:t>1:N</a:t>
            </a:r>
            <a:r>
              <a:rPr lang="es-MX" sz="2000" dirty="0">
                <a:solidFill>
                  <a:srgbClr val="000000"/>
                </a:solidFill>
                <a:latin typeface="Arial" panose="020B0604020202020204" pitchFamily="34" charset="0"/>
              </a:rPr>
              <a:t>. Según la </a:t>
            </a:r>
            <a:r>
              <a:rPr lang="es-MX" sz="2000" dirty="0" err="1">
                <a:solidFill>
                  <a:srgbClr val="000000"/>
                </a:solidFill>
                <a:latin typeface="Arial" panose="020B0604020202020204" pitchFamily="34" charset="0"/>
              </a:rPr>
              <a:t>cardinalidad</a:t>
            </a:r>
            <a:r>
              <a:rPr lang="es-MX" sz="2000" dirty="0">
                <a:solidFill>
                  <a:srgbClr val="000000"/>
                </a:solidFill>
                <a:latin typeface="Arial" panose="020B0604020202020204" pitchFamily="34" charset="0"/>
              </a:rPr>
              <a:t>, una relación es obligatoria u opcional. </a:t>
            </a:r>
            <a:endParaRPr lang="es-MX" sz="2000" dirty="0" smtClean="0">
              <a:solidFill>
                <a:srgbClr val="000000"/>
              </a:solidFill>
              <a:latin typeface="Arial" panose="020B0604020202020204" pitchFamily="34" charset="0"/>
            </a:endParaRPr>
          </a:p>
          <a:p>
            <a:pPr marL="285750" indent="-285750">
              <a:buFont typeface="Arial" panose="020B0604020202020204" pitchFamily="34" charset="0"/>
              <a:buChar char="•"/>
            </a:pPr>
            <a:r>
              <a:rPr lang="es-MX" sz="2000" b="1" dirty="0">
                <a:solidFill>
                  <a:srgbClr val="000000"/>
                </a:solidFill>
                <a:latin typeface="Arial" panose="020B0604020202020204" pitchFamily="34" charset="0"/>
              </a:rPr>
              <a:t>Obligatoria </a:t>
            </a:r>
            <a:r>
              <a:rPr lang="es-MX" sz="2000" dirty="0">
                <a:solidFill>
                  <a:srgbClr val="000000"/>
                </a:solidFill>
                <a:latin typeface="Arial" panose="020B0604020202020204" pitchFamily="34" charset="0"/>
              </a:rPr>
              <a:t>si toda ocurrencia de un tipo de entidad implica al menos una ocurrencia del tipo asociado. </a:t>
            </a:r>
          </a:p>
          <a:p>
            <a:pPr marL="285750" indent="-285750">
              <a:buFont typeface="Arial" panose="020B0604020202020204" pitchFamily="34" charset="0"/>
              <a:buChar char="•"/>
            </a:pPr>
            <a:r>
              <a:rPr lang="es-MX" sz="2000" b="1" dirty="0">
                <a:solidFill>
                  <a:srgbClr val="000000"/>
                </a:solidFill>
                <a:latin typeface="Arial" panose="020B0604020202020204" pitchFamily="34" charset="0"/>
              </a:rPr>
              <a:t>Opcional</a:t>
            </a:r>
            <a:r>
              <a:rPr lang="es-MX" sz="2000" dirty="0">
                <a:solidFill>
                  <a:srgbClr val="000000"/>
                </a:solidFill>
                <a:latin typeface="Arial" panose="020B0604020202020204" pitchFamily="34" charset="0"/>
              </a:rPr>
              <a:t> si para toda ocurrencia de un tipo de entidad, pueden existir o no ocurrencias del tipo asociado.</a:t>
            </a:r>
            <a:endParaRPr lang="en-US" sz="2000" dirty="0"/>
          </a:p>
          <a:p>
            <a:endParaRPr lang="es-MX" dirty="0" smtClean="0">
              <a:solidFill>
                <a:srgbClr val="000000"/>
              </a:solidFill>
              <a:latin typeface="Arial" panose="020B0604020202020204" pitchFamily="34" charset="0"/>
            </a:endParaRPr>
          </a:p>
        </p:txBody>
      </p:sp>
    </p:spTree>
    <p:extLst>
      <p:ext uri="{BB962C8B-B14F-4D97-AF65-F5344CB8AC3E}">
        <p14:creationId xmlns:p14="http://schemas.microsoft.com/office/powerpoint/2010/main" val="346455693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838200" y="775942"/>
            <a:ext cx="10515600" cy="1325563"/>
          </a:xfrm>
        </p:spPr>
        <p:txBody>
          <a:bodyPr/>
          <a:lstStyle/>
          <a:p>
            <a:pPr algn="ctr"/>
            <a:r>
              <a:rPr lang="es-PE" b="1" dirty="0" smtClean="0"/>
              <a:t>Relaciones </a:t>
            </a:r>
            <a:endParaRPr lang="en-US" b="1" dirty="0"/>
          </a:p>
        </p:txBody>
      </p:sp>
      <p:sp>
        <p:nvSpPr>
          <p:cNvPr id="3" name="Marcador de contenido 2"/>
          <p:cNvSpPr>
            <a:spLocks noGrp="1"/>
          </p:cNvSpPr>
          <p:nvPr>
            <p:ph idx="1"/>
          </p:nvPr>
        </p:nvSpPr>
        <p:spPr/>
        <p:txBody>
          <a:bodyPr/>
          <a:lstStyle/>
          <a:p>
            <a:pPr algn="just"/>
            <a:endParaRPr lang="es-MX" dirty="0"/>
          </a:p>
          <a:p>
            <a:pPr algn="just"/>
            <a:r>
              <a:rPr lang="es-MX" dirty="0"/>
              <a:t>En SQL Server, las relaciones entre tablas se establecen utilizando claves foráneas (</a:t>
            </a:r>
            <a:r>
              <a:rPr lang="es-MX" dirty="0" err="1"/>
              <a:t>foreign</a:t>
            </a:r>
            <a:r>
              <a:rPr lang="es-MX" dirty="0"/>
              <a:t> </a:t>
            </a:r>
            <a:r>
              <a:rPr lang="es-MX" dirty="0" err="1"/>
              <a:t>keys</a:t>
            </a:r>
            <a:r>
              <a:rPr lang="es-MX" dirty="0"/>
              <a:t>) que conectan columnas en una tabla con las columnas de otra. Estas relaciones pueden ser de tres tipos principales: </a:t>
            </a:r>
            <a:r>
              <a:rPr lang="es-MX" b="1" dirty="0"/>
              <a:t>uno a uno, uno a muchos y muchos a muchos.</a:t>
            </a:r>
          </a:p>
          <a:p>
            <a:endParaRPr lang="en-US" dirty="0"/>
          </a:p>
        </p:txBody>
      </p:sp>
    </p:spTree>
    <p:extLst>
      <p:ext uri="{BB962C8B-B14F-4D97-AF65-F5344CB8AC3E}">
        <p14:creationId xmlns:p14="http://schemas.microsoft.com/office/powerpoint/2010/main" val="1096005754"/>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MX" b="1" dirty="0"/>
              <a:t>Relación de uno a uno:</a:t>
            </a:r>
            <a:endParaRPr lang="en-US" dirty="0"/>
          </a:p>
        </p:txBody>
      </p:sp>
      <p:sp>
        <p:nvSpPr>
          <p:cNvPr id="3" name="Marcador de contenido 2"/>
          <p:cNvSpPr>
            <a:spLocks noGrp="1"/>
          </p:cNvSpPr>
          <p:nvPr>
            <p:ph idx="1"/>
          </p:nvPr>
        </p:nvSpPr>
        <p:spPr>
          <a:xfrm>
            <a:off x="838200" y="1825624"/>
            <a:ext cx="4303643" cy="4098097"/>
          </a:xfrm>
        </p:spPr>
        <p:txBody>
          <a:bodyPr>
            <a:normAutofit fontScale="85000" lnSpcReduction="20000"/>
          </a:bodyPr>
          <a:lstStyle/>
          <a:p>
            <a:pPr algn="just"/>
            <a:r>
              <a:rPr lang="es-MX" dirty="0" smtClean="0"/>
              <a:t>En </a:t>
            </a:r>
            <a:r>
              <a:rPr lang="es-MX" dirty="0"/>
              <a:t>una relación de uno a uno, </a:t>
            </a:r>
            <a:r>
              <a:rPr lang="es-MX" b="1" dirty="0">
                <a:solidFill>
                  <a:srgbClr val="FF0000"/>
                </a:solidFill>
              </a:rPr>
              <a:t>cada registro en la tabla A está asociado con exactamente un registro en la tabla B</a:t>
            </a:r>
            <a:r>
              <a:rPr lang="es-MX" dirty="0"/>
              <a:t>, y viceversa. Esto se logra mediante la creación de una </a:t>
            </a:r>
            <a:r>
              <a:rPr lang="es-MX" b="1" dirty="0">
                <a:solidFill>
                  <a:srgbClr val="FF0000"/>
                </a:solidFill>
              </a:rPr>
              <a:t>clave foránea </a:t>
            </a:r>
            <a:r>
              <a:rPr lang="es-MX" dirty="0"/>
              <a:t>en una de las tablas que referencia la clave primaria de la otra tabla. </a:t>
            </a:r>
            <a:r>
              <a:rPr lang="es-MX" dirty="0">
                <a:solidFill>
                  <a:srgbClr val="FF0000"/>
                </a:solidFill>
              </a:rPr>
              <a:t>La restricción de unicidad se aplica en la tabla secundaria para garantizar que cada registro esté relacionado con solo un registro en la otra tabla.</a:t>
            </a:r>
            <a:endParaRPr lang="en-US" dirty="0">
              <a:solidFill>
                <a:srgbClr val="FF0000"/>
              </a:solidFill>
            </a:endParaRPr>
          </a:p>
        </p:txBody>
      </p:sp>
      <p:sp>
        <p:nvSpPr>
          <p:cNvPr id="6" name="Rectángulo 5"/>
          <p:cNvSpPr/>
          <p:nvPr/>
        </p:nvSpPr>
        <p:spPr>
          <a:xfrm>
            <a:off x="6096000" y="1659059"/>
            <a:ext cx="5257800" cy="923330"/>
          </a:xfrm>
          <a:prstGeom prst="rect">
            <a:avLst/>
          </a:prstGeom>
        </p:spPr>
        <p:txBody>
          <a:bodyPr wrap="square">
            <a:spAutoFit/>
          </a:bodyPr>
          <a:lstStyle/>
          <a:p>
            <a:pPr algn="just"/>
            <a:r>
              <a:rPr lang="es-MX" i="1" dirty="0"/>
              <a:t>Imagina una base de datos de empleados donde cada empleado puede tener solo una dirección </a:t>
            </a:r>
            <a:r>
              <a:rPr lang="es-MX" i="1" dirty="0" smtClean="0"/>
              <a:t>y </a:t>
            </a:r>
            <a:r>
              <a:rPr lang="es-MX" i="1" dirty="0"/>
              <a:t>cada dirección </a:t>
            </a:r>
            <a:r>
              <a:rPr lang="es-MX" i="1" dirty="0" smtClean="0"/>
              <a:t>está </a:t>
            </a:r>
            <a:r>
              <a:rPr lang="es-MX" i="1" dirty="0"/>
              <a:t>asociada con solo un empleado.</a:t>
            </a:r>
            <a:endParaRPr lang="en-US" i="1" dirty="0"/>
          </a:p>
        </p:txBody>
      </p:sp>
      <p:pic>
        <p:nvPicPr>
          <p:cNvPr id="7" name="Imagen 6"/>
          <p:cNvPicPr>
            <a:picLocks noChangeAspect="1"/>
          </p:cNvPicPr>
          <p:nvPr/>
        </p:nvPicPr>
        <p:blipFill>
          <a:blip r:embed="rId2"/>
          <a:stretch>
            <a:fillRect/>
          </a:stretch>
        </p:blipFill>
        <p:spPr>
          <a:xfrm>
            <a:off x="6096000" y="2687110"/>
            <a:ext cx="5257800" cy="3767400"/>
          </a:xfrm>
          <a:prstGeom prst="rect">
            <a:avLst/>
          </a:prstGeom>
        </p:spPr>
      </p:pic>
    </p:spTree>
    <p:extLst>
      <p:ext uri="{BB962C8B-B14F-4D97-AF65-F5344CB8AC3E}">
        <p14:creationId xmlns:p14="http://schemas.microsoft.com/office/powerpoint/2010/main" val="3287261296"/>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MX" b="1" dirty="0"/>
              <a:t>Relación de uno a muchos</a:t>
            </a:r>
            <a:endParaRPr lang="en-US" dirty="0"/>
          </a:p>
        </p:txBody>
      </p:sp>
      <p:sp>
        <p:nvSpPr>
          <p:cNvPr id="3" name="Marcador de contenido 2"/>
          <p:cNvSpPr>
            <a:spLocks noGrp="1"/>
          </p:cNvSpPr>
          <p:nvPr>
            <p:ph idx="1"/>
          </p:nvPr>
        </p:nvSpPr>
        <p:spPr>
          <a:xfrm>
            <a:off x="838200" y="1825625"/>
            <a:ext cx="4807226" cy="4351338"/>
          </a:xfrm>
        </p:spPr>
        <p:txBody>
          <a:bodyPr>
            <a:normAutofit fontScale="92500" lnSpcReduction="20000"/>
          </a:bodyPr>
          <a:lstStyle/>
          <a:p>
            <a:pPr algn="just"/>
            <a:r>
              <a:rPr lang="es-MX" dirty="0" smtClean="0"/>
              <a:t>En </a:t>
            </a:r>
            <a:r>
              <a:rPr lang="es-MX" dirty="0"/>
              <a:t>una relación de uno a muchos, </a:t>
            </a:r>
            <a:r>
              <a:rPr lang="es-MX" b="1" dirty="0">
                <a:solidFill>
                  <a:srgbClr val="FF0000"/>
                </a:solidFill>
              </a:rPr>
              <a:t>un registro en una tabla (tabla A) puede estar relacionado con uno o más registros en otra tabla (tabla B), </a:t>
            </a:r>
            <a:r>
              <a:rPr lang="es-MX" dirty="0"/>
              <a:t>pero un registro en la tabla B solo puede estar relacionado con un registro en la tabla A. Esto se implementa mediante la creación de una clave foránea en la tabla secundaria (tabla B) que hace referencia a la clave primaria de la tabla principal (tabla A).</a:t>
            </a:r>
            <a:endParaRPr lang="en-US" dirty="0"/>
          </a:p>
        </p:txBody>
      </p:sp>
      <p:sp>
        <p:nvSpPr>
          <p:cNvPr id="5" name="Rectángulo 4"/>
          <p:cNvSpPr/>
          <p:nvPr/>
        </p:nvSpPr>
        <p:spPr>
          <a:xfrm>
            <a:off x="6280110" y="1835702"/>
            <a:ext cx="5515745" cy="923330"/>
          </a:xfrm>
          <a:prstGeom prst="rect">
            <a:avLst/>
          </a:prstGeom>
        </p:spPr>
        <p:txBody>
          <a:bodyPr wrap="square">
            <a:spAutoFit/>
          </a:bodyPr>
          <a:lstStyle/>
          <a:p>
            <a:pPr algn="just"/>
            <a:r>
              <a:rPr lang="es-MX" i="1" dirty="0"/>
              <a:t>Por ejemplo, un departamento puede tener muchos empleados, pero cada empleado pertenece a solo un departamento.</a:t>
            </a:r>
            <a:endParaRPr lang="en-US" i="1" dirty="0"/>
          </a:p>
        </p:txBody>
      </p:sp>
      <p:pic>
        <p:nvPicPr>
          <p:cNvPr id="6" name="Imagen 5"/>
          <p:cNvPicPr>
            <a:picLocks noChangeAspect="1"/>
          </p:cNvPicPr>
          <p:nvPr/>
        </p:nvPicPr>
        <p:blipFill>
          <a:blip r:embed="rId2"/>
          <a:stretch>
            <a:fillRect/>
          </a:stretch>
        </p:blipFill>
        <p:spPr>
          <a:xfrm>
            <a:off x="6280110" y="2833221"/>
            <a:ext cx="5515745" cy="3343742"/>
          </a:xfrm>
          <a:prstGeom prst="rect">
            <a:avLst/>
          </a:prstGeom>
        </p:spPr>
      </p:pic>
    </p:spTree>
    <p:extLst>
      <p:ext uri="{BB962C8B-B14F-4D97-AF65-F5344CB8AC3E}">
        <p14:creationId xmlns:p14="http://schemas.microsoft.com/office/powerpoint/2010/main" val="3041139038"/>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PE" b="1" dirty="0" smtClean="0"/>
              <a:t>Conclusión</a:t>
            </a:r>
            <a:endParaRPr lang="en-US" b="1" dirty="0"/>
          </a:p>
        </p:txBody>
      </p:sp>
      <p:sp>
        <p:nvSpPr>
          <p:cNvPr id="3" name="Marcador de contenido 2"/>
          <p:cNvSpPr>
            <a:spLocks noGrp="1"/>
          </p:cNvSpPr>
          <p:nvPr>
            <p:ph idx="1"/>
          </p:nvPr>
        </p:nvSpPr>
        <p:spPr/>
        <p:txBody>
          <a:bodyPr/>
          <a:lstStyle/>
          <a:p>
            <a:pPr algn="just"/>
            <a:r>
              <a:rPr lang="es-MX" dirty="0"/>
              <a:t>En una relación de uno a uno, generalmente encontrarás una </a:t>
            </a:r>
            <a:r>
              <a:rPr lang="es-MX" b="1" dirty="0">
                <a:solidFill>
                  <a:srgbClr val="FF0000"/>
                </a:solidFill>
              </a:rPr>
              <a:t>restricción de unicidad en la clave foránea (</a:t>
            </a:r>
            <a:r>
              <a:rPr lang="es-MX" b="1" dirty="0" err="1">
                <a:solidFill>
                  <a:srgbClr val="FF0000"/>
                </a:solidFill>
              </a:rPr>
              <a:t>foreign</a:t>
            </a:r>
            <a:r>
              <a:rPr lang="es-MX" b="1" dirty="0">
                <a:solidFill>
                  <a:srgbClr val="FF0000"/>
                </a:solidFill>
              </a:rPr>
              <a:t> </a:t>
            </a:r>
            <a:r>
              <a:rPr lang="es-MX" b="1" dirty="0" err="1">
                <a:solidFill>
                  <a:srgbClr val="FF0000"/>
                </a:solidFill>
              </a:rPr>
              <a:t>key</a:t>
            </a:r>
            <a:r>
              <a:rPr lang="es-MX" b="1" dirty="0">
                <a:solidFill>
                  <a:srgbClr val="FF0000"/>
                </a:solidFill>
              </a:rPr>
              <a:t>)</a:t>
            </a:r>
            <a:r>
              <a:rPr lang="es-MX" dirty="0"/>
              <a:t> de la tabla secundaria (aquella que está en la parte "uno" de la relación). Esto garantiza que cada fila en la tabla secundaria esté asociada con solo una fila en la tabla principal.</a:t>
            </a:r>
          </a:p>
          <a:p>
            <a:pPr algn="just"/>
            <a:r>
              <a:rPr lang="es-MX" dirty="0"/>
              <a:t>En una relación de uno a muchos, no necesitas esa restricción de unicidad en la clave foránea de la tabla secundaria. Esto permite que </a:t>
            </a:r>
            <a:r>
              <a:rPr lang="es-MX" b="1" dirty="0">
                <a:solidFill>
                  <a:srgbClr val="FF0000"/>
                </a:solidFill>
              </a:rPr>
              <a:t>múltiples filas en la tabla secundaria estén relacionadas con una sola fila en la tabla principal</a:t>
            </a:r>
            <a:r>
              <a:rPr lang="es-MX" dirty="0"/>
              <a:t>, lo que refleja el concepto de "uno a muchos".</a:t>
            </a:r>
          </a:p>
          <a:p>
            <a:endParaRPr lang="en-US" dirty="0"/>
          </a:p>
        </p:txBody>
      </p:sp>
    </p:spTree>
    <p:extLst>
      <p:ext uri="{BB962C8B-B14F-4D97-AF65-F5344CB8AC3E}">
        <p14:creationId xmlns:p14="http://schemas.microsoft.com/office/powerpoint/2010/main" val="937744255"/>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MX" b="1" dirty="0"/>
              <a:t>Relación de muchos a muchos:</a:t>
            </a:r>
            <a:endParaRPr lang="en-US" dirty="0"/>
          </a:p>
        </p:txBody>
      </p:sp>
      <p:sp>
        <p:nvSpPr>
          <p:cNvPr id="3" name="Marcador de contenido 2"/>
          <p:cNvSpPr>
            <a:spLocks noGrp="1"/>
          </p:cNvSpPr>
          <p:nvPr>
            <p:ph idx="1"/>
          </p:nvPr>
        </p:nvSpPr>
        <p:spPr>
          <a:xfrm>
            <a:off x="838200" y="1825625"/>
            <a:ext cx="4436165" cy="4351338"/>
          </a:xfrm>
        </p:spPr>
        <p:txBody>
          <a:bodyPr>
            <a:normAutofit lnSpcReduction="10000"/>
          </a:bodyPr>
          <a:lstStyle/>
          <a:p>
            <a:pPr algn="just"/>
            <a:r>
              <a:rPr lang="es-MX" dirty="0" smtClean="0"/>
              <a:t>En </a:t>
            </a:r>
            <a:r>
              <a:rPr lang="es-MX" dirty="0"/>
              <a:t>una relación de muchos a muchos, cada registro en </a:t>
            </a:r>
            <a:r>
              <a:rPr lang="es-MX" b="1" dirty="0">
                <a:solidFill>
                  <a:srgbClr val="FF0000"/>
                </a:solidFill>
              </a:rPr>
              <a:t>la tabla A puede estar relacionado con uno o más registros en la tabla B</a:t>
            </a:r>
            <a:r>
              <a:rPr lang="es-MX" dirty="0"/>
              <a:t>, y viceversa. Esto se logra utilizando una tabla de unión (tabla de relación) que contiene claves foráneas que apuntan a las claves primarias de ambas tablas.</a:t>
            </a:r>
            <a:endParaRPr lang="en-US" dirty="0"/>
          </a:p>
        </p:txBody>
      </p:sp>
      <p:pic>
        <p:nvPicPr>
          <p:cNvPr id="4" name="Imagen 3"/>
          <p:cNvPicPr>
            <a:picLocks noChangeAspect="1"/>
          </p:cNvPicPr>
          <p:nvPr/>
        </p:nvPicPr>
        <p:blipFill>
          <a:blip r:embed="rId2"/>
          <a:stretch>
            <a:fillRect/>
          </a:stretch>
        </p:blipFill>
        <p:spPr>
          <a:xfrm>
            <a:off x="6276266" y="2431296"/>
            <a:ext cx="5077534" cy="3877216"/>
          </a:xfrm>
          <a:prstGeom prst="rect">
            <a:avLst/>
          </a:prstGeom>
        </p:spPr>
      </p:pic>
      <p:sp>
        <p:nvSpPr>
          <p:cNvPr id="5" name="Rectángulo 4"/>
          <p:cNvSpPr/>
          <p:nvPr/>
        </p:nvSpPr>
        <p:spPr>
          <a:xfrm>
            <a:off x="6276266" y="1507966"/>
            <a:ext cx="5009322" cy="923330"/>
          </a:xfrm>
          <a:prstGeom prst="rect">
            <a:avLst/>
          </a:prstGeom>
        </p:spPr>
        <p:txBody>
          <a:bodyPr wrap="square">
            <a:spAutoFit/>
          </a:bodyPr>
          <a:lstStyle/>
          <a:p>
            <a:pPr algn="just"/>
            <a:r>
              <a:rPr lang="es-MX" i="1" dirty="0"/>
              <a:t>En una base de datos de universidad, donde los estudiantes pueden inscribirse en múltiples cursos y un curso puede tener varios estudiantes.</a:t>
            </a:r>
            <a:endParaRPr lang="en-US" i="1" dirty="0"/>
          </a:p>
        </p:txBody>
      </p:sp>
    </p:spTree>
    <p:extLst>
      <p:ext uri="{BB962C8B-B14F-4D97-AF65-F5344CB8AC3E}">
        <p14:creationId xmlns:p14="http://schemas.microsoft.com/office/powerpoint/2010/main" val="2121729802"/>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838200" y="530087"/>
            <a:ext cx="10515600" cy="683523"/>
          </a:xfrm>
        </p:spPr>
        <p:txBody>
          <a:bodyPr>
            <a:normAutofit/>
          </a:bodyPr>
          <a:lstStyle/>
          <a:p>
            <a:r>
              <a:rPr lang="es-PE" sz="3600" b="1" dirty="0" smtClean="0"/>
              <a:t>Ejercicio3 - Relaciones</a:t>
            </a:r>
            <a:endParaRPr lang="en-US" sz="3600" b="1" dirty="0"/>
          </a:p>
        </p:txBody>
      </p:sp>
      <p:sp>
        <p:nvSpPr>
          <p:cNvPr id="4" name="Rectangle 1"/>
          <p:cNvSpPr>
            <a:spLocks noGrp="1" noChangeArrowheads="1"/>
          </p:cNvSpPr>
          <p:nvPr>
            <p:ph idx="1"/>
          </p:nvPr>
        </p:nvSpPr>
        <p:spPr bwMode="auto">
          <a:xfrm>
            <a:off x="838200" y="1265510"/>
            <a:ext cx="10515600"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457200" marR="0" lvl="0" indent="-457200" algn="just" defTabSz="914400" rtl="0" eaLnBrk="0" fontAlgn="base" latinLnBrk="0" hangingPunct="0">
              <a:lnSpc>
                <a:spcPct val="100000"/>
              </a:lnSpc>
              <a:spcBef>
                <a:spcPct val="0"/>
              </a:spcBef>
              <a:spcAft>
                <a:spcPct val="0"/>
              </a:spcAft>
              <a:buClrTx/>
              <a:buSzTx/>
              <a:buFontTx/>
              <a:buAutoNum type="arabicPeriod"/>
              <a:tabLst/>
            </a:pPr>
            <a:r>
              <a:rPr kumimoji="0" lang="en-US" altLang="en-US" sz="2000" b="1" i="0" u="none" strike="noStrike" cap="none" normalizeH="0" baseline="0" dirty="0" err="1" smtClean="0">
                <a:ln>
                  <a:noFill/>
                </a:ln>
                <a:solidFill>
                  <a:schemeClr val="tx1"/>
                </a:solidFill>
                <a:effectLst/>
                <a:latin typeface="Arial" panose="020B0604020202020204" pitchFamily="34" charset="0"/>
              </a:rPr>
              <a:t>Relación</a:t>
            </a:r>
            <a:r>
              <a:rPr kumimoji="0" lang="en-US" altLang="en-US" sz="2000" b="1" i="0" u="none" strike="noStrike" cap="none" normalizeH="0" baseline="0" dirty="0" smtClean="0">
                <a:ln>
                  <a:noFill/>
                </a:ln>
                <a:solidFill>
                  <a:schemeClr val="tx1"/>
                </a:solidFill>
                <a:effectLst/>
                <a:latin typeface="Arial" panose="020B0604020202020204" pitchFamily="34" charset="0"/>
              </a:rPr>
              <a:t> Uno a Uno</a:t>
            </a:r>
          </a:p>
          <a:p>
            <a:pPr marL="0" marR="0" lvl="0" indent="0" algn="just" defTabSz="914400" rtl="0" eaLnBrk="0" fontAlgn="base" latinLnBrk="0" hangingPunct="0">
              <a:lnSpc>
                <a:spcPct val="100000"/>
              </a:lnSpc>
              <a:spcBef>
                <a:spcPct val="0"/>
              </a:spcBef>
              <a:spcAft>
                <a:spcPct val="0"/>
              </a:spcAft>
              <a:buClrTx/>
              <a:buSzTx/>
              <a:buNone/>
              <a:tabLst/>
            </a:pPr>
            <a:r>
              <a:rPr kumimoji="0" lang="en-US" altLang="en-US" sz="2000" b="0" i="0" u="none" strike="noStrike" cap="none" normalizeH="0" baseline="0" dirty="0" smtClean="0">
                <a:ln>
                  <a:noFill/>
                </a:ln>
                <a:solidFill>
                  <a:schemeClr val="tx1"/>
                </a:solidFill>
                <a:effectLst/>
                <a:latin typeface="Arial" panose="020B0604020202020204" pitchFamily="34" charset="0"/>
              </a:rPr>
              <a:t>En </a:t>
            </a:r>
            <a:r>
              <a:rPr kumimoji="0" lang="en-US" altLang="en-US" sz="2000" b="0" i="0" u="none" strike="noStrike" cap="none" normalizeH="0" baseline="0" dirty="0" err="1" smtClean="0">
                <a:ln>
                  <a:noFill/>
                </a:ln>
                <a:solidFill>
                  <a:schemeClr val="tx1"/>
                </a:solidFill>
                <a:effectLst/>
                <a:latin typeface="Arial" panose="020B0604020202020204" pitchFamily="34" charset="0"/>
              </a:rPr>
              <a:t>una</a:t>
            </a:r>
            <a:r>
              <a:rPr kumimoji="0" lang="en-US" altLang="en-US" sz="2000" b="0" i="0" u="none" strike="noStrike" cap="none" normalizeH="0" baseline="0" dirty="0" smtClean="0">
                <a:ln>
                  <a:noFill/>
                </a:ln>
                <a:solidFill>
                  <a:schemeClr val="tx1"/>
                </a:solidFill>
                <a:effectLst/>
                <a:latin typeface="Arial" panose="020B0604020202020204" pitchFamily="34" charset="0"/>
              </a:rPr>
              <a:t> base de </a:t>
            </a:r>
            <a:r>
              <a:rPr kumimoji="0" lang="en-US" altLang="en-US" sz="2000" b="0" i="0" u="none" strike="noStrike" cap="none" normalizeH="0" baseline="0" dirty="0" err="1" smtClean="0">
                <a:ln>
                  <a:noFill/>
                </a:ln>
                <a:solidFill>
                  <a:schemeClr val="tx1"/>
                </a:solidFill>
                <a:effectLst/>
                <a:latin typeface="Arial" panose="020B0604020202020204" pitchFamily="34" charset="0"/>
              </a:rPr>
              <a:t>datos</a:t>
            </a:r>
            <a:r>
              <a:rPr kumimoji="0" lang="en-US" altLang="en-US" sz="2000" b="0" i="0" u="none" strike="noStrike" cap="none" normalizeH="0" baseline="0" dirty="0" smtClean="0">
                <a:ln>
                  <a:noFill/>
                </a:ln>
                <a:solidFill>
                  <a:schemeClr val="tx1"/>
                </a:solidFill>
                <a:effectLst/>
                <a:latin typeface="Arial" panose="020B0604020202020204" pitchFamily="34" charset="0"/>
              </a:rPr>
              <a:t> de </a:t>
            </a:r>
            <a:r>
              <a:rPr kumimoji="0" lang="en-US" altLang="en-US" sz="2000" b="0" i="0" u="none" strike="noStrike" cap="none" normalizeH="0" baseline="0" dirty="0" err="1" smtClean="0">
                <a:ln>
                  <a:noFill/>
                </a:ln>
                <a:solidFill>
                  <a:schemeClr val="tx1"/>
                </a:solidFill>
                <a:effectLst/>
                <a:latin typeface="Arial" panose="020B0604020202020204" pitchFamily="34" charset="0"/>
              </a:rPr>
              <a:t>una</a:t>
            </a:r>
            <a:r>
              <a:rPr kumimoji="0" lang="en-US" altLang="en-US" sz="2000" b="0" i="0" u="none" strike="noStrike" cap="none" normalizeH="0" baseline="0" dirty="0" smtClean="0">
                <a:ln>
                  <a:noFill/>
                </a:ln>
                <a:solidFill>
                  <a:schemeClr val="tx1"/>
                </a:solidFill>
                <a:effectLst/>
                <a:latin typeface="Arial" panose="020B0604020202020204" pitchFamily="34" charset="0"/>
              </a:rPr>
              <a:t> </a:t>
            </a:r>
            <a:r>
              <a:rPr kumimoji="0" lang="en-US" altLang="en-US" sz="2000" b="0" i="0" u="none" strike="noStrike" cap="none" normalizeH="0" baseline="0" dirty="0" err="1" smtClean="0">
                <a:ln>
                  <a:noFill/>
                </a:ln>
                <a:solidFill>
                  <a:schemeClr val="tx1"/>
                </a:solidFill>
                <a:effectLst/>
                <a:latin typeface="Arial" panose="020B0604020202020204" pitchFamily="34" charset="0"/>
              </a:rPr>
              <a:t>clínica</a:t>
            </a:r>
            <a:r>
              <a:rPr kumimoji="0" lang="en-US" altLang="en-US" sz="2000" b="0" i="0" u="none" strike="noStrike" cap="none" normalizeH="0" baseline="0" dirty="0" smtClean="0">
                <a:ln>
                  <a:noFill/>
                </a:ln>
                <a:solidFill>
                  <a:schemeClr val="tx1"/>
                </a:solidFill>
                <a:effectLst/>
                <a:latin typeface="Arial" panose="020B0604020202020204" pitchFamily="34" charset="0"/>
              </a:rPr>
              <a:t>, </a:t>
            </a:r>
            <a:r>
              <a:rPr kumimoji="0" lang="en-US" altLang="en-US" sz="2000" b="0" i="0" u="none" strike="noStrike" cap="none" normalizeH="0" baseline="0" dirty="0" err="1" smtClean="0">
                <a:ln>
                  <a:noFill/>
                </a:ln>
                <a:solidFill>
                  <a:schemeClr val="tx1"/>
                </a:solidFill>
                <a:effectLst/>
                <a:latin typeface="Arial" panose="020B0604020202020204" pitchFamily="34" charset="0"/>
              </a:rPr>
              <a:t>cada</a:t>
            </a:r>
            <a:r>
              <a:rPr kumimoji="0" lang="en-US" altLang="en-US" sz="2000" b="0" i="0" u="none" strike="noStrike" cap="none" normalizeH="0" baseline="0" dirty="0" smtClean="0">
                <a:ln>
                  <a:noFill/>
                </a:ln>
                <a:solidFill>
                  <a:schemeClr val="tx1"/>
                </a:solidFill>
                <a:effectLst/>
                <a:latin typeface="Arial" panose="020B0604020202020204" pitchFamily="34" charset="0"/>
              </a:rPr>
              <a:t> </a:t>
            </a:r>
            <a:r>
              <a:rPr kumimoji="0" lang="en-US" altLang="en-US" sz="2000" b="0" i="0" u="none" strike="noStrike" cap="none" normalizeH="0" baseline="0" dirty="0" err="1" smtClean="0">
                <a:ln>
                  <a:noFill/>
                </a:ln>
                <a:solidFill>
                  <a:schemeClr val="tx1"/>
                </a:solidFill>
                <a:effectLst/>
                <a:latin typeface="Arial" panose="020B0604020202020204" pitchFamily="34" charset="0"/>
              </a:rPr>
              <a:t>paciente</a:t>
            </a:r>
            <a:r>
              <a:rPr kumimoji="0" lang="en-US" altLang="en-US" sz="2000" b="0" i="0" u="none" strike="noStrike" cap="none" normalizeH="0" baseline="0" dirty="0" smtClean="0">
                <a:ln>
                  <a:noFill/>
                </a:ln>
                <a:solidFill>
                  <a:schemeClr val="tx1"/>
                </a:solidFill>
                <a:effectLst/>
                <a:latin typeface="Arial" panose="020B0604020202020204" pitchFamily="34" charset="0"/>
              </a:rPr>
              <a:t> </a:t>
            </a:r>
            <a:r>
              <a:rPr kumimoji="0" lang="en-US" altLang="en-US" sz="2000" b="0" i="0" u="none" strike="noStrike" cap="none" normalizeH="0" baseline="0" dirty="0" err="1" smtClean="0">
                <a:ln>
                  <a:noFill/>
                </a:ln>
                <a:solidFill>
                  <a:schemeClr val="tx1"/>
                </a:solidFill>
                <a:effectLst/>
                <a:latin typeface="Arial" panose="020B0604020202020204" pitchFamily="34" charset="0"/>
              </a:rPr>
              <a:t>tiene</a:t>
            </a:r>
            <a:r>
              <a:rPr kumimoji="0" lang="en-US" altLang="en-US" sz="2000" b="0" i="0" u="none" strike="noStrike" cap="none" normalizeH="0" baseline="0" dirty="0" smtClean="0">
                <a:ln>
                  <a:noFill/>
                </a:ln>
                <a:solidFill>
                  <a:schemeClr val="tx1"/>
                </a:solidFill>
                <a:effectLst/>
                <a:latin typeface="Arial" panose="020B0604020202020204" pitchFamily="34" charset="0"/>
              </a:rPr>
              <a:t> </a:t>
            </a:r>
            <a:r>
              <a:rPr kumimoji="0" lang="en-US" altLang="en-US" sz="2000" b="0" i="0" u="none" strike="noStrike" cap="none" normalizeH="0" baseline="0" dirty="0" err="1" smtClean="0">
                <a:ln>
                  <a:noFill/>
                </a:ln>
                <a:solidFill>
                  <a:schemeClr val="tx1"/>
                </a:solidFill>
                <a:effectLst/>
                <a:latin typeface="Arial" panose="020B0604020202020204" pitchFamily="34" charset="0"/>
              </a:rPr>
              <a:t>una</a:t>
            </a:r>
            <a:r>
              <a:rPr kumimoji="0" lang="en-US" altLang="en-US" sz="2000" b="0" i="0" u="none" strike="noStrike" cap="none" normalizeH="0" baseline="0" dirty="0" smtClean="0">
                <a:ln>
                  <a:noFill/>
                </a:ln>
                <a:solidFill>
                  <a:schemeClr val="tx1"/>
                </a:solidFill>
                <a:effectLst/>
                <a:latin typeface="Arial" panose="020B0604020202020204" pitchFamily="34" charset="0"/>
              </a:rPr>
              <a:t> </a:t>
            </a:r>
            <a:r>
              <a:rPr kumimoji="0" lang="en-US" altLang="en-US" sz="2000" b="0" i="0" u="none" strike="noStrike" cap="none" normalizeH="0" baseline="0" dirty="0" err="1" smtClean="0">
                <a:ln>
                  <a:noFill/>
                </a:ln>
                <a:solidFill>
                  <a:schemeClr val="tx1"/>
                </a:solidFill>
                <a:effectLst/>
                <a:latin typeface="Arial" panose="020B0604020202020204" pitchFamily="34" charset="0"/>
              </a:rPr>
              <a:t>única</a:t>
            </a:r>
            <a:r>
              <a:rPr kumimoji="0" lang="en-US" altLang="en-US" sz="2000" b="0" i="0" u="none" strike="noStrike" cap="none" normalizeH="0" baseline="0" dirty="0" smtClean="0">
                <a:ln>
                  <a:noFill/>
                </a:ln>
                <a:solidFill>
                  <a:schemeClr val="tx1"/>
                </a:solidFill>
                <a:effectLst/>
                <a:latin typeface="Arial" panose="020B0604020202020204" pitchFamily="34" charset="0"/>
              </a:rPr>
              <a:t> </a:t>
            </a:r>
            <a:r>
              <a:rPr kumimoji="0" lang="en-US" altLang="en-US" sz="2000" b="0" i="0" u="none" strike="noStrike" cap="none" normalizeH="0" baseline="0" dirty="0" err="1" smtClean="0">
                <a:ln>
                  <a:noFill/>
                </a:ln>
                <a:solidFill>
                  <a:schemeClr val="tx1"/>
                </a:solidFill>
                <a:effectLst/>
                <a:latin typeface="Arial" panose="020B0604020202020204" pitchFamily="34" charset="0"/>
              </a:rPr>
              <a:t>dirección</a:t>
            </a:r>
            <a:r>
              <a:rPr kumimoji="0" lang="en-US" altLang="en-US" sz="2000" b="0" i="0" u="none" strike="noStrike" cap="none" normalizeH="0" baseline="0" dirty="0" smtClean="0">
                <a:ln>
                  <a:noFill/>
                </a:ln>
                <a:solidFill>
                  <a:schemeClr val="tx1"/>
                </a:solidFill>
                <a:effectLst/>
                <a:latin typeface="Arial" panose="020B0604020202020204" pitchFamily="34" charset="0"/>
              </a:rPr>
              <a:t> </a:t>
            </a:r>
            <a:r>
              <a:rPr kumimoji="0" lang="en-US" altLang="en-US" sz="2000" b="0" i="0" u="none" strike="noStrike" cap="none" normalizeH="0" baseline="0" dirty="0" err="1" smtClean="0">
                <a:ln>
                  <a:noFill/>
                </a:ln>
                <a:solidFill>
                  <a:schemeClr val="tx1"/>
                </a:solidFill>
                <a:effectLst/>
                <a:latin typeface="Arial" panose="020B0604020202020204" pitchFamily="34" charset="0"/>
              </a:rPr>
              <a:t>registrada</a:t>
            </a:r>
            <a:r>
              <a:rPr kumimoji="0" lang="en-US" altLang="en-US" sz="2000" b="0" i="0" u="none" strike="noStrike" cap="none" normalizeH="0" baseline="0" dirty="0" smtClean="0">
                <a:ln>
                  <a:noFill/>
                </a:ln>
                <a:solidFill>
                  <a:schemeClr val="tx1"/>
                </a:solidFill>
                <a:effectLst/>
                <a:latin typeface="Arial" panose="020B0604020202020204" pitchFamily="34" charset="0"/>
              </a:rPr>
              <a:t>. </a:t>
            </a:r>
            <a:r>
              <a:rPr kumimoji="0" lang="en-US" altLang="en-US" sz="2000" b="0" i="0" u="none" strike="noStrike" cap="none" normalizeH="0" baseline="0" dirty="0" err="1" smtClean="0">
                <a:ln>
                  <a:noFill/>
                </a:ln>
                <a:solidFill>
                  <a:schemeClr val="tx1"/>
                </a:solidFill>
                <a:effectLst/>
                <a:latin typeface="Arial" panose="020B0604020202020204" pitchFamily="34" charset="0"/>
              </a:rPr>
              <a:t>Esto</a:t>
            </a:r>
            <a:r>
              <a:rPr kumimoji="0" lang="en-US" altLang="en-US" sz="2000" b="0" i="0" u="none" strike="noStrike" cap="none" normalizeH="0" baseline="0" dirty="0" smtClean="0">
                <a:ln>
                  <a:noFill/>
                </a:ln>
                <a:solidFill>
                  <a:schemeClr val="tx1"/>
                </a:solidFill>
                <a:effectLst/>
                <a:latin typeface="Arial" panose="020B0604020202020204" pitchFamily="34" charset="0"/>
              </a:rPr>
              <a:t> </a:t>
            </a:r>
            <a:r>
              <a:rPr kumimoji="0" lang="en-US" altLang="en-US" sz="2000" b="0" i="0" u="none" strike="noStrike" cap="none" normalizeH="0" baseline="0" dirty="0" err="1" smtClean="0">
                <a:ln>
                  <a:noFill/>
                </a:ln>
                <a:solidFill>
                  <a:schemeClr val="tx1"/>
                </a:solidFill>
                <a:effectLst/>
                <a:latin typeface="Arial" panose="020B0604020202020204" pitchFamily="34" charset="0"/>
              </a:rPr>
              <a:t>implica</a:t>
            </a:r>
            <a:r>
              <a:rPr kumimoji="0" lang="en-US" altLang="en-US" sz="2000" b="0" i="0" u="none" strike="noStrike" cap="none" normalizeH="0" baseline="0" dirty="0" smtClean="0">
                <a:ln>
                  <a:noFill/>
                </a:ln>
                <a:solidFill>
                  <a:schemeClr val="tx1"/>
                </a:solidFill>
                <a:effectLst/>
                <a:latin typeface="Arial" panose="020B0604020202020204" pitchFamily="34" charset="0"/>
              </a:rPr>
              <a:t> </a:t>
            </a:r>
            <a:r>
              <a:rPr kumimoji="0" lang="en-US" altLang="en-US" sz="2000" b="0" i="0" u="none" strike="noStrike" cap="none" normalizeH="0" baseline="0" dirty="0" err="1" smtClean="0">
                <a:ln>
                  <a:noFill/>
                </a:ln>
                <a:solidFill>
                  <a:schemeClr val="tx1"/>
                </a:solidFill>
                <a:effectLst/>
                <a:latin typeface="Arial" panose="020B0604020202020204" pitchFamily="34" charset="0"/>
              </a:rPr>
              <a:t>una</a:t>
            </a:r>
            <a:r>
              <a:rPr kumimoji="0" lang="en-US" altLang="en-US" sz="2000" b="0" i="0" u="none" strike="noStrike" cap="none" normalizeH="0" baseline="0" dirty="0" smtClean="0">
                <a:ln>
                  <a:noFill/>
                </a:ln>
                <a:solidFill>
                  <a:schemeClr val="tx1"/>
                </a:solidFill>
                <a:effectLst/>
                <a:latin typeface="Arial" panose="020B0604020202020204" pitchFamily="34" charset="0"/>
              </a:rPr>
              <a:t> </a:t>
            </a:r>
            <a:r>
              <a:rPr kumimoji="0" lang="en-US" altLang="en-US" sz="2000" b="0" i="0" u="none" strike="noStrike" cap="none" normalizeH="0" baseline="0" dirty="0" err="1" smtClean="0">
                <a:ln>
                  <a:noFill/>
                </a:ln>
                <a:solidFill>
                  <a:schemeClr val="tx1"/>
                </a:solidFill>
                <a:effectLst/>
                <a:latin typeface="Arial" panose="020B0604020202020204" pitchFamily="34" charset="0"/>
              </a:rPr>
              <a:t>relación</a:t>
            </a:r>
            <a:r>
              <a:rPr kumimoji="0" lang="en-US" altLang="en-US" sz="2000" b="0" i="0" u="none" strike="noStrike" cap="none" normalizeH="0" baseline="0" dirty="0" smtClean="0">
                <a:ln>
                  <a:noFill/>
                </a:ln>
                <a:solidFill>
                  <a:schemeClr val="tx1"/>
                </a:solidFill>
                <a:effectLst/>
                <a:latin typeface="Arial" panose="020B0604020202020204" pitchFamily="34" charset="0"/>
              </a:rPr>
              <a:t> </a:t>
            </a:r>
            <a:r>
              <a:rPr kumimoji="0" lang="en-US" altLang="en-US" sz="2000" b="1" i="0" u="none" strike="noStrike" cap="none" normalizeH="0" baseline="0" dirty="0" err="1" smtClean="0">
                <a:ln>
                  <a:noFill/>
                </a:ln>
                <a:solidFill>
                  <a:schemeClr val="tx1"/>
                </a:solidFill>
                <a:effectLst/>
                <a:latin typeface="Arial" panose="020B0604020202020204" pitchFamily="34" charset="0"/>
              </a:rPr>
              <a:t>uno</a:t>
            </a:r>
            <a:r>
              <a:rPr kumimoji="0" lang="en-US" altLang="en-US" sz="2000" b="1" i="0" u="none" strike="noStrike" cap="none" normalizeH="0" baseline="0" dirty="0" smtClean="0">
                <a:ln>
                  <a:noFill/>
                </a:ln>
                <a:solidFill>
                  <a:schemeClr val="tx1"/>
                </a:solidFill>
                <a:effectLst/>
                <a:latin typeface="Arial" panose="020B0604020202020204" pitchFamily="34" charset="0"/>
              </a:rPr>
              <a:t> a </a:t>
            </a:r>
            <a:r>
              <a:rPr kumimoji="0" lang="en-US" altLang="en-US" sz="2000" b="1" i="0" u="none" strike="noStrike" cap="none" normalizeH="0" baseline="0" dirty="0" err="1" smtClean="0">
                <a:ln>
                  <a:noFill/>
                </a:ln>
                <a:solidFill>
                  <a:schemeClr val="tx1"/>
                </a:solidFill>
                <a:effectLst/>
                <a:latin typeface="Arial" panose="020B0604020202020204" pitchFamily="34" charset="0"/>
              </a:rPr>
              <a:t>uno</a:t>
            </a:r>
            <a:r>
              <a:rPr kumimoji="0" lang="en-US" altLang="en-US" sz="2000" b="0" i="0" u="none" strike="noStrike" cap="none" normalizeH="0" baseline="0" dirty="0" smtClean="0">
                <a:ln>
                  <a:noFill/>
                </a:ln>
                <a:solidFill>
                  <a:schemeClr val="tx1"/>
                </a:solidFill>
                <a:effectLst/>
                <a:latin typeface="Arial" panose="020B0604020202020204" pitchFamily="34" charset="0"/>
              </a:rPr>
              <a:t> entre las </a:t>
            </a:r>
            <a:r>
              <a:rPr kumimoji="0" lang="en-US" altLang="en-US" sz="2000" b="0" i="0" u="none" strike="noStrike" cap="none" normalizeH="0" baseline="0" dirty="0" err="1" smtClean="0">
                <a:ln>
                  <a:noFill/>
                </a:ln>
                <a:solidFill>
                  <a:schemeClr val="tx1"/>
                </a:solidFill>
                <a:effectLst/>
                <a:latin typeface="Arial" panose="020B0604020202020204" pitchFamily="34" charset="0"/>
              </a:rPr>
              <a:t>tablas</a:t>
            </a:r>
            <a:r>
              <a:rPr kumimoji="0" lang="en-US" altLang="en-US" sz="2000" b="0" i="0" u="none" strike="noStrike" cap="none" normalizeH="0" baseline="0" dirty="0" smtClean="0">
                <a:ln>
                  <a:noFill/>
                </a:ln>
                <a:solidFill>
                  <a:schemeClr val="tx1"/>
                </a:solidFill>
                <a:effectLst/>
                <a:latin typeface="Arial" panose="020B0604020202020204" pitchFamily="34" charset="0"/>
              </a:rPr>
              <a:t> </a:t>
            </a:r>
            <a:r>
              <a:rPr kumimoji="0" lang="en-US" altLang="en-US" sz="2000" b="0" i="0" u="none" strike="noStrike" cap="none" normalizeH="0" baseline="0" dirty="0" err="1" smtClean="0">
                <a:ln>
                  <a:noFill/>
                </a:ln>
                <a:solidFill>
                  <a:schemeClr val="tx1"/>
                </a:solidFill>
                <a:effectLst/>
                <a:latin typeface="Arial Unicode MS"/>
              </a:rPr>
              <a:t>Paciente</a:t>
            </a:r>
            <a:r>
              <a:rPr kumimoji="0" lang="en-US" altLang="en-US" sz="2000" b="0" i="0" u="none" strike="noStrike" cap="none" normalizeH="0" baseline="0" dirty="0" smtClean="0">
                <a:ln>
                  <a:noFill/>
                </a:ln>
                <a:solidFill>
                  <a:schemeClr val="tx1"/>
                </a:solidFill>
                <a:effectLst/>
              </a:rPr>
              <a:t> y </a:t>
            </a:r>
            <a:r>
              <a:rPr kumimoji="0" lang="en-US" altLang="en-US" sz="2000" b="0" i="0" u="none" strike="noStrike" cap="none" normalizeH="0" baseline="0" dirty="0" err="1" smtClean="0">
                <a:ln>
                  <a:noFill/>
                </a:ln>
                <a:solidFill>
                  <a:schemeClr val="tx1"/>
                </a:solidFill>
                <a:effectLst/>
                <a:latin typeface="Arial Unicode MS"/>
              </a:rPr>
              <a:t>Direccion</a:t>
            </a:r>
            <a:r>
              <a:rPr kumimoji="0" lang="en-US" altLang="en-US" sz="2000" b="0" i="0" u="none" strike="noStrike" cap="none" normalizeH="0" baseline="0" dirty="0" smtClean="0">
                <a:ln>
                  <a:noFill/>
                </a:ln>
                <a:solidFill>
                  <a:schemeClr val="tx1"/>
                </a:solidFill>
                <a:effectLst/>
              </a:rPr>
              <a:t>.</a:t>
            </a:r>
            <a:endParaRPr kumimoji="0" lang="en-US" altLang="en-US" sz="2000" b="0" i="0" u="none" strike="noStrike" cap="none" normalizeH="0" baseline="0" dirty="0" smtClean="0">
              <a:ln>
                <a:noFill/>
              </a:ln>
              <a:solidFill>
                <a:schemeClr val="tx1"/>
              </a:solidFill>
              <a:effectLst/>
              <a:latin typeface="Arial" panose="020B0604020202020204" pitchFamily="34" charset="0"/>
            </a:endParaRPr>
          </a:p>
        </p:txBody>
      </p:sp>
      <p:sp>
        <p:nvSpPr>
          <p:cNvPr id="5" name="Rectangle 2"/>
          <p:cNvSpPr>
            <a:spLocks noChangeArrowheads="1"/>
          </p:cNvSpPr>
          <p:nvPr/>
        </p:nvSpPr>
        <p:spPr bwMode="auto">
          <a:xfrm>
            <a:off x="838200" y="2397708"/>
            <a:ext cx="10515600"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smtClean="0">
                <a:ln>
                  <a:noFill/>
                </a:ln>
                <a:solidFill>
                  <a:schemeClr val="tx1"/>
                </a:solidFill>
                <a:effectLst/>
                <a:latin typeface="Arial" panose="020B0604020202020204" pitchFamily="34" charset="0"/>
              </a:rPr>
              <a:t>2. </a:t>
            </a:r>
            <a:r>
              <a:rPr kumimoji="0" lang="en-US" altLang="en-US" sz="2000" b="1" i="0" u="none" strike="noStrike" cap="none" normalizeH="0" baseline="0" dirty="0" err="1" smtClean="0">
                <a:ln>
                  <a:noFill/>
                </a:ln>
                <a:solidFill>
                  <a:schemeClr val="tx1"/>
                </a:solidFill>
                <a:effectLst/>
                <a:latin typeface="Arial" panose="020B0604020202020204" pitchFamily="34" charset="0"/>
              </a:rPr>
              <a:t>Relación</a:t>
            </a:r>
            <a:r>
              <a:rPr kumimoji="0" lang="en-US" altLang="en-US" sz="2000" b="1" i="0" u="none" strike="noStrike" cap="none" normalizeH="0" baseline="0" dirty="0" smtClean="0">
                <a:ln>
                  <a:noFill/>
                </a:ln>
                <a:solidFill>
                  <a:schemeClr val="tx1"/>
                </a:solidFill>
                <a:effectLst/>
                <a:latin typeface="Arial" panose="020B0604020202020204" pitchFamily="34" charset="0"/>
              </a:rPr>
              <a:t> Uno a </a:t>
            </a:r>
            <a:r>
              <a:rPr kumimoji="0" lang="en-US" altLang="en-US" sz="2000" b="1" i="0" u="none" strike="noStrike" cap="none" normalizeH="0" baseline="0" dirty="0" err="1" smtClean="0">
                <a:ln>
                  <a:noFill/>
                </a:ln>
                <a:solidFill>
                  <a:schemeClr val="tx1"/>
                </a:solidFill>
                <a:effectLst/>
                <a:latin typeface="Arial" panose="020B0604020202020204" pitchFamily="34" charset="0"/>
              </a:rPr>
              <a:t>Muchos</a:t>
            </a:r>
            <a:endParaRPr lang="en-US" altLang="en-US" sz="2000" b="1" dirty="0" smtClean="0">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smtClean="0">
                <a:ln>
                  <a:noFill/>
                </a:ln>
                <a:solidFill>
                  <a:schemeClr val="tx1"/>
                </a:solidFill>
                <a:effectLst/>
                <a:latin typeface="Arial" panose="020B0604020202020204" pitchFamily="34" charset="0"/>
              </a:rPr>
              <a:t>En </a:t>
            </a:r>
            <a:r>
              <a:rPr kumimoji="0" lang="en-US" altLang="en-US" sz="2000" b="0" i="0" u="none" strike="noStrike" cap="none" normalizeH="0" baseline="0" dirty="0" err="1" smtClean="0">
                <a:ln>
                  <a:noFill/>
                </a:ln>
                <a:solidFill>
                  <a:schemeClr val="tx1"/>
                </a:solidFill>
                <a:effectLst/>
                <a:latin typeface="Arial" panose="020B0604020202020204" pitchFamily="34" charset="0"/>
              </a:rPr>
              <a:t>una</a:t>
            </a:r>
            <a:r>
              <a:rPr kumimoji="0" lang="en-US" altLang="en-US" sz="2000" b="0" i="0" u="none" strike="noStrike" cap="none" normalizeH="0" baseline="0" dirty="0" smtClean="0">
                <a:ln>
                  <a:noFill/>
                </a:ln>
                <a:solidFill>
                  <a:schemeClr val="tx1"/>
                </a:solidFill>
                <a:effectLst/>
                <a:latin typeface="Arial" panose="020B0604020202020204" pitchFamily="34" charset="0"/>
              </a:rPr>
              <a:t> base de </a:t>
            </a:r>
            <a:r>
              <a:rPr kumimoji="0" lang="en-US" altLang="en-US" sz="2000" b="0" i="0" u="none" strike="noStrike" cap="none" normalizeH="0" baseline="0" dirty="0" err="1" smtClean="0">
                <a:ln>
                  <a:noFill/>
                </a:ln>
                <a:solidFill>
                  <a:schemeClr val="tx1"/>
                </a:solidFill>
                <a:effectLst/>
                <a:latin typeface="Arial" panose="020B0604020202020204" pitchFamily="34" charset="0"/>
              </a:rPr>
              <a:t>datos</a:t>
            </a:r>
            <a:r>
              <a:rPr kumimoji="0" lang="en-US" altLang="en-US" sz="2000" b="0" i="0" u="none" strike="noStrike" cap="none" normalizeH="0" baseline="0" dirty="0" smtClean="0">
                <a:ln>
                  <a:noFill/>
                </a:ln>
                <a:solidFill>
                  <a:schemeClr val="tx1"/>
                </a:solidFill>
                <a:effectLst/>
                <a:latin typeface="Arial" panose="020B0604020202020204" pitchFamily="34" charset="0"/>
              </a:rPr>
              <a:t> de </a:t>
            </a:r>
            <a:r>
              <a:rPr kumimoji="0" lang="en-US" altLang="en-US" sz="2000" b="0" i="0" u="none" strike="noStrike" cap="none" normalizeH="0" baseline="0" dirty="0" err="1" smtClean="0">
                <a:ln>
                  <a:noFill/>
                </a:ln>
                <a:solidFill>
                  <a:schemeClr val="tx1"/>
                </a:solidFill>
                <a:effectLst/>
                <a:latin typeface="Arial" panose="020B0604020202020204" pitchFamily="34" charset="0"/>
              </a:rPr>
              <a:t>una</a:t>
            </a:r>
            <a:r>
              <a:rPr kumimoji="0" lang="en-US" altLang="en-US" sz="2000" b="0" i="0" u="none" strike="noStrike" cap="none" normalizeH="0" baseline="0" dirty="0" smtClean="0">
                <a:ln>
                  <a:noFill/>
                </a:ln>
                <a:solidFill>
                  <a:schemeClr val="tx1"/>
                </a:solidFill>
                <a:effectLst/>
                <a:latin typeface="Arial" panose="020B0604020202020204" pitchFamily="34" charset="0"/>
              </a:rPr>
              <a:t> </a:t>
            </a:r>
            <a:r>
              <a:rPr kumimoji="0" lang="en-US" altLang="en-US" sz="2000" b="0" i="0" u="none" strike="noStrike" cap="none" normalizeH="0" baseline="0" dirty="0" err="1" smtClean="0">
                <a:ln>
                  <a:noFill/>
                </a:ln>
                <a:solidFill>
                  <a:schemeClr val="tx1"/>
                </a:solidFill>
                <a:effectLst/>
                <a:latin typeface="Arial" panose="020B0604020202020204" pitchFamily="34" charset="0"/>
              </a:rPr>
              <a:t>tienda</a:t>
            </a:r>
            <a:r>
              <a:rPr kumimoji="0" lang="en-US" altLang="en-US" sz="2000" b="0" i="0" u="none" strike="noStrike" cap="none" normalizeH="0" baseline="0" dirty="0" smtClean="0">
                <a:ln>
                  <a:noFill/>
                </a:ln>
                <a:solidFill>
                  <a:schemeClr val="tx1"/>
                </a:solidFill>
                <a:effectLst/>
                <a:latin typeface="Arial" panose="020B0604020202020204" pitchFamily="34" charset="0"/>
              </a:rPr>
              <a:t>, un </a:t>
            </a:r>
            <a:r>
              <a:rPr kumimoji="0" lang="en-US" altLang="en-US" sz="2000" b="0" i="0" u="none" strike="noStrike" cap="none" normalizeH="0" baseline="0" dirty="0" err="1" smtClean="0">
                <a:ln>
                  <a:noFill/>
                </a:ln>
                <a:solidFill>
                  <a:schemeClr val="tx1"/>
                </a:solidFill>
                <a:effectLst/>
                <a:latin typeface="Arial" panose="020B0604020202020204" pitchFamily="34" charset="0"/>
              </a:rPr>
              <a:t>cliente</a:t>
            </a:r>
            <a:r>
              <a:rPr kumimoji="0" lang="en-US" altLang="en-US" sz="2000" b="0" i="0" u="none" strike="noStrike" cap="none" normalizeH="0" baseline="0" dirty="0" smtClean="0">
                <a:ln>
                  <a:noFill/>
                </a:ln>
                <a:solidFill>
                  <a:schemeClr val="tx1"/>
                </a:solidFill>
                <a:effectLst/>
                <a:latin typeface="Arial" panose="020B0604020202020204" pitchFamily="34" charset="0"/>
              </a:rPr>
              <a:t> </a:t>
            </a:r>
            <a:r>
              <a:rPr kumimoji="0" lang="en-US" altLang="en-US" sz="2000" b="0" i="0" u="none" strike="noStrike" cap="none" normalizeH="0" baseline="0" dirty="0" err="1" smtClean="0">
                <a:ln>
                  <a:noFill/>
                </a:ln>
                <a:solidFill>
                  <a:schemeClr val="tx1"/>
                </a:solidFill>
                <a:effectLst/>
                <a:latin typeface="Arial" panose="020B0604020202020204" pitchFamily="34" charset="0"/>
              </a:rPr>
              <a:t>puede</a:t>
            </a:r>
            <a:r>
              <a:rPr kumimoji="0" lang="en-US" altLang="en-US" sz="2000" b="0" i="0" u="none" strike="noStrike" cap="none" normalizeH="0" baseline="0" dirty="0" smtClean="0">
                <a:ln>
                  <a:noFill/>
                </a:ln>
                <a:solidFill>
                  <a:schemeClr val="tx1"/>
                </a:solidFill>
                <a:effectLst/>
                <a:latin typeface="Arial" panose="020B0604020202020204" pitchFamily="34" charset="0"/>
              </a:rPr>
              <a:t> </a:t>
            </a:r>
            <a:r>
              <a:rPr kumimoji="0" lang="en-US" altLang="en-US" sz="2000" b="0" i="0" u="none" strike="noStrike" cap="none" normalizeH="0" baseline="0" dirty="0" err="1" smtClean="0">
                <a:ln>
                  <a:noFill/>
                </a:ln>
                <a:solidFill>
                  <a:schemeClr val="tx1"/>
                </a:solidFill>
                <a:effectLst/>
                <a:latin typeface="Arial" panose="020B0604020202020204" pitchFamily="34" charset="0"/>
              </a:rPr>
              <a:t>realizar</a:t>
            </a:r>
            <a:r>
              <a:rPr kumimoji="0" lang="en-US" altLang="en-US" sz="2000" b="0" i="0" u="none" strike="noStrike" cap="none" normalizeH="0" baseline="0" dirty="0" smtClean="0">
                <a:ln>
                  <a:noFill/>
                </a:ln>
                <a:solidFill>
                  <a:schemeClr val="tx1"/>
                </a:solidFill>
                <a:effectLst/>
                <a:latin typeface="Arial" panose="020B0604020202020204" pitchFamily="34" charset="0"/>
              </a:rPr>
              <a:t> </a:t>
            </a:r>
            <a:r>
              <a:rPr kumimoji="0" lang="en-US" altLang="en-US" sz="2000" b="0" i="0" u="none" strike="noStrike" cap="none" normalizeH="0" baseline="0" dirty="0" err="1" smtClean="0">
                <a:ln>
                  <a:noFill/>
                </a:ln>
                <a:solidFill>
                  <a:schemeClr val="tx1"/>
                </a:solidFill>
                <a:effectLst/>
                <a:latin typeface="Arial" panose="020B0604020202020204" pitchFamily="34" charset="0"/>
              </a:rPr>
              <a:t>múltiples</a:t>
            </a:r>
            <a:r>
              <a:rPr kumimoji="0" lang="en-US" altLang="en-US" sz="2000" b="0" i="0" u="none" strike="noStrike" cap="none" normalizeH="0" baseline="0" dirty="0" smtClean="0">
                <a:ln>
                  <a:noFill/>
                </a:ln>
                <a:solidFill>
                  <a:schemeClr val="tx1"/>
                </a:solidFill>
                <a:effectLst/>
                <a:latin typeface="Arial" panose="020B0604020202020204" pitchFamily="34" charset="0"/>
              </a:rPr>
              <a:t> </a:t>
            </a:r>
            <a:r>
              <a:rPr kumimoji="0" lang="en-US" altLang="en-US" sz="2000" b="0" i="0" u="none" strike="noStrike" cap="none" normalizeH="0" baseline="0" dirty="0" err="1" smtClean="0">
                <a:ln>
                  <a:noFill/>
                </a:ln>
                <a:solidFill>
                  <a:schemeClr val="tx1"/>
                </a:solidFill>
                <a:effectLst/>
                <a:latin typeface="Arial" panose="020B0604020202020204" pitchFamily="34" charset="0"/>
              </a:rPr>
              <a:t>pedidos</a:t>
            </a:r>
            <a:r>
              <a:rPr kumimoji="0" lang="en-US" altLang="en-US" sz="2000" b="0" i="0" u="none" strike="noStrike" cap="none" normalizeH="0" baseline="0" dirty="0" smtClean="0">
                <a:ln>
                  <a:noFill/>
                </a:ln>
                <a:solidFill>
                  <a:schemeClr val="tx1"/>
                </a:solidFill>
                <a:effectLst/>
                <a:latin typeface="Arial" panose="020B0604020202020204" pitchFamily="34" charset="0"/>
              </a:rPr>
              <a:t>. </a:t>
            </a:r>
            <a:r>
              <a:rPr kumimoji="0" lang="en-US" altLang="en-US" sz="2000" b="0" i="0" u="none" strike="noStrike" cap="none" normalizeH="0" baseline="0" dirty="0" err="1" smtClean="0">
                <a:ln>
                  <a:noFill/>
                </a:ln>
                <a:solidFill>
                  <a:schemeClr val="tx1"/>
                </a:solidFill>
                <a:effectLst/>
                <a:latin typeface="Arial" panose="020B0604020202020204" pitchFamily="34" charset="0"/>
              </a:rPr>
              <a:t>Esto</a:t>
            </a:r>
            <a:r>
              <a:rPr kumimoji="0" lang="en-US" altLang="en-US" sz="2000" b="0" i="0" u="none" strike="noStrike" cap="none" normalizeH="0" baseline="0" dirty="0" smtClean="0">
                <a:ln>
                  <a:noFill/>
                </a:ln>
                <a:solidFill>
                  <a:schemeClr val="tx1"/>
                </a:solidFill>
                <a:effectLst/>
                <a:latin typeface="Arial" panose="020B0604020202020204" pitchFamily="34" charset="0"/>
              </a:rPr>
              <a:t> </a:t>
            </a:r>
            <a:r>
              <a:rPr kumimoji="0" lang="en-US" altLang="en-US" sz="2000" b="0" i="0" u="none" strike="noStrike" cap="none" normalizeH="0" baseline="0" dirty="0" err="1" smtClean="0">
                <a:ln>
                  <a:noFill/>
                </a:ln>
                <a:solidFill>
                  <a:schemeClr val="tx1"/>
                </a:solidFill>
                <a:effectLst/>
                <a:latin typeface="Arial" panose="020B0604020202020204" pitchFamily="34" charset="0"/>
              </a:rPr>
              <a:t>implica</a:t>
            </a:r>
            <a:r>
              <a:rPr kumimoji="0" lang="en-US" altLang="en-US" sz="2000" b="0" i="0" u="none" strike="noStrike" cap="none" normalizeH="0" baseline="0" dirty="0" smtClean="0">
                <a:ln>
                  <a:noFill/>
                </a:ln>
                <a:solidFill>
                  <a:schemeClr val="tx1"/>
                </a:solidFill>
                <a:effectLst/>
                <a:latin typeface="Arial" panose="020B0604020202020204" pitchFamily="34" charset="0"/>
              </a:rPr>
              <a:t> </a:t>
            </a:r>
            <a:r>
              <a:rPr kumimoji="0" lang="en-US" altLang="en-US" sz="2000" b="0" i="0" u="none" strike="noStrike" cap="none" normalizeH="0" baseline="0" dirty="0" err="1" smtClean="0">
                <a:ln>
                  <a:noFill/>
                </a:ln>
                <a:solidFill>
                  <a:schemeClr val="tx1"/>
                </a:solidFill>
                <a:effectLst/>
                <a:latin typeface="Arial" panose="020B0604020202020204" pitchFamily="34" charset="0"/>
              </a:rPr>
              <a:t>una</a:t>
            </a:r>
            <a:r>
              <a:rPr kumimoji="0" lang="en-US" altLang="en-US" sz="2000" b="0" i="0" u="none" strike="noStrike" cap="none" normalizeH="0" baseline="0" dirty="0" smtClean="0">
                <a:ln>
                  <a:noFill/>
                </a:ln>
                <a:solidFill>
                  <a:schemeClr val="tx1"/>
                </a:solidFill>
                <a:effectLst/>
                <a:latin typeface="Arial" panose="020B0604020202020204" pitchFamily="34" charset="0"/>
              </a:rPr>
              <a:t> </a:t>
            </a:r>
            <a:r>
              <a:rPr kumimoji="0" lang="en-US" altLang="en-US" sz="2000" b="0" i="0" u="none" strike="noStrike" cap="none" normalizeH="0" baseline="0" dirty="0" err="1" smtClean="0">
                <a:ln>
                  <a:noFill/>
                </a:ln>
                <a:solidFill>
                  <a:schemeClr val="tx1"/>
                </a:solidFill>
                <a:effectLst/>
                <a:latin typeface="Arial" panose="020B0604020202020204" pitchFamily="34" charset="0"/>
              </a:rPr>
              <a:t>relación</a:t>
            </a:r>
            <a:r>
              <a:rPr kumimoji="0" lang="en-US" altLang="en-US" sz="2000" b="0" i="0" u="none" strike="noStrike" cap="none" normalizeH="0" baseline="0" dirty="0" smtClean="0">
                <a:ln>
                  <a:noFill/>
                </a:ln>
                <a:solidFill>
                  <a:schemeClr val="tx1"/>
                </a:solidFill>
                <a:effectLst/>
                <a:latin typeface="Arial" panose="020B0604020202020204" pitchFamily="34" charset="0"/>
              </a:rPr>
              <a:t> </a:t>
            </a:r>
            <a:r>
              <a:rPr kumimoji="0" lang="en-US" altLang="en-US" sz="2000" b="1" i="0" u="none" strike="noStrike" cap="none" normalizeH="0" baseline="0" dirty="0" err="1" smtClean="0">
                <a:ln>
                  <a:noFill/>
                </a:ln>
                <a:solidFill>
                  <a:schemeClr val="tx1"/>
                </a:solidFill>
                <a:effectLst/>
                <a:latin typeface="Arial" panose="020B0604020202020204" pitchFamily="34" charset="0"/>
              </a:rPr>
              <a:t>uno</a:t>
            </a:r>
            <a:r>
              <a:rPr kumimoji="0" lang="en-US" altLang="en-US" sz="2000" b="1" i="0" u="none" strike="noStrike" cap="none" normalizeH="0" baseline="0" dirty="0" smtClean="0">
                <a:ln>
                  <a:noFill/>
                </a:ln>
                <a:solidFill>
                  <a:schemeClr val="tx1"/>
                </a:solidFill>
                <a:effectLst/>
                <a:latin typeface="Arial" panose="020B0604020202020204" pitchFamily="34" charset="0"/>
              </a:rPr>
              <a:t> a </a:t>
            </a:r>
            <a:r>
              <a:rPr kumimoji="0" lang="en-US" altLang="en-US" sz="2000" b="1" i="0" u="none" strike="noStrike" cap="none" normalizeH="0" baseline="0" dirty="0" err="1" smtClean="0">
                <a:ln>
                  <a:noFill/>
                </a:ln>
                <a:solidFill>
                  <a:schemeClr val="tx1"/>
                </a:solidFill>
                <a:effectLst/>
                <a:latin typeface="Arial" panose="020B0604020202020204" pitchFamily="34" charset="0"/>
              </a:rPr>
              <a:t>muchos</a:t>
            </a:r>
            <a:r>
              <a:rPr kumimoji="0" lang="en-US" altLang="en-US" sz="2000" b="0" i="0" u="none" strike="noStrike" cap="none" normalizeH="0" baseline="0" dirty="0" smtClean="0">
                <a:ln>
                  <a:noFill/>
                </a:ln>
                <a:solidFill>
                  <a:schemeClr val="tx1"/>
                </a:solidFill>
                <a:effectLst/>
                <a:latin typeface="Arial" panose="020B0604020202020204" pitchFamily="34" charset="0"/>
              </a:rPr>
              <a:t> entre las </a:t>
            </a:r>
            <a:r>
              <a:rPr kumimoji="0" lang="en-US" altLang="en-US" sz="2000" b="0" i="0" u="none" strike="noStrike" cap="none" normalizeH="0" baseline="0" dirty="0" err="1" smtClean="0">
                <a:ln>
                  <a:noFill/>
                </a:ln>
                <a:solidFill>
                  <a:schemeClr val="tx1"/>
                </a:solidFill>
                <a:effectLst/>
                <a:latin typeface="Arial" panose="020B0604020202020204" pitchFamily="34" charset="0"/>
              </a:rPr>
              <a:t>tablas</a:t>
            </a:r>
            <a:r>
              <a:rPr kumimoji="0" lang="en-US" altLang="en-US" sz="2000" b="0" i="0" u="none" strike="noStrike" cap="none" normalizeH="0" baseline="0" dirty="0" smtClean="0">
                <a:ln>
                  <a:noFill/>
                </a:ln>
                <a:solidFill>
                  <a:schemeClr val="tx1"/>
                </a:solidFill>
                <a:effectLst/>
                <a:latin typeface="Arial" panose="020B0604020202020204" pitchFamily="34" charset="0"/>
              </a:rPr>
              <a:t> </a:t>
            </a:r>
            <a:r>
              <a:rPr kumimoji="0" lang="en-US" altLang="en-US" sz="2000" b="0" i="0" u="none" strike="noStrike" cap="none" normalizeH="0" baseline="0" dirty="0" err="1" smtClean="0">
                <a:ln>
                  <a:noFill/>
                </a:ln>
                <a:solidFill>
                  <a:schemeClr val="tx1"/>
                </a:solidFill>
                <a:effectLst/>
                <a:latin typeface="Arial Unicode MS"/>
              </a:rPr>
              <a:t>Cliente</a:t>
            </a:r>
            <a:r>
              <a:rPr kumimoji="0" lang="en-US" altLang="en-US" sz="2000" b="0" i="0" u="none" strike="noStrike" cap="none" normalizeH="0" baseline="0" dirty="0" smtClean="0">
                <a:ln>
                  <a:noFill/>
                </a:ln>
                <a:solidFill>
                  <a:schemeClr val="tx1"/>
                </a:solidFill>
                <a:effectLst/>
              </a:rPr>
              <a:t> y </a:t>
            </a:r>
            <a:r>
              <a:rPr kumimoji="0" lang="en-US" altLang="en-US" sz="2000" b="0" i="0" u="none" strike="noStrike" cap="none" normalizeH="0" baseline="0" dirty="0" err="1" smtClean="0">
                <a:ln>
                  <a:noFill/>
                </a:ln>
                <a:solidFill>
                  <a:schemeClr val="tx1"/>
                </a:solidFill>
                <a:effectLst/>
                <a:latin typeface="Arial Unicode MS"/>
              </a:rPr>
              <a:t>Pedido</a:t>
            </a:r>
            <a:r>
              <a:rPr kumimoji="0" lang="en-US" altLang="en-US" sz="2000" b="0" i="0" u="none" strike="noStrike" cap="none" normalizeH="0" baseline="0" dirty="0" smtClean="0">
                <a:ln>
                  <a:noFill/>
                </a:ln>
                <a:solidFill>
                  <a:schemeClr val="tx1"/>
                </a:solidFill>
                <a:effectLst/>
              </a:rPr>
              <a:t>.</a:t>
            </a:r>
            <a:endParaRPr kumimoji="0" lang="en-US" altLang="en-US" sz="2000" b="0" i="0" u="none" strike="noStrike" cap="none" normalizeH="0" baseline="0" dirty="0" smtClean="0">
              <a:ln>
                <a:noFill/>
              </a:ln>
              <a:solidFill>
                <a:schemeClr val="tx1"/>
              </a:solidFill>
              <a:effectLst/>
              <a:latin typeface="Arial" panose="020B0604020202020204" pitchFamily="34" charset="0"/>
            </a:endParaRPr>
          </a:p>
        </p:txBody>
      </p:sp>
      <p:sp>
        <p:nvSpPr>
          <p:cNvPr id="6" name="Rectangle 3"/>
          <p:cNvSpPr>
            <a:spLocks noChangeArrowheads="1"/>
          </p:cNvSpPr>
          <p:nvPr/>
        </p:nvSpPr>
        <p:spPr bwMode="auto">
          <a:xfrm>
            <a:off x="838200" y="3529906"/>
            <a:ext cx="10515600" cy="16312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smtClean="0">
                <a:ln>
                  <a:noFill/>
                </a:ln>
                <a:solidFill>
                  <a:schemeClr val="tx1"/>
                </a:solidFill>
                <a:effectLst/>
                <a:latin typeface="Arial" panose="020B0604020202020204" pitchFamily="34" charset="0"/>
              </a:rPr>
              <a:t>3. </a:t>
            </a:r>
            <a:r>
              <a:rPr kumimoji="0" lang="en-US" altLang="en-US" sz="2000" b="1" i="0" u="none" strike="noStrike" cap="none" normalizeH="0" baseline="0" dirty="0" err="1" smtClean="0">
                <a:ln>
                  <a:noFill/>
                </a:ln>
                <a:solidFill>
                  <a:schemeClr val="tx1"/>
                </a:solidFill>
                <a:effectLst/>
                <a:latin typeface="Arial" panose="020B0604020202020204" pitchFamily="34" charset="0"/>
              </a:rPr>
              <a:t>Relación</a:t>
            </a:r>
            <a:r>
              <a:rPr kumimoji="0" lang="en-US" altLang="en-US" sz="2000" b="1" i="0" u="none" strike="noStrike" cap="none" normalizeH="0" baseline="0" dirty="0" smtClean="0">
                <a:ln>
                  <a:noFill/>
                </a:ln>
                <a:solidFill>
                  <a:schemeClr val="tx1"/>
                </a:solidFill>
                <a:effectLst/>
                <a:latin typeface="Arial" panose="020B0604020202020204" pitchFamily="34" charset="0"/>
              </a:rPr>
              <a:t> </a:t>
            </a:r>
            <a:r>
              <a:rPr kumimoji="0" lang="en-US" altLang="en-US" sz="2000" b="1" i="0" u="none" strike="noStrike" cap="none" normalizeH="0" baseline="0" dirty="0" err="1" smtClean="0">
                <a:ln>
                  <a:noFill/>
                </a:ln>
                <a:solidFill>
                  <a:schemeClr val="tx1"/>
                </a:solidFill>
                <a:effectLst/>
                <a:latin typeface="Arial" panose="020B0604020202020204" pitchFamily="34" charset="0"/>
              </a:rPr>
              <a:t>Muchos</a:t>
            </a:r>
            <a:r>
              <a:rPr kumimoji="0" lang="en-US" altLang="en-US" sz="2000" b="1" i="0" u="none" strike="noStrike" cap="none" normalizeH="0" baseline="0" dirty="0" smtClean="0">
                <a:ln>
                  <a:noFill/>
                </a:ln>
                <a:solidFill>
                  <a:schemeClr val="tx1"/>
                </a:solidFill>
                <a:effectLst/>
                <a:latin typeface="Arial" panose="020B0604020202020204" pitchFamily="34" charset="0"/>
              </a:rPr>
              <a:t> a </a:t>
            </a:r>
            <a:r>
              <a:rPr kumimoji="0" lang="en-US" altLang="en-US" sz="2000" b="1" i="0" u="none" strike="noStrike" cap="none" normalizeH="0" baseline="0" dirty="0" err="1" smtClean="0">
                <a:ln>
                  <a:noFill/>
                </a:ln>
                <a:solidFill>
                  <a:schemeClr val="tx1"/>
                </a:solidFill>
                <a:effectLst/>
                <a:latin typeface="Arial" panose="020B0604020202020204" pitchFamily="34" charset="0"/>
              </a:rPr>
              <a:t>Muchos</a:t>
            </a:r>
            <a:endParaRPr kumimoji="0" lang="en-US" altLang="en-US" sz="2000" b="1" i="0" u="none" strike="noStrike" cap="none" normalizeH="0" baseline="0" dirty="0" smtClean="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smtClean="0">
                <a:ln>
                  <a:noFill/>
                </a:ln>
                <a:solidFill>
                  <a:schemeClr val="tx1"/>
                </a:solidFill>
                <a:effectLst/>
                <a:latin typeface="Arial" panose="020B0604020202020204" pitchFamily="34" charset="0"/>
              </a:rPr>
              <a:t>En </a:t>
            </a:r>
            <a:r>
              <a:rPr kumimoji="0" lang="en-US" altLang="en-US" sz="2000" b="0" i="0" u="none" strike="noStrike" cap="none" normalizeH="0" baseline="0" dirty="0" err="1" smtClean="0">
                <a:ln>
                  <a:noFill/>
                </a:ln>
                <a:solidFill>
                  <a:schemeClr val="tx1"/>
                </a:solidFill>
                <a:effectLst/>
                <a:latin typeface="Arial" panose="020B0604020202020204" pitchFamily="34" charset="0"/>
              </a:rPr>
              <a:t>una</a:t>
            </a:r>
            <a:r>
              <a:rPr kumimoji="0" lang="en-US" altLang="en-US" sz="2000" b="0" i="0" u="none" strike="noStrike" cap="none" normalizeH="0" baseline="0" dirty="0" smtClean="0">
                <a:ln>
                  <a:noFill/>
                </a:ln>
                <a:solidFill>
                  <a:schemeClr val="tx1"/>
                </a:solidFill>
                <a:effectLst/>
                <a:latin typeface="Arial" panose="020B0604020202020204" pitchFamily="34" charset="0"/>
              </a:rPr>
              <a:t> base de </a:t>
            </a:r>
            <a:r>
              <a:rPr kumimoji="0" lang="en-US" altLang="en-US" sz="2000" b="0" i="0" u="none" strike="noStrike" cap="none" normalizeH="0" baseline="0" dirty="0" err="1" smtClean="0">
                <a:ln>
                  <a:noFill/>
                </a:ln>
                <a:solidFill>
                  <a:schemeClr val="tx1"/>
                </a:solidFill>
                <a:effectLst/>
                <a:latin typeface="Arial" panose="020B0604020202020204" pitchFamily="34" charset="0"/>
              </a:rPr>
              <a:t>datos</a:t>
            </a:r>
            <a:r>
              <a:rPr kumimoji="0" lang="en-US" altLang="en-US" sz="2000" b="0" i="0" u="none" strike="noStrike" cap="none" normalizeH="0" baseline="0" dirty="0" smtClean="0">
                <a:ln>
                  <a:noFill/>
                </a:ln>
                <a:solidFill>
                  <a:schemeClr val="tx1"/>
                </a:solidFill>
                <a:effectLst/>
                <a:latin typeface="Arial" panose="020B0604020202020204" pitchFamily="34" charset="0"/>
              </a:rPr>
              <a:t> de </a:t>
            </a:r>
            <a:r>
              <a:rPr kumimoji="0" lang="en-US" altLang="en-US" sz="2000" b="0" i="0" u="none" strike="noStrike" cap="none" normalizeH="0" baseline="0" dirty="0" err="1" smtClean="0">
                <a:ln>
                  <a:noFill/>
                </a:ln>
                <a:solidFill>
                  <a:schemeClr val="tx1"/>
                </a:solidFill>
                <a:effectLst/>
                <a:latin typeface="Arial" panose="020B0604020202020204" pitchFamily="34" charset="0"/>
              </a:rPr>
              <a:t>una</a:t>
            </a:r>
            <a:r>
              <a:rPr kumimoji="0" lang="en-US" altLang="en-US" sz="2000" b="0" i="0" u="none" strike="noStrike" cap="none" normalizeH="0" baseline="0" dirty="0" smtClean="0">
                <a:ln>
                  <a:noFill/>
                </a:ln>
                <a:solidFill>
                  <a:schemeClr val="tx1"/>
                </a:solidFill>
                <a:effectLst/>
                <a:latin typeface="Arial" panose="020B0604020202020204" pitchFamily="34" charset="0"/>
              </a:rPr>
              <a:t> </a:t>
            </a:r>
            <a:r>
              <a:rPr kumimoji="0" lang="en-US" altLang="en-US" sz="2000" b="0" i="0" u="none" strike="noStrike" cap="none" normalizeH="0" baseline="0" dirty="0" err="1" smtClean="0">
                <a:ln>
                  <a:noFill/>
                </a:ln>
                <a:solidFill>
                  <a:schemeClr val="tx1"/>
                </a:solidFill>
                <a:effectLst/>
                <a:latin typeface="Arial" panose="020B0604020202020204" pitchFamily="34" charset="0"/>
              </a:rPr>
              <a:t>universidad</a:t>
            </a:r>
            <a:r>
              <a:rPr kumimoji="0" lang="en-US" altLang="en-US" sz="2000" b="0" i="0" u="none" strike="noStrike" cap="none" normalizeH="0" baseline="0" dirty="0" smtClean="0">
                <a:ln>
                  <a:noFill/>
                </a:ln>
                <a:solidFill>
                  <a:schemeClr val="tx1"/>
                </a:solidFill>
                <a:effectLst/>
                <a:latin typeface="Arial" panose="020B0604020202020204" pitchFamily="34" charset="0"/>
              </a:rPr>
              <a:t>, </a:t>
            </a:r>
            <a:r>
              <a:rPr kumimoji="0" lang="en-US" altLang="en-US" sz="2000" b="0" i="0" u="none" strike="noStrike" cap="none" normalizeH="0" baseline="0" dirty="0" err="1" smtClean="0">
                <a:ln>
                  <a:noFill/>
                </a:ln>
                <a:solidFill>
                  <a:schemeClr val="tx1"/>
                </a:solidFill>
                <a:effectLst/>
                <a:latin typeface="Arial" panose="020B0604020202020204" pitchFamily="34" charset="0"/>
              </a:rPr>
              <a:t>los</a:t>
            </a:r>
            <a:r>
              <a:rPr kumimoji="0" lang="en-US" altLang="en-US" sz="2000" b="0" i="0" u="none" strike="noStrike" cap="none" normalizeH="0" baseline="0" dirty="0" smtClean="0">
                <a:ln>
                  <a:noFill/>
                </a:ln>
                <a:solidFill>
                  <a:schemeClr val="tx1"/>
                </a:solidFill>
                <a:effectLst/>
                <a:latin typeface="Arial" panose="020B0604020202020204" pitchFamily="34" charset="0"/>
              </a:rPr>
              <a:t> </a:t>
            </a:r>
            <a:r>
              <a:rPr kumimoji="0" lang="en-US" altLang="en-US" sz="2000" b="0" i="0" u="none" strike="noStrike" cap="none" normalizeH="0" baseline="0" dirty="0" err="1" smtClean="0">
                <a:ln>
                  <a:noFill/>
                </a:ln>
                <a:solidFill>
                  <a:schemeClr val="tx1"/>
                </a:solidFill>
                <a:effectLst/>
                <a:latin typeface="Arial" panose="020B0604020202020204" pitchFamily="34" charset="0"/>
              </a:rPr>
              <a:t>estudiantes</a:t>
            </a:r>
            <a:r>
              <a:rPr kumimoji="0" lang="en-US" altLang="en-US" sz="2000" b="0" i="0" u="none" strike="noStrike" cap="none" normalizeH="0" baseline="0" dirty="0" smtClean="0">
                <a:ln>
                  <a:noFill/>
                </a:ln>
                <a:solidFill>
                  <a:schemeClr val="tx1"/>
                </a:solidFill>
                <a:effectLst/>
                <a:latin typeface="Arial" panose="020B0604020202020204" pitchFamily="34" charset="0"/>
              </a:rPr>
              <a:t> </a:t>
            </a:r>
            <a:r>
              <a:rPr kumimoji="0" lang="en-US" altLang="en-US" sz="2000" b="0" i="0" u="none" strike="noStrike" cap="none" normalizeH="0" baseline="0" dirty="0" err="1" smtClean="0">
                <a:ln>
                  <a:noFill/>
                </a:ln>
                <a:solidFill>
                  <a:schemeClr val="tx1"/>
                </a:solidFill>
                <a:effectLst/>
                <a:latin typeface="Arial" panose="020B0604020202020204" pitchFamily="34" charset="0"/>
              </a:rPr>
              <a:t>pueden</a:t>
            </a:r>
            <a:r>
              <a:rPr kumimoji="0" lang="en-US" altLang="en-US" sz="2000" b="0" i="0" u="none" strike="noStrike" cap="none" normalizeH="0" baseline="0" dirty="0" smtClean="0">
                <a:ln>
                  <a:noFill/>
                </a:ln>
                <a:solidFill>
                  <a:schemeClr val="tx1"/>
                </a:solidFill>
                <a:effectLst/>
                <a:latin typeface="Arial" panose="020B0604020202020204" pitchFamily="34" charset="0"/>
              </a:rPr>
              <a:t> </a:t>
            </a:r>
            <a:r>
              <a:rPr kumimoji="0" lang="en-US" altLang="en-US" sz="2000" b="0" i="0" u="none" strike="noStrike" cap="none" normalizeH="0" baseline="0" dirty="0" err="1" smtClean="0">
                <a:ln>
                  <a:noFill/>
                </a:ln>
                <a:solidFill>
                  <a:schemeClr val="tx1"/>
                </a:solidFill>
                <a:effectLst/>
                <a:latin typeface="Arial" panose="020B0604020202020204" pitchFamily="34" charset="0"/>
              </a:rPr>
              <a:t>estar</a:t>
            </a:r>
            <a:r>
              <a:rPr kumimoji="0" lang="en-US" altLang="en-US" sz="2000" b="0" i="0" u="none" strike="noStrike" cap="none" normalizeH="0" baseline="0" dirty="0" smtClean="0">
                <a:ln>
                  <a:noFill/>
                </a:ln>
                <a:solidFill>
                  <a:schemeClr val="tx1"/>
                </a:solidFill>
                <a:effectLst/>
                <a:latin typeface="Arial" panose="020B0604020202020204" pitchFamily="34" charset="0"/>
              </a:rPr>
              <a:t> </a:t>
            </a:r>
            <a:r>
              <a:rPr kumimoji="0" lang="en-US" altLang="en-US" sz="2000" b="0" i="0" u="none" strike="noStrike" cap="none" normalizeH="0" baseline="0" dirty="0" err="1" smtClean="0">
                <a:ln>
                  <a:noFill/>
                </a:ln>
                <a:solidFill>
                  <a:schemeClr val="tx1"/>
                </a:solidFill>
                <a:effectLst/>
                <a:latin typeface="Arial" panose="020B0604020202020204" pitchFamily="34" charset="0"/>
              </a:rPr>
              <a:t>inscritos</a:t>
            </a:r>
            <a:r>
              <a:rPr kumimoji="0" lang="en-US" altLang="en-US" sz="2000" b="0" i="0" u="none" strike="noStrike" cap="none" normalizeH="0" baseline="0" dirty="0" smtClean="0">
                <a:ln>
                  <a:noFill/>
                </a:ln>
                <a:solidFill>
                  <a:schemeClr val="tx1"/>
                </a:solidFill>
                <a:effectLst/>
                <a:latin typeface="Arial" panose="020B0604020202020204" pitchFamily="34" charset="0"/>
              </a:rPr>
              <a:t> </a:t>
            </a:r>
            <a:r>
              <a:rPr kumimoji="0" lang="en-US" altLang="en-US" sz="2000" b="0" i="0" u="none" strike="noStrike" cap="none" normalizeH="0" baseline="0" dirty="0" err="1" smtClean="0">
                <a:ln>
                  <a:noFill/>
                </a:ln>
                <a:solidFill>
                  <a:schemeClr val="tx1"/>
                </a:solidFill>
                <a:effectLst/>
                <a:latin typeface="Arial" panose="020B0604020202020204" pitchFamily="34" charset="0"/>
              </a:rPr>
              <a:t>en</a:t>
            </a:r>
            <a:r>
              <a:rPr kumimoji="0" lang="en-US" altLang="en-US" sz="2000" b="0" i="0" u="none" strike="noStrike" cap="none" normalizeH="0" baseline="0" dirty="0" smtClean="0">
                <a:ln>
                  <a:noFill/>
                </a:ln>
                <a:solidFill>
                  <a:schemeClr val="tx1"/>
                </a:solidFill>
                <a:effectLst/>
                <a:latin typeface="Arial" panose="020B0604020202020204" pitchFamily="34" charset="0"/>
              </a:rPr>
              <a:t> </a:t>
            </a:r>
            <a:r>
              <a:rPr kumimoji="0" lang="en-US" altLang="en-US" sz="2000" b="0" i="0" u="none" strike="noStrike" cap="none" normalizeH="0" baseline="0" dirty="0" err="1" smtClean="0">
                <a:ln>
                  <a:noFill/>
                </a:ln>
                <a:solidFill>
                  <a:schemeClr val="tx1"/>
                </a:solidFill>
                <a:effectLst/>
                <a:latin typeface="Arial" panose="020B0604020202020204" pitchFamily="34" charset="0"/>
              </a:rPr>
              <a:t>varios</a:t>
            </a:r>
            <a:r>
              <a:rPr kumimoji="0" lang="en-US" altLang="en-US" sz="2000" b="0" i="0" u="none" strike="noStrike" cap="none" normalizeH="0" baseline="0" dirty="0" smtClean="0">
                <a:ln>
                  <a:noFill/>
                </a:ln>
                <a:solidFill>
                  <a:schemeClr val="tx1"/>
                </a:solidFill>
                <a:effectLst/>
                <a:latin typeface="Arial" panose="020B0604020202020204" pitchFamily="34" charset="0"/>
              </a:rPr>
              <a:t> </a:t>
            </a:r>
            <a:r>
              <a:rPr kumimoji="0" lang="en-US" altLang="en-US" sz="2000" b="0" i="0" u="none" strike="noStrike" cap="none" normalizeH="0" baseline="0" dirty="0" err="1" smtClean="0">
                <a:ln>
                  <a:noFill/>
                </a:ln>
                <a:solidFill>
                  <a:schemeClr val="tx1"/>
                </a:solidFill>
                <a:effectLst/>
                <a:latin typeface="Arial" panose="020B0604020202020204" pitchFamily="34" charset="0"/>
              </a:rPr>
              <a:t>cursos</a:t>
            </a:r>
            <a:r>
              <a:rPr kumimoji="0" lang="en-US" altLang="en-US" sz="2000" b="0" i="0" u="none" strike="noStrike" cap="none" normalizeH="0" baseline="0" dirty="0" smtClean="0">
                <a:ln>
                  <a:noFill/>
                </a:ln>
                <a:solidFill>
                  <a:schemeClr val="tx1"/>
                </a:solidFill>
                <a:effectLst/>
                <a:latin typeface="Arial" panose="020B0604020202020204" pitchFamily="34" charset="0"/>
              </a:rPr>
              <a:t>, y </a:t>
            </a:r>
            <a:r>
              <a:rPr kumimoji="0" lang="en-US" altLang="en-US" sz="2000" b="0" i="0" u="none" strike="noStrike" cap="none" normalizeH="0" baseline="0" dirty="0" err="1" smtClean="0">
                <a:ln>
                  <a:noFill/>
                </a:ln>
                <a:solidFill>
                  <a:schemeClr val="tx1"/>
                </a:solidFill>
                <a:effectLst/>
                <a:latin typeface="Arial" panose="020B0604020202020204" pitchFamily="34" charset="0"/>
              </a:rPr>
              <a:t>cada</a:t>
            </a:r>
            <a:r>
              <a:rPr kumimoji="0" lang="en-US" altLang="en-US" sz="2000" b="0" i="0" u="none" strike="noStrike" cap="none" normalizeH="0" baseline="0" dirty="0" smtClean="0">
                <a:ln>
                  <a:noFill/>
                </a:ln>
                <a:solidFill>
                  <a:schemeClr val="tx1"/>
                </a:solidFill>
                <a:effectLst/>
                <a:latin typeface="Arial" panose="020B0604020202020204" pitchFamily="34" charset="0"/>
              </a:rPr>
              <a:t> </a:t>
            </a:r>
            <a:r>
              <a:rPr kumimoji="0" lang="en-US" altLang="en-US" sz="2000" b="0" i="0" u="none" strike="noStrike" cap="none" normalizeH="0" baseline="0" dirty="0" err="1" smtClean="0">
                <a:ln>
                  <a:noFill/>
                </a:ln>
                <a:solidFill>
                  <a:schemeClr val="tx1"/>
                </a:solidFill>
                <a:effectLst/>
                <a:latin typeface="Arial" panose="020B0604020202020204" pitchFamily="34" charset="0"/>
              </a:rPr>
              <a:t>curso</a:t>
            </a:r>
            <a:r>
              <a:rPr kumimoji="0" lang="en-US" altLang="en-US" sz="2000" b="0" i="0" u="none" strike="noStrike" cap="none" normalizeH="0" baseline="0" dirty="0" smtClean="0">
                <a:ln>
                  <a:noFill/>
                </a:ln>
                <a:solidFill>
                  <a:schemeClr val="tx1"/>
                </a:solidFill>
                <a:effectLst/>
                <a:latin typeface="Arial" panose="020B0604020202020204" pitchFamily="34" charset="0"/>
              </a:rPr>
              <a:t> </a:t>
            </a:r>
            <a:r>
              <a:rPr kumimoji="0" lang="en-US" altLang="en-US" sz="2000" b="0" i="0" u="none" strike="noStrike" cap="none" normalizeH="0" baseline="0" dirty="0" err="1" smtClean="0">
                <a:ln>
                  <a:noFill/>
                </a:ln>
                <a:solidFill>
                  <a:schemeClr val="tx1"/>
                </a:solidFill>
                <a:effectLst/>
                <a:latin typeface="Arial" panose="020B0604020202020204" pitchFamily="34" charset="0"/>
              </a:rPr>
              <a:t>puede</a:t>
            </a:r>
            <a:r>
              <a:rPr kumimoji="0" lang="en-US" altLang="en-US" sz="2000" b="0" i="0" u="none" strike="noStrike" cap="none" normalizeH="0" baseline="0" dirty="0" smtClean="0">
                <a:ln>
                  <a:noFill/>
                </a:ln>
                <a:solidFill>
                  <a:schemeClr val="tx1"/>
                </a:solidFill>
                <a:effectLst/>
                <a:latin typeface="Arial" panose="020B0604020202020204" pitchFamily="34" charset="0"/>
              </a:rPr>
              <a:t> </a:t>
            </a:r>
            <a:r>
              <a:rPr kumimoji="0" lang="en-US" altLang="en-US" sz="2000" b="0" i="0" u="none" strike="noStrike" cap="none" normalizeH="0" baseline="0" dirty="0" err="1" smtClean="0">
                <a:ln>
                  <a:noFill/>
                </a:ln>
                <a:solidFill>
                  <a:schemeClr val="tx1"/>
                </a:solidFill>
                <a:effectLst/>
                <a:latin typeface="Arial" panose="020B0604020202020204" pitchFamily="34" charset="0"/>
              </a:rPr>
              <a:t>tener</a:t>
            </a:r>
            <a:r>
              <a:rPr kumimoji="0" lang="en-US" altLang="en-US" sz="2000" b="0" i="0" u="none" strike="noStrike" cap="none" normalizeH="0" baseline="0" dirty="0" smtClean="0">
                <a:ln>
                  <a:noFill/>
                </a:ln>
                <a:solidFill>
                  <a:schemeClr val="tx1"/>
                </a:solidFill>
                <a:effectLst/>
                <a:latin typeface="Arial" panose="020B0604020202020204" pitchFamily="34" charset="0"/>
              </a:rPr>
              <a:t> </a:t>
            </a:r>
            <a:r>
              <a:rPr kumimoji="0" lang="en-US" altLang="en-US" sz="2000" b="0" i="0" u="none" strike="noStrike" cap="none" normalizeH="0" baseline="0" dirty="0" err="1" smtClean="0">
                <a:ln>
                  <a:noFill/>
                </a:ln>
                <a:solidFill>
                  <a:schemeClr val="tx1"/>
                </a:solidFill>
                <a:effectLst/>
                <a:latin typeface="Arial" panose="020B0604020202020204" pitchFamily="34" charset="0"/>
              </a:rPr>
              <a:t>múltiples</a:t>
            </a:r>
            <a:r>
              <a:rPr kumimoji="0" lang="en-US" altLang="en-US" sz="2000" b="0" i="0" u="none" strike="noStrike" cap="none" normalizeH="0" baseline="0" dirty="0" smtClean="0">
                <a:ln>
                  <a:noFill/>
                </a:ln>
                <a:solidFill>
                  <a:schemeClr val="tx1"/>
                </a:solidFill>
                <a:effectLst/>
                <a:latin typeface="Arial" panose="020B0604020202020204" pitchFamily="34" charset="0"/>
              </a:rPr>
              <a:t> </a:t>
            </a:r>
            <a:r>
              <a:rPr kumimoji="0" lang="en-US" altLang="en-US" sz="2000" b="0" i="0" u="none" strike="noStrike" cap="none" normalizeH="0" baseline="0" dirty="0" err="1" smtClean="0">
                <a:ln>
                  <a:noFill/>
                </a:ln>
                <a:solidFill>
                  <a:schemeClr val="tx1"/>
                </a:solidFill>
                <a:effectLst/>
                <a:latin typeface="Arial" panose="020B0604020202020204" pitchFamily="34" charset="0"/>
              </a:rPr>
              <a:t>estudiantes</a:t>
            </a:r>
            <a:r>
              <a:rPr kumimoji="0" lang="en-US" altLang="en-US" sz="2000" b="0" i="0" u="none" strike="noStrike" cap="none" normalizeH="0" baseline="0" dirty="0" smtClean="0">
                <a:ln>
                  <a:noFill/>
                </a:ln>
                <a:solidFill>
                  <a:schemeClr val="tx1"/>
                </a:solidFill>
                <a:effectLst/>
                <a:latin typeface="Arial" panose="020B0604020202020204" pitchFamily="34" charset="0"/>
              </a:rPr>
              <a:t>. </a:t>
            </a:r>
            <a:r>
              <a:rPr kumimoji="0" lang="en-US" altLang="en-US" sz="2000" b="0" i="0" u="none" strike="noStrike" cap="none" normalizeH="0" baseline="0" dirty="0" err="1" smtClean="0">
                <a:ln>
                  <a:noFill/>
                </a:ln>
                <a:solidFill>
                  <a:schemeClr val="tx1"/>
                </a:solidFill>
                <a:effectLst/>
                <a:latin typeface="Arial" panose="020B0604020202020204" pitchFamily="34" charset="0"/>
              </a:rPr>
              <a:t>Esto</a:t>
            </a:r>
            <a:r>
              <a:rPr kumimoji="0" lang="en-US" altLang="en-US" sz="2000" b="0" i="0" u="none" strike="noStrike" cap="none" normalizeH="0" baseline="0" dirty="0" smtClean="0">
                <a:ln>
                  <a:noFill/>
                </a:ln>
                <a:solidFill>
                  <a:schemeClr val="tx1"/>
                </a:solidFill>
                <a:effectLst/>
                <a:latin typeface="Arial" panose="020B0604020202020204" pitchFamily="34" charset="0"/>
              </a:rPr>
              <a:t> </a:t>
            </a:r>
            <a:r>
              <a:rPr kumimoji="0" lang="en-US" altLang="en-US" sz="2000" b="0" i="0" u="none" strike="noStrike" cap="none" normalizeH="0" baseline="0" dirty="0" err="1" smtClean="0">
                <a:ln>
                  <a:noFill/>
                </a:ln>
                <a:solidFill>
                  <a:schemeClr val="tx1"/>
                </a:solidFill>
                <a:effectLst/>
                <a:latin typeface="Arial" panose="020B0604020202020204" pitchFamily="34" charset="0"/>
              </a:rPr>
              <a:t>implica</a:t>
            </a:r>
            <a:r>
              <a:rPr kumimoji="0" lang="en-US" altLang="en-US" sz="2000" b="0" i="0" u="none" strike="noStrike" cap="none" normalizeH="0" baseline="0" dirty="0" smtClean="0">
                <a:ln>
                  <a:noFill/>
                </a:ln>
                <a:solidFill>
                  <a:schemeClr val="tx1"/>
                </a:solidFill>
                <a:effectLst/>
                <a:latin typeface="Arial" panose="020B0604020202020204" pitchFamily="34" charset="0"/>
              </a:rPr>
              <a:t> </a:t>
            </a:r>
            <a:r>
              <a:rPr kumimoji="0" lang="en-US" altLang="en-US" sz="2000" b="0" i="0" u="none" strike="noStrike" cap="none" normalizeH="0" baseline="0" dirty="0" err="1" smtClean="0">
                <a:ln>
                  <a:noFill/>
                </a:ln>
                <a:solidFill>
                  <a:schemeClr val="tx1"/>
                </a:solidFill>
                <a:effectLst/>
                <a:latin typeface="Arial" panose="020B0604020202020204" pitchFamily="34" charset="0"/>
              </a:rPr>
              <a:t>una</a:t>
            </a:r>
            <a:r>
              <a:rPr kumimoji="0" lang="en-US" altLang="en-US" sz="2000" b="0" i="0" u="none" strike="noStrike" cap="none" normalizeH="0" baseline="0" dirty="0" smtClean="0">
                <a:ln>
                  <a:noFill/>
                </a:ln>
                <a:solidFill>
                  <a:schemeClr val="tx1"/>
                </a:solidFill>
                <a:effectLst/>
                <a:latin typeface="Arial" panose="020B0604020202020204" pitchFamily="34" charset="0"/>
              </a:rPr>
              <a:t> </a:t>
            </a:r>
            <a:r>
              <a:rPr kumimoji="0" lang="en-US" altLang="en-US" sz="2000" b="0" i="0" u="none" strike="noStrike" cap="none" normalizeH="0" baseline="0" dirty="0" err="1" smtClean="0">
                <a:ln>
                  <a:noFill/>
                </a:ln>
                <a:solidFill>
                  <a:schemeClr val="tx1"/>
                </a:solidFill>
                <a:effectLst/>
                <a:latin typeface="Arial" panose="020B0604020202020204" pitchFamily="34" charset="0"/>
              </a:rPr>
              <a:t>relación</a:t>
            </a:r>
            <a:r>
              <a:rPr kumimoji="0" lang="en-US" altLang="en-US" sz="2000" b="0" i="0" u="none" strike="noStrike" cap="none" normalizeH="0" baseline="0" dirty="0" smtClean="0">
                <a:ln>
                  <a:noFill/>
                </a:ln>
                <a:solidFill>
                  <a:schemeClr val="tx1"/>
                </a:solidFill>
                <a:effectLst/>
                <a:latin typeface="Arial" panose="020B0604020202020204" pitchFamily="34" charset="0"/>
              </a:rPr>
              <a:t> </a:t>
            </a:r>
            <a:r>
              <a:rPr kumimoji="0" lang="en-US" altLang="en-US" sz="2000" b="1" i="0" u="none" strike="noStrike" cap="none" normalizeH="0" baseline="0" dirty="0" err="1" smtClean="0">
                <a:ln>
                  <a:noFill/>
                </a:ln>
                <a:solidFill>
                  <a:schemeClr val="tx1"/>
                </a:solidFill>
                <a:effectLst/>
                <a:latin typeface="Arial" panose="020B0604020202020204" pitchFamily="34" charset="0"/>
              </a:rPr>
              <a:t>muchos</a:t>
            </a:r>
            <a:r>
              <a:rPr kumimoji="0" lang="en-US" altLang="en-US" sz="2000" b="1" i="0" u="none" strike="noStrike" cap="none" normalizeH="0" baseline="0" dirty="0" smtClean="0">
                <a:ln>
                  <a:noFill/>
                </a:ln>
                <a:solidFill>
                  <a:schemeClr val="tx1"/>
                </a:solidFill>
                <a:effectLst/>
                <a:latin typeface="Arial" panose="020B0604020202020204" pitchFamily="34" charset="0"/>
              </a:rPr>
              <a:t> a </a:t>
            </a:r>
            <a:r>
              <a:rPr kumimoji="0" lang="en-US" altLang="en-US" sz="2000" b="1" i="0" u="none" strike="noStrike" cap="none" normalizeH="0" baseline="0" dirty="0" err="1" smtClean="0">
                <a:ln>
                  <a:noFill/>
                </a:ln>
                <a:solidFill>
                  <a:schemeClr val="tx1"/>
                </a:solidFill>
                <a:effectLst/>
                <a:latin typeface="Arial" panose="020B0604020202020204" pitchFamily="34" charset="0"/>
              </a:rPr>
              <a:t>muchos</a:t>
            </a:r>
            <a:r>
              <a:rPr kumimoji="0" lang="en-US" altLang="en-US" sz="2000" b="0" i="0" u="none" strike="noStrike" cap="none" normalizeH="0" baseline="0" dirty="0" smtClean="0">
                <a:ln>
                  <a:noFill/>
                </a:ln>
                <a:solidFill>
                  <a:schemeClr val="tx1"/>
                </a:solidFill>
                <a:effectLst/>
                <a:latin typeface="Arial" panose="020B0604020202020204" pitchFamily="34" charset="0"/>
              </a:rPr>
              <a:t> entre las </a:t>
            </a:r>
            <a:r>
              <a:rPr kumimoji="0" lang="en-US" altLang="en-US" sz="2000" b="0" i="0" u="none" strike="noStrike" cap="none" normalizeH="0" baseline="0" dirty="0" err="1" smtClean="0">
                <a:ln>
                  <a:noFill/>
                </a:ln>
                <a:solidFill>
                  <a:schemeClr val="tx1"/>
                </a:solidFill>
                <a:effectLst/>
                <a:latin typeface="Arial" panose="020B0604020202020204" pitchFamily="34" charset="0"/>
              </a:rPr>
              <a:t>tablas</a:t>
            </a:r>
            <a:r>
              <a:rPr kumimoji="0" lang="en-US" altLang="en-US" sz="2000" b="0" i="0" u="none" strike="noStrike" cap="none" normalizeH="0" baseline="0" dirty="0" smtClean="0">
                <a:ln>
                  <a:noFill/>
                </a:ln>
                <a:solidFill>
                  <a:schemeClr val="tx1"/>
                </a:solidFill>
                <a:effectLst/>
                <a:latin typeface="Arial" panose="020B0604020202020204" pitchFamily="34" charset="0"/>
              </a:rPr>
              <a:t> </a:t>
            </a:r>
            <a:r>
              <a:rPr kumimoji="0" lang="en-US" altLang="en-US" sz="2000" b="0" i="0" u="none" strike="noStrike" cap="none" normalizeH="0" baseline="0" dirty="0" err="1" smtClean="0">
                <a:ln>
                  <a:noFill/>
                </a:ln>
                <a:solidFill>
                  <a:schemeClr val="tx1"/>
                </a:solidFill>
                <a:effectLst/>
                <a:latin typeface="Arial Unicode MS"/>
              </a:rPr>
              <a:t>Estudiante</a:t>
            </a:r>
            <a:r>
              <a:rPr kumimoji="0" lang="en-US" altLang="en-US" sz="2000" b="0" i="0" u="none" strike="noStrike" cap="none" normalizeH="0" baseline="0" dirty="0" smtClean="0">
                <a:ln>
                  <a:noFill/>
                </a:ln>
                <a:solidFill>
                  <a:schemeClr val="tx1"/>
                </a:solidFill>
                <a:effectLst/>
              </a:rPr>
              <a:t> y </a:t>
            </a:r>
            <a:r>
              <a:rPr kumimoji="0" lang="en-US" altLang="en-US" sz="2000" b="0" i="0" u="none" strike="noStrike" cap="none" normalizeH="0" baseline="0" dirty="0" err="1" smtClean="0">
                <a:ln>
                  <a:noFill/>
                </a:ln>
                <a:solidFill>
                  <a:schemeClr val="tx1"/>
                </a:solidFill>
                <a:effectLst/>
                <a:latin typeface="Arial Unicode MS"/>
              </a:rPr>
              <a:t>Curso</a:t>
            </a:r>
            <a:r>
              <a:rPr kumimoji="0" lang="en-US" altLang="en-US" sz="2000" b="0" i="0" u="none" strike="noStrike" cap="none" normalizeH="0" baseline="0" dirty="0" smtClean="0">
                <a:ln>
                  <a:noFill/>
                </a:ln>
                <a:solidFill>
                  <a:schemeClr val="tx1"/>
                </a:solidFill>
                <a:effectLst/>
              </a:rPr>
              <a:t>, </a:t>
            </a:r>
            <a:r>
              <a:rPr kumimoji="0" lang="en-US" altLang="en-US" sz="2000" b="0" i="0" u="none" strike="noStrike" cap="none" normalizeH="0" baseline="0" dirty="0" err="1" smtClean="0">
                <a:ln>
                  <a:noFill/>
                </a:ln>
                <a:solidFill>
                  <a:schemeClr val="tx1"/>
                </a:solidFill>
                <a:effectLst/>
              </a:rPr>
              <a:t>implementada</a:t>
            </a:r>
            <a:r>
              <a:rPr kumimoji="0" lang="en-US" altLang="en-US" sz="2000" b="0" i="0" u="none" strike="noStrike" cap="none" normalizeH="0" baseline="0" dirty="0" smtClean="0">
                <a:ln>
                  <a:noFill/>
                </a:ln>
                <a:solidFill>
                  <a:schemeClr val="tx1"/>
                </a:solidFill>
                <a:effectLst/>
              </a:rPr>
              <a:t> mediante </a:t>
            </a:r>
            <a:r>
              <a:rPr kumimoji="0" lang="en-US" altLang="en-US" sz="2000" b="0" i="0" u="none" strike="noStrike" cap="none" normalizeH="0" baseline="0" dirty="0" err="1" smtClean="0">
                <a:ln>
                  <a:noFill/>
                </a:ln>
                <a:solidFill>
                  <a:schemeClr val="tx1"/>
                </a:solidFill>
                <a:effectLst/>
              </a:rPr>
              <a:t>una</a:t>
            </a:r>
            <a:r>
              <a:rPr kumimoji="0" lang="en-US" altLang="en-US" sz="2000" b="0" i="0" u="none" strike="noStrike" cap="none" normalizeH="0" baseline="0" dirty="0" smtClean="0">
                <a:ln>
                  <a:noFill/>
                </a:ln>
                <a:solidFill>
                  <a:schemeClr val="tx1"/>
                </a:solidFill>
                <a:effectLst/>
              </a:rPr>
              <a:t> </a:t>
            </a:r>
            <a:r>
              <a:rPr kumimoji="0" lang="en-US" altLang="en-US" sz="2000" b="0" i="0" u="none" strike="noStrike" cap="none" normalizeH="0" baseline="0" dirty="0" err="1" smtClean="0">
                <a:ln>
                  <a:noFill/>
                </a:ln>
                <a:solidFill>
                  <a:schemeClr val="tx1"/>
                </a:solidFill>
                <a:effectLst/>
              </a:rPr>
              <a:t>tabla</a:t>
            </a:r>
            <a:r>
              <a:rPr kumimoji="0" lang="en-US" altLang="en-US" sz="2000" b="0" i="0" u="none" strike="noStrike" cap="none" normalizeH="0" baseline="0" dirty="0" smtClean="0">
                <a:ln>
                  <a:noFill/>
                </a:ln>
                <a:solidFill>
                  <a:schemeClr val="tx1"/>
                </a:solidFill>
                <a:effectLst/>
              </a:rPr>
              <a:t> intermedia </a:t>
            </a:r>
            <a:r>
              <a:rPr kumimoji="0" lang="en-US" altLang="en-US" sz="2000" b="0" i="0" u="none" strike="noStrike" cap="none" normalizeH="0" baseline="0" dirty="0" err="1" smtClean="0">
                <a:ln>
                  <a:noFill/>
                </a:ln>
                <a:solidFill>
                  <a:schemeClr val="tx1"/>
                </a:solidFill>
                <a:effectLst/>
              </a:rPr>
              <a:t>llamada</a:t>
            </a:r>
            <a:r>
              <a:rPr kumimoji="0" lang="en-US" altLang="en-US" sz="2000" b="0" i="0" u="none" strike="noStrike" cap="none" normalizeH="0" baseline="0" dirty="0" smtClean="0">
                <a:ln>
                  <a:noFill/>
                </a:ln>
                <a:solidFill>
                  <a:schemeClr val="tx1"/>
                </a:solidFill>
                <a:effectLst/>
              </a:rPr>
              <a:t> </a:t>
            </a:r>
            <a:r>
              <a:rPr kumimoji="0" lang="en-US" altLang="en-US" sz="2000" b="0" i="0" u="none" strike="noStrike" cap="none" normalizeH="0" baseline="0" dirty="0" err="1" smtClean="0">
                <a:ln>
                  <a:noFill/>
                </a:ln>
                <a:solidFill>
                  <a:schemeClr val="tx1"/>
                </a:solidFill>
                <a:effectLst/>
                <a:latin typeface="Arial Unicode MS"/>
              </a:rPr>
              <a:t>EstudianteCurso</a:t>
            </a:r>
            <a:r>
              <a:rPr kumimoji="0" lang="en-US" altLang="en-US" sz="2000" b="0" i="0" u="none" strike="noStrike" cap="none" normalizeH="0" baseline="0" dirty="0" smtClean="0">
                <a:ln>
                  <a:noFill/>
                </a:ln>
                <a:solidFill>
                  <a:schemeClr val="tx1"/>
                </a:solidFill>
                <a:effectLst/>
              </a:rPr>
              <a:t>.</a:t>
            </a:r>
            <a:endParaRPr kumimoji="0" lang="en-US" altLang="en-US" sz="2000"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354023327"/>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p:cNvSpPr/>
          <p:nvPr/>
        </p:nvSpPr>
        <p:spPr>
          <a:xfrm>
            <a:off x="1457738" y="742775"/>
            <a:ext cx="9475305" cy="5355312"/>
          </a:xfrm>
          <a:prstGeom prst="rect">
            <a:avLst/>
          </a:prstGeom>
        </p:spPr>
        <p:txBody>
          <a:bodyPr wrap="square">
            <a:spAutoFit/>
          </a:bodyPr>
          <a:lstStyle/>
          <a:p>
            <a:pPr algn="ctr"/>
            <a:r>
              <a:rPr lang="es-MX" sz="3600" b="1" dirty="0">
                <a:solidFill>
                  <a:srgbClr val="000000"/>
                </a:solidFill>
                <a:latin typeface="Arial" panose="020B0604020202020204" pitchFamily="34" charset="0"/>
              </a:rPr>
              <a:t>TEORÍA MODELO(E/R</a:t>
            </a:r>
            <a:r>
              <a:rPr lang="es-MX" sz="3600" b="1" dirty="0" smtClean="0">
                <a:solidFill>
                  <a:srgbClr val="000000"/>
                </a:solidFill>
                <a:latin typeface="Arial" panose="020B0604020202020204" pitchFamily="34" charset="0"/>
              </a:rPr>
              <a:t>)</a:t>
            </a:r>
          </a:p>
          <a:p>
            <a:pPr algn="just"/>
            <a:r>
              <a:rPr lang="es-MX" sz="2400" dirty="0"/>
              <a:t/>
            </a:r>
            <a:br>
              <a:rPr lang="es-MX" sz="2400" dirty="0"/>
            </a:br>
            <a:r>
              <a:rPr lang="es-MX" sz="2400" dirty="0">
                <a:solidFill>
                  <a:srgbClr val="000000"/>
                </a:solidFill>
                <a:latin typeface="Arial" panose="020B0604020202020204" pitchFamily="34" charset="0"/>
              </a:rPr>
              <a:t>Tipo de Correspondencia: número máximo y mínimo de ocurrencias que se relacionan entre una o varias entidades</a:t>
            </a:r>
            <a:r>
              <a:rPr lang="es-MX" sz="2400" dirty="0" smtClean="0">
                <a:solidFill>
                  <a:srgbClr val="000000"/>
                </a:solidFill>
                <a:latin typeface="Arial" panose="020B0604020202020204" pitchFamily="34" charset="0"/>
              </a:rPr>
              <a:t>.</a:t>
            </a:r>
          </a:p>
          <a:p>
            <a:pPr algn="just"/>
            <a:r>
              <a:rPr lang="es-MX" sz="2400" dirty="0"/>
              <a:t/>
            </a:r>
            <a:br>
              <a:rPr lang="es-MX" sz="2400" dirty="0"/>
            </a:br>
            <a:r>
              <a:rPr lang="es-MX" sz="2400" b="1" dirty="0">
                <a:solidFill>
                  <a:srgbClr val="000000"/>
                </a:solidFill>
                <a:latin typeface="Arial" panose="020B0604020202020204" pitchFamily="34" charset="0"/>
              </a:rPr>
              <a:t>- Relaciones 1:N: </a:t>
            </a:r>
            <a:r>
              <a:rPr lang="es-MX" sz="2400" dirty="0">
                <a:solidFill>
                  <a:srgbClr val="000000"/>
                </a:solidFill>
                <a:latin typeface="Arial" panose="020B0604020202020204" pitchFamily="34" charset="0"/>
              </a:rPr>
              <a:t>Cada ocurrencia de una entidad puede relacionarse con 0, 1 o varias ocurrencias dela otra entidad</a:t>
            </a:r>
            <a:r>
              <a:rPr lang="es-MX" sz="2400" dirty="0" smtClean="0">
                <a:solidFill>
                  <a:srgbClr val="000000"/>
                </a:solidFill>
                <a:latin typeface="Arial" panose="020B0604020202020204" pitchFamily="34" charset="0"/>
              </a:rPr>
              <a:t>.</a:t>
            </a:r>
          </a:p>
          <a:p>
            <a:pPr algn="just"/>
            <a:r>
              <a:rPr lang="es-MX" sz="2400" dirty="0"/>
              <a:t/>
            </a:r>
            <a:br>
              <a:rPr lang="es-MX" sz="2400" dirty="0"/>
            </a:br>
            <a:r>
              <a:rPr lang="es-MX" sz="2400" b="1" dirty="0">
                <a:solidFill>
                  <a:srgbClr val="000000"/>
                </a:solidFill>
                <a:latin typeface="Arial" panose="020B0604020202020204" pitchFamily="34" charset="0"/>
              </a:rPr>
              <a:t>- Relaciones M:N: </a:t>
            </a:r>
            <a:r>
              <a:rPr lang="es-MX" sz="2400" dirty="0">
                <a:solidFill>
                  <a:srgbClr val="000000"/>
                </a:solidFill>
                <a:latin typeface="Arial" panose="020B0604020202020204" pitchFamily="34" charset="0"/>
              </a:rPr>
              <a:t>Cada ocurrencia de una entidad puede estar relacionada con 0, 1 o varias ocurrencias de la otra entidad y </a:t>
            </a:r>
            <a:r>
              <a:rPr lang="es-MX" sz="2400" dirty="0" smtClean="0">
                <a:solidFill>
                  <a:srgbClr val="000000"/>
                </a:solidFill>
                <a:latin typeface="Arial" panose="020B0604020202020204" pitchFamily="34" charset="0"/>
              </a:rPr>
              <a:t>viceversa.</a:t>
            </a:r>
            <a:r>
              <a:rPr lang="es-MX" sz="2400" dirty="0"/>
              <a:t/>
            </a:r>
            <a:br>
              <a:rPr lang="es-MX" sz="2400" dirty="0"/>
            </a:br>
            <a:r>
              <a:rPr lang="es-MX" sz="2400" b="1" dirty="0">
                <a:solidFill>
                  <a:srgbClr val="000000"/>
                </a:solidFill>
                <a:latin typeface="Arial" panose="020B0604020202020204" pitchFamily="34" charset="0"/>
              </a:rPr>
              <a:t>- Relaciones 1:1: </a:t>
            </a:r>
            <a:r>
              <a:rPr lang="es-MX" sz="2400" dirty="0">
                <a:solidFill>
                  <a:srgbClr val="000000"/>
                </a:solidFill>
                <a:latin typeface="Arial" panose="020B0604020202020204" pitchFamily="34" charset="0"/>
              </a:rPr>
              <a:t>Cada ocurrencia de una entidad se relaciona con una y sólo una de otra entidad.</a:t>
            </a:r>
            <a:r>
              <a:rPr lang="es-MX" dirty="0"/>
              <a:t/>
            </a:r>
            <a:br>
              <a:rPr lang="es-MX" dirty="0"/>
            </a:br>
            <a:endParaRPr lang="en-US" dirty="0"/>
          </a:p>
        </p:txBody>
      </p:sp>
    </p:spTree>
    <p:extLst>
      <p:ext uri="{BB962C8B-B14F-4D97-AF65-F5344CB8AC3E}">
        <p14:creationId xmlns:p14="http://schemas.microsoft.com/office/powerpoint/2010/main" val="1624251879"/>
      </p:ext>
    </p:extLst>
  </p:cSld>
  <p:clrMapOvr>
    <a:masterClrMapping/>
  </p:clrMapOvr>
  <p:timing>
    <p:tnLst>
      <p:par>
        <p:cTn id="1" dur="indefinite" restart="never" nodeType="tmRoot"/>
      </p:par>
    </p:tnLst>
  </p:timing>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4239</TotalTime>
  <Words>2863</Words>
  <Application>Microsoft Office PowerPoint</Application>
  <PresentationFormat>Panorámica</PresentationFormat>
  <Paragraphs>212</Paragraphs>
  <Slides>43</Slides>
  <Notes>0</Notes>
  <HiddenSlides>0</HiddenSlides>
  <MMClips>0</MMClips>
  <ScaleCrop>false</ScaleCrop>
  <HeadingPairs>
    <vt:vector size="6" baseType="variant">
      <vt:variant>
        <vt:lpstr>Fuentes usadas</vt:lpstr>
      </vt:variant>
      <vt:variant>
        <vt:i4>6</vt:i4>
      </vt:variant>
      <vt:variant>
        <vt:lpstr>Tema</vt:lpstr>
      </vt:variant>
      <vt:variant>
        <vt:i4>1</vt:i4>
      </vt:variant>
      <vt:variant>
        <vt:lpstr>Títulos de diapositiva</vt:lpstr>
      </vt:variant>
      <vt:variant>
        <vt:i4>43</vt:i4>
      </vt:variant>
    </vt:vector>
  </HeadingPairs>
  <TitlesOfParts>
    <vt:vector size="50" baseType="lpstr">
      <vt:lpstr>Arial</vt:lpstr>
      <vt:lpstr>Arial Unicode MS</vt:lpstr>
      <vt:lpstr>Calibri</vt:lpstr>
      <vt:lpstr>Calibri Light</vt:lpstr>
      <vt:lpstr>fira code</vt:lpstr>
      <vt:lpstr>oxygen</vt:lpstr>
      <vt:lpstr>Tema de Office</vt:lpstr>
      <vt:lpstr>BASE DE DATOS</vt:lpstr>
      <vt:lpstr>¿Qué es una base de datos?</vt:lpstr>
      <vt:lpstr>BASE DE DATOS</vt:lpstr>
      <vt:lpstr>Base de datos Relacionales</vt:lpstr>
      <vt:lpstr>Base de Datos No Relacional</vt:lpstr>
      <vt:lpstr>Base de Datos No Relacional</vt:lpstr>
      <vt:lpstr>Comparación</vt:lpstr>
      <vt:lpstr>SqlServer</vt:lpstr>
      <vt:lpstr>Caracteristicas</vt:lpstr>
      <vt:lpstr>Caracteristicas</vt:lpstr>
      <vt:lpstr>ELEMENTOS DE UNA BASE DE DATOS</vt:lpstr>
      <vt:lpstr>Presentación de PowerPoint</vt:lpstr>
      <vt:lpstr>Presentación de PowerPoint</vt:lpstr>
      <vt:lpstr>Presentación de PowerPoint</vt:lpstr>
      <vt:lpstr>Presentación de PowerPoint</vt:lpstr>
      <vt:lpstr>Cliente de SQL Server</vt:lpstr>
      <vt:lpstr>Cliente de SQL Server</vt:lpstr>
      <vt:lpstr>Cliente de SQL Server</vt:lpstr>
      <vt:lpstr>INSTALACION DE SQL SERVER</vt:lpstr>
      <vt:lpstr>Comandos de SQL</vt:lpstr>
      <vt:lpstr>Comandos de SQL</vt:lpstr>
      <vt:lpstr>Comandos de SQL</vt:lpstr>
      <vt:lpstr>CREACION DE UNA TABLA</vt:lpstr>
      <vt:lpstr>Presentación de PowerPoint</vt:lpstr>
      <vt:lpstr>Presentación de PowerPoint</vt:lpstr>
      <vt:lpstr>EJERCICIO – TIPO DE DATOS</vt:lpstr>
      <vt:lpstr>Lenguaje de Definición de Datos (DDL)</vt:lpstr>
      <vt:lpstr>Presentación de PowerPoint</vt:lpstr>
      <vt:lpstr>Lenguaje de manipulación de datos (DML)</vt:lpstr>
      <vt:lpstr>Presentación de PowerPoint</vt:lpstr>
      <vt:lpstr>Lenguaje de consulta de datos (DQL)</vt:lpstr>
      <vt:lpstr>Lenguaje de consulta de datos (DQL)</vt:lpstr>
      <vt:lpstr>Ejercicio 2: de SQL Server: DDL, DML y DQL</vt:lpstr>
      <vt:lpstr>Presentación de PowerPoint</vt:lpstr>
      <vt:lpstr>Presentación de PowerPoint</vt:lpstr>
      <vt:lpstr>Presentación de PowerPoint</vt:lpstr>
      <vt:lpstr>Relaciones </vt:lpstr>
      <vt:lpstr>Relación de uno a uno:</vt:lpstr>
      <vt:lpstr>Relación de uno a muchos</vt:lpstr>
      <vt:lpstr>Conclusión</vt:lpstr>
      <vt:lpstr>Relación de muchos a muchos:</vt:lpstr>
      <vt:lpstr>Ejercicio3 - Relaciones</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gabriel</dc:creator>
  <cp:lastModifiedBy>gabriel</cp:lastModifiedBy>
  <cp:revision>92</cp:revision>
  <dcterms:created xsi:type="dcterms:W3CDTF">2024-06-05T12:35:53Z</dcterms:created>
  <dcterms:modified xsi:type="dcterms:W3CDTF">2025-01-21T11:57:35Z</dcterms:modified>
</cp:coreProperties>
</file>