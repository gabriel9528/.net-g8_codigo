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5" r:id="rId3"/>
    <p:sldId id="316" r:id="rId4"/>
    <p:sldId id="344" r:id="rId5"/>
    <p:sldId id="336" r:id="rId6"/>
    <p:sldId id="343" r:id="rId7"/>
    <p:sldId id="355" r:id="rId8"/>
    <p:sldId id="356" r:id="rId9"/>
    <p:sldId id="357" r:id="rId10"/>
    <p:sldId id="358" r:id="rId11"/>
    <p:sldId id="359" r:id="rId12"/>
    <p:sldId id="360" r:id="rId13"/>
    <p:sldId id="361" r:id="rId14"/>
    <p:sldId id="362" r:id="rId15"/>
    <p:sldId id="363" r:id="rId16"/>
    <p:sldId id="364" r:id="rId17"/>
    <p:sldId id="365" r:id="rId18"/>
    <p:sldId id="345" r:id="rId19"/>
    <p:sldId id="347" r:id="rId20"/>
    <p:sldId id="353" r:id="rId21"/>
    <p:sldId id="346" r:id="rId22"/>
    <p:sldId id="342" r:id="rId23"/>
    <p:sldId id="337" r:id="rId24"/>
    <p:sldId id="277" r:id="rId25"/>
    <p:sldId id="366" r:id="rId26"/>
    <p:sldId id="278" r:id="rId27"/>
    <p:sldId id="279" r:id="rId28"/>
    <p:sldId id="267" r:id="rId29"/>
    <p:sldId id="26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72" d="100"/>
          <a:sy n="72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61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3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76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858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77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20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75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148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3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50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7AE2-60BB-4D63-883A-F19CE71763D6}" type="datetimeFigureOut">
              <a:rPr lang="en-US" smtClean="0"/>
              <a:t>6/9/2025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3F35-EF24-4E97-B901-88CB07C8C12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3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 smtClean="0"/>
              <a:t>BASE DE DATOS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 smtClean="0"/>
              <a:t>SQL-SERVER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29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Ejercicio 2</a:t>
            </a:r>
            <a:endParaRPr lang="en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35313"/>
            <a:ext cx="5153744" cy="150516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056" y="1782193"/>
            <a:ext cx="5153744" cy="189574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19" y="4535303"/>
            <a:ext cx="5106113" cy="128605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0056" y="3769438"/>
            <a:ext cx="5153744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09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982" y="467747"/>
            <a:ext cx="5125165" cy="266737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56" y="467747"/>
            <a:ext cx="5125165" cy="303889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564" y="3506646"/>
            <a:ext cx="5258534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89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04461" y="1571073"/>
            <a:ext cx="10515600" cy="1325563"/>
          </a:xfrm>
        </p:spPr>
        <p:txBody>
          <a:bodyPr/>
          <a:lstStyle/>
          <a:p>
            <a:pPr algn="ctr"/>
            <a:r>
              <a:rPr lang="es-PE" b="1" dirty="0" smtClean="0"/>
              <a:t>Creamos nuevamente nuestras tablas e insertamos la data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357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4948" y="1180010"/>
            <a:ext cx="10515600" cy="514127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s-MX" dirty="0"/>
              <a:t>1</a:t>
            </a:r>
            <a:r>
              <a:rPr lang="es-MX" dirty="0" smtClean="0"/>
              <a:t>. Visualizar </a:t>
            </a:r>
            <a:r>
              <a:rPr lang="es-MX" dirty="0"/>
              <a:t>el código y el nombre del encargado cuyo número de teléfono </a:t>
            </a:r>
            <a:r>
              <a:rPr lang="es-MX" dirty="0" smtClean="0"/>
              <a:t>empiece </a:t>
            </a:r>
            <a:r>
              <a:rPr lang="es-MX" dirty="0"/>
              <a:t>en </a:t>
            </a:r>
            <a:r>
              <a:rPr lang="es-MX" dirty="0" smtClean="0"/>
              <a:t>98</a:t>
            </a:r>
          </a:p>
          <a:p>
            <a:pPr marL="0" indent="0" algn="just">
              <a:buNone/>
            </a:pPr>
            <a:r>
              <a:rPr lang="es-MX" dirty="0" smtClean="0"/>
              <a:t>2. Visualizar </a:t>
            </a:r>
            <a:r>
              <a:rPr lang="es-MX" dirty="0"/>
              <a:t>el código del cliente y el código del libro en función del orden descendente del código de ventas del </a:t>
            </a:r>
            <a:r>
              <a:rPr lang="es-MX" dirty="0" smtClean="0"/>
              <a:t>libro</a:t>
            </a:r>
          </a:p>
          <a:p>
            <a:pPr marL="0" indent="0" algn="just">
              <a:buNone/>
            </a:pPr>
            <a:r>
              <a:rPr lang="es-MX" dirty="0"/>
              <a:t>3</a:t>
            </a:r>
            <a:r>
              <a:rPr lang="es-MX" dirty="0" smtClean="0"/>
              <a:t>. Visualizar </a:t>
            </a:r>
            <a:r>
              <a:rPr lang="es-MX" dirty="0"/>
              <a:t>el código del cliente como clientes, el código del libro de la </a:t>
            </a:r>
            <a:r>
              <a:rPr lang="es-MX" dirty="0" smtClean="0"/>
              <a:t>tabla </a:t>
            </a:r>
            <a:r>
              <a:rPr lang="es-MX" dirty="0"/>
              <a:t>alquileres de </a:t>
            </a:r>
            <a:r>
              <a:rPr lang="es-MX" dirty="0" smtClean="0"/>
              <a:t>libros</a:t>
            </a:r>
          </a:p>
          <a:p>
            <a:pPr marL="0" indent="0" algn="just">
              <a:buNone/>
            </a:pPr>
            <a:r>
              <a:rPr lang="es-MX" dirty="0" smtClean="0"/>
              <a:t>4. Visualizar </a:t>
            </a:r>
            <a:r>
              <a:rPr lang="es-MX" dirty="0"/>
              <a:t>el código del libro y el código del cliente en una sola </a:t>
            </a:r>
            <a:r>
              <a:rPr lang="es-MX" dirty="0" smtClean="0"/>
              <a:t>columna</a:t>
            </a:r>
          </a:p>
          <a:p>
            <a:pPr marL="0" indent="0" algn="just">
              <a:buNone/>
            </a:pPr>
            <a:r>
              <a:rPr lang="es-MX" dirty="0" smtClean="0"/>
              <a:t>5. Visualizar </a:t>
            </a:r>
            <a:r>
              <a:rPr lang="es-MX" dirty="0"/>
              <a:t>el código del cliente y el código del libro en función del orden de la fecha de </a:t>
            </a:r>
            <a:r>
              <a:rPr lang="es-MX" dirty="0" smtClean="0"/>
              <a:t>venta</a:t>
            </a:r>
          </a:p>
          <a:p>
            <a:pPr marL="0" indent="0" algn="just">
              <a:buNone/>
            </a:pPr>
            <a:r>
              <a:rPr lang="es-MX" dirty="0"/>
              <a:t>6</a:t>
            </a:r>
            <a:r>
              <a:rPr lang="es-MX" dirty="0" smtClean="0"/>
              <a:t>. Visualizar </a:t>
            </a:r>
            <a:r>
              <a:rPr lang="es-MX" dirty="0"/>
              <a:t>el código del cliente, del libro, del alquiler del libro, de la biblioteca en función al orden descendiente de la fecha de devolución del libro</a:t>
            </a:r>
            <a:endParaRPr lang="en-US" dirty="0"/>
          </a:p>
        </p:txBody>
      </p:sp>
      <p:sp>
        <p:nvSpPr>
          <p:cNvPr id="2" name="Rectángulo 1"/>
          <p:cNvSpPr/>
          <p:nvPr/>
        </p:nvSpPr>
        <p:spPr>
          <a:xfrm>
            <a:off x="824948" y="567394"/>
            <a:ext cx="1114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PE" sz="2400" b="1" dirty="0"/>
              <a:t>Repaso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2474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571"/>
          </a:xfrm>
        </p:spPr>
        <p:txBody>
          <a:bodyPr/>
          <a:lstStyle/>
          <a:p>
            <a:r>
              <a:rPr lang="es-PE" b="1" dirty="0" smtClean="0"/>
              <a:t>Repaso</a:t>
            </a:r>
            <a:endParaRPr lang="en-US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s-MX" dirty="0"/>
              <a:t>7</a:t>
            </a:r>
            <a:r>
              <a:rPr lang="es-MX" dirty="0" smtClean="0"/>
              <a:t>. </a:t>
            </a:r>
            <a:r>
              <a:rPr lang="es-MX" dirty="0"/>
              <a:t>Ajustar el precio de los libros en función de su género y </a:t>
            </a:r>
            <a:r>
              <a:rPr lang="es-MX" dirty="0" smtClean="0"/>
              <a:t>stock</a:t>
            </a:r>
          </a:p>
          <a:p>
            <a:pPr algn="just"/>
            <a:r>
              <a:rPr lang="es-MX" dirty="0" smtClean="0"/>
              <a:t>8</a:t>
            </a:r>
            <a:r>
              <a:rPr lang="es-MX" dirty="0"/>
              <a:t>. Identificar libros alquilados que deben devolverse este </a:t>
            </a:r>
            <a:r>
              <a:rPr lang="es-MX" dirty="0" smtClean="0"/>
              <a:t>2023</a:t>
            </a:r>
            <a:r>
              <a:rPr lang="es-MX" dirty="0" smtClean="0"/>
              <a:t> </a:t>
            </a:r>
            <a:r>
              <a:rPr lang="es-MX" dirty="0"/>
              <a:t>y su </a:t>
            </a:r>
            <a:r>
              <a:rPr lang="es-MX" dirty="0" smtClean="0"/>
              <a:t>estado</a:t>
            </a:r>
          </a:p>
          <a:p>
            <a:pPr algn="just"/>
            <a:r>
              <a:rPr lang="es-MX" dirty="0" smtClean="0"/>
              <a:t>9. </a:t>
            </a:r>
            <a:r>
              <a:rPr lang="es-MX" dirty="0"/>
              <a:t>Verificar si un libro ha sido vendido en más de una </a:t>
            </a:r>
            <a:r>
              <a:rPr lang="es-MX" dirty="0" smtClean="0"/>
              <a:t>biblioteca</a:t>
            </a:r>
          </a:p>
          <a:p>
            <a:pPr algn="just"/>
            <a:r>
              <a:rPr lang="es-MX" dirty="0" smtClean="0"/>
              <a:t>10. Ajustar </a:t>
            </a:r>
            <a:r>
              <a:rPr lang="es-MX" dirty="0"/>
              <a:t>el precio de los libros en función de su año de </a:t>
            </a:r>
            <a:r>
              <a:rPr lang="es-MX" dirty="0" smtClean="0"/>
              <a:t>edición</a:t>
            </a:r>
          </a:p>
          <a:p>
            <a:pPr algn="just"/>
            <a:r>
              <a:rPr lang="es-MX" dirty="0" smtClean="0"/>
              <a:t>11. </a:t>
            </a:r>
            <a:r>
              <a:rPr lang="es-MX" dirty="0"/>
              <a:t>Filtrar libros que han sido alquilados por más de un cliente en la misma </a:t>
            </a:r>
            <a:r>
              <a:rPr lang="es-MX" dirty="0" smtClean="0"/>
              <a:t>biblioteca</a:t>
            </a:r>
          </a:p>
          <a:p>
            <a:pPr algn="just"/>
            <a:r>
              <a:rPr lang="es-MX" dirty="0"/>
              <a:t>12. </a:t>
            </a:r>
            <a:r>
              <a:rPr lang="es-MX" dirty="0" smtClean="0"/>
              <a:t>Ajustar </a:t>
            </a:r>
            <a:r>
              <a:rPr lang="es-MX" dirty="0"/>
              <a:t>el precio de los libros si el autor es 'George Orwell' y tiene un stock </a:t>
            </a:r>
            <a:r>
              <a:rPr lang="es-MX" dirty="0" smtClean="0"/>
              <a:t>bajo</a:t>
            </a:r>
          </a:p>
          <a:p>
            <a:pPr marL="0" indent="0" algn="just">
              <a:buNone/>
            </a:pPr>
            <a:r>
              <a:rPr lang="es-MX" dirty="0" smtClean="0"/>
              <a:t>Todos</a:t>
            </a:r>
          </a:p>
          <a:p>
            <a:pPr algn="just"/>
            <a:r>
              <a:rPr lang="es-MX" dirty="0">
                <a:solidFill>
                  <a:srgbClr val="FF0000"/>
                </a:solidFill>
              </a:rPr>
              <a:t>13. Verificar si un cliente tiene más de un alquiler de libros activo</a:t>
            </a:r>
            <a:endParaRPr lang="es-MX" dirty="0" smtClean="0">
              <a:solidFill>
                <a:srgbClr val="FF0000"/>
              </a:solidFill>
            </a:endParaRPr>
          </a:p>
          <a:p>
            <a:pPr algn="just"/>
            <a:r>
              <a:rPr lang="es-MX" dirty="0" smtClean="0">
                <a:solidFill>
                  <a:srgbClr val="FF0000"/>
                </a:solidFill>
              </a:rPr>
              <a:t>14. </a:t>
            </a:r>
            <a:r>
              <a:rPr lang="es-MX" dirty="0">
                <a:solidFill>
                  <a:srgbClr val="FF0000"/>
                </a:solidFill>
              </a:rPr>
              <a:t>Listar libros con descuentos según su género y ubicación de la biblioteca donde se venden</a:t>
            </a:r>
          </a:p>
        </p:txBody>
      </p:sp>
    </p:spTree>
    <p:extLst>
      <p:ext uri="{BB962C8B-B14F-4D97-AF65-F5344CB8AC3E}">
        <p14:creationId xmlns:p14="http://schemas.microsoft.com/office/powerpoint/2010/main" val="280813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77078"/>
            <a:ext cx="10515600" cy="696775"/>
          </a:xfrm>
        </p:spPr>
        <p:txBody>
          <a:bodyPr>
            <a:normAutofit/>
          </a:bodyPr>
          <a:lstStyle/>
          <a:p>
            <a:r>
              <a:rPr lang="en-US" sz="3600" b="1" dirty="0"/>
              <a:t>¿</a:t>
            </a:r>
            <a:r>
              <a:rPr lang="en-US" sz="3600" b="1" dirty="0" err="1"/>
              <a:t>Qué</a:t>
            </a:r>
            <a:r>
              <a:rPr lang="en-US" sz="3600" b="1" dirty="0"/>
              <a:t> </a:t>
            </a:r>
            <a:r>
              <a:rPr lang="en-US" sz="3600" b="1" dirty="0" err="1"/>
              <a:t>es</a:t>
            </a:r>
            <a:r>
              <a:rPr lang="en-US" sz="3600" b="1" dirty="0"/>
              <a:t> un </a:t>
            </a:r>
            <a:r>
              <a:rPr lang="en-US" sz="3600" b="1" i="1" dirty="0"/>
              <a:t>Join</a:t>
            </a:r>
            <a:r>
              <a:rPr lang="en-US" sz="3600" b="1" dirty="0"/>
              <a:t>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173853"/>
            <a:ext cx="10515600" cy="5003110"/>
          </a:xfrm>
        </p:spPr>
        <p:txBody>
          <a:bodyPr>
            <a:normAutofit/>
          </a:bodyPr>
          <a:lstStyle/>
          <a:p>
            <a:pPr algn="just"/>
            <a:r>
              <a:rPr lang="es-MX" dirty="0">
                <a:latin typeface="+mj-lt"/>
              </a:rPr>
              <a:t>Un </a:t>
            </a:r>
            <a:r>
              <a:rPr lang="es-MX" b="1" i="1" dirty="0" err="1">
                <a:latin typeface="+mj-lt"/>
              </a:rPr>
              <a:t>join</a:t>
            </a:r>
            <a:r>
              <a:rPr lang="es-MX" dirty="0">
                <a:latin typeface="+mj-lt"/>
              </a:rPr>
              <a:t> en SQL se utiliza para combinar filas de dos o más tablas basándose en una condición relacionada entre ellas. Generalmente, estas tablas comparten una relación a través de una clave primaria y una clave foránea</a:t>
            </a:r>
            <a:r>
              <a:rPr lang="es-MX" dirty="0" smtClean="0">
                <a:latin typeface="+mj-lt"/>
              </a:rPr>
              <a:t>.</a:t>
            </a:r>
          </a:p>
          <a:p>
            <a:pPr marL="0" indent="0" algn="just">
              <a:buNone/>
            </a:pPr>
            <a:endParaRPr lang="es-MX" sz="900" dirty="0" smtClean="0">
              <a:latin typeface="+mj-lt"/>
            </a:endParaRPr>
          </a:p>
          <a:p>
            <a:pPr lvl="0" algn="just"/>
            <a:r>
              <a:rPr lang="en-US" altLang="en-US" b="1" dirty="0">
                <a:latin typeface="+mj-lt"/>
              </a:rPr>
              <a:t>Tipos de </a:t>
            </a:r>
            <a:r>
              <a:rPr lang="en-US" altLang="en-US" b="1" i="1" dirty="0">
                <a:latin typeface="+mj-lt"/>
              </a:rPr>
              <a:t>Joins</a:t>
            </a:r>
            <a:endParaRPr lang="en-US" altLang="en-US" b="1" dirty="0">
              <a:latin typeface="+mj-lt"/>
            </a:endParaRPr>
          </a:p>
          <a:p>
            <a:pPr marL="0" indent="0" algn="just">
              <a:buNone/>
            </a:pPr>
            <a:endParaRPr lang="es-MX" sz="1000" dirty="0" smtClean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>
                <a:latin typeface="+mj-lt"/>
              </a:rPr>
              <a:t>1. INNER JOIN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dirty="0">
                <a:latin typeface="+mj-lt"/>
              </a:rPr>
              <a:t>Un </a:t>
            </a:r>
            <a:r>
              <a:rPr lang="en-US" altLang="en-US" sz="2200" b="1" dirty="0">
                <a:latin typeface="+mj-lt"/>
              </a:rPr>
              <a:t>INNER JOIN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devuelve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únicamente</a:t>
            </a:r>
            <a:r>
              <a:rPr lang="en-US" altLang="en-US" sz="2200" dirty="0">
                <a:latin typeface="+mj-lt"/>
              </a:rPr>
              <a:t> las </a:t>
            </a:r>
            <a:r>
              <a:rPr lang="en-US" altLang="en-US" sz="2200" dirty="0" err="1">
                <a:latin typeface="+mj-lt"/>
              </a:rPr>
              <a:t>filas</a:t>
            </a:r>
            <a:r>
              <a:rPr lang="en-US" altLang="en-US" sz="2200" dirty="0">
                <a:latin typeface="+mj-lt"/>
              </a:rPr>
              <a:t> que </a:t>
            </a:r>
            <a:r>
              <a:rPr lang="en-US" altLang="en-US" sz="2200" dirty="0" err="1">
                <a:latin typeface="+mj-lt"/>
              </a:rPr>
              <a:t>tienen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coincidencias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en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ambas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tablas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involucradas</a:t>
            </a:r>
            <a:r>
              <a:rPr lang="en-US" altLang="en-US" sz="2200" dirty="0">
                <a:latin typeface="+mj-lt"/>
              </a:rPr>
              <a:t>. Si no hay </a:t>
            </a:r>
            <a:r>
              <a:rPr lang="en-US" altLang="en-US" sz="2200" dirty="0" err="1">
                <a:latin typeface="+mj-lt"/>
              </a:rPr>
              <a:t>coincidencia</a:t>
            </a:r>
            <a:r>
              <a:rPr lang="en-US" altLang="en-US" sz="2200" dirty="0">
                <a:latin typeface="+mj-lt"/>
              </a:rPr>
              <a:t>, la fila no se </a:t>
            </a:r>
            <a:r>
              <a:rPr lang="en-US" altLang="en-US" sz="2200" dirty="0" err="1">
                <a:latin typeface="+mj-lt"/>
              </a:rPr>
              <a:t>incluye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en</a:t>
            </a:r>
            <a:r>
              <a:rPr lang="en-US" altLang="en-US" sz="2200" dirty="0">
                <a:latin typeface="+mj-lt"/>
              </a:rPr>
              <a:t> el resultado.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200" b="1" dirty="0" err="1">
                <a:latin typeface="+mj-lt"/>
              </a:rPr>
              <a:t>Características</a:t>
            </a:r>
            <a:r>
              <a:rPr lang="en-US" altLang="en-US" sz="2200" b="1" dirty="0">
                <a:latin typeface="+mj-lt"/>
              </a:rPr>
              <a:t>:</a:t>
            </a:r>
            <a:endParaRPr lang="en-US" altLang="en-US" sz="2200" dirty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 err="1">
                <a:latin typeface="+mj-lt"/>
              </a:rPr>
              <a:t>Es</a:t>
            </a:r>
            <a:r>
              <a:rPr lang="en-US" altLang="en-US" sz="2200" dirty="0">
                <a:latin typeface="+mj-lt"/>
              </a:rPr>
              <a:t> el </a:t>
            </a:r>
            <a:r>
              <a:rPr lang="en-US" altLang="en-US" sz="2200" dirty="0" err="1">
                <a:latin typeface="+mj-lt"/>
              </a:rPr>
              <a:t>tipo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más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común</a:t>
            </a:r>
            <a:r>
              <a:rPr lang="en-US" altLang="en-US" sz="2200" dirty="0">
                <a:latin typeface="+mj-lt"/>
              </a:rPr>
              <a:t> de </a:t>
            </a:r>
            <a:r>
              <a:rPr lang="en-US" altLang="en-US" sz="2200" i="1" dirty="0">
                <a:latin typeface="+mj-lt"/>
              </a:rPr>
              <a:t>join</a:t>
            </a:r>
            <a:r>
              <a:rPr lang="en-US" altLang="en-US" sz="2200" dirty="0">
                <a:latin typeface="+mj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200" dirty="0" err="1">
                <a:latin typeface="+mj-lt"/>
              </a:rPr>
              <a:t>Excluye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los</a:t>
            </a:r>
            <a:r>
              <a:rPr lang="en-US" altLang="en-US" sz="2200" dirty="0">
                <a:latin typeface="+mj-lt"/>
              </a:rPr>
              <a:t> </a:t>
            </a:r>
            <a:r>
              <a:rPr lang="en-US" altLang="en-US" sz="2200" dirty="0" err="1">
                <a:latin typeface="+mj-lt"/>
              </a:rPr>
              <a:t>datos</a:t>
            </a:r>
            <a:r>
              <a:rPr lang="en-US" altLang="en-US" sz="2200" dirty="0">
                <a:latin typeface="+mj-lt"/>
              </a:rPr>
              <a:t> que no </a:t>
            </a:r>
            <a:r>
              <a:rPr lang="en-US" altLang="en-US" sz="2200" dirty="0" err="1">
                <a:latin typeface="+mj-lt"/>
              </a:rPr>
              <a:t>coinciden</a:t>
            </a:r>
            <a:r>
              <a:rPr lang="en-US" altLang="en-US" sz="2200" dirty="0">
                <a:latin typeface="+mj-lt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857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1883" y="424070"/>
            <a:ext cx="5188380" cy="361784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393" y="4041913"/>
            <a:ext cx="4037745" cy="12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43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1695" y="890389"/>
            <a:ext cx="1051673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LEFT JOIN (o LEFT OUTER JOIN)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devuelve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(Tabla1), junto con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(Tabla2). Si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rellena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columnas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Características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Incluye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tendrán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09" y="3709977"/>
            <a:ext cx="4362508" cy="143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16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197" y="1388281"/>
            <a:ext cx="1053038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3. RIGHT JOIN (o RIGHT OUTER JOIN)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RIGHT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funciona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manera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opuesta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al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LEFT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Devuelve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(Tabla2), junto con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(Tabla1). Si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coincidencia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se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rellena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con NULL.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Características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Incluye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coincidencia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tendrán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valores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NULL.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574" y="3879911"/>
            <a:ext cx="3627633" cy="142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513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7679" r="5557"/>
          <a:stretch/>
        </p:blipFill>
        <p:spPr>
          <a:xfrm>
            <a:off x="357812" y="893260"/>
            <a:ext cx="5724939" cy="441215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3"/>
          <a:srcRect l="7793" r="3384"/>
          <a:stretch/>
        </p:blipFill>
        <p:spPr>
          <a:xfrm>
            <a:off x="6268282" y="893260"/>
            <a:ext cx="5539409" cy="429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923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8" y="3008507"/>
            <a:ext cx="4810539" cy="323995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02365" y="761738"/>
            <a:ext cx="1078726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4. FULL JOIN (o FULL OUTER JOIN)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FULL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devuelve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cuando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coincidencia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cualquiera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coincidentes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tendrán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valores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NULL para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columnas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otra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Características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Combina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comportamiento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LEFT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y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RIGHT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Incluye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ambas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tablas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Sintaxis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básica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80" y="3775356"/>
            <a:ext cx="3690223" cy="124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9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Practica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1381" y="1388303"/>
            <a:ext cx="10515600" cy="1010340"/>
          </a:xfrm>
        </p:spPr>
        <p:txBody>
          <a:bodyPr>
            <a:normAutofit/>
          </a:bodyPr>
          <a:lstStyle/>
          <a:p>
            <a:pPr algn="just"/>
            <a:r>
              <a:rPr lang="es-MX" sz="2000" dirty="0"/>
              <a:t>En una empresa de tecnología, se lleva un registro de los empleados y los proyectos en los que trabajan. Cada empleado puede estar asignado a varios proyectos, y no todos los proyectos tienen empleados asignados todavía.</a:t>
            </a:r>
            <a:endParaRPr lang="en-US" sz="20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982" y="2398643"/>
            <a:ext cx="4307637" cy="1365836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98643"/>
            <a:ext cx="5230981" cy="1476850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11381" y="3856882"/>
            <a:ext cx="5125395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join -&gt;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Resultado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empleados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proyectos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tendrán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los datos de proyectos)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11381" y="4616682"/>
            <a:ext cx="512539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Empleados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 este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caso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y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filas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coincidentes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derecha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Proyectos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24790" y="5478457"/>
            <a:ext cx="51119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no hay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serán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6201545" y="3790855"/>
            <a:ext cx="5125436" cy="13696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jon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-&gt;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Retorna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las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Proyectos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en este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caso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), y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filas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coincidentes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izquierda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Empleados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 no hay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las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columnas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serán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NULL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96772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92791" y="682722"/>
            <a:ext cx="10515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Diferencia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clave: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JOIN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estén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 JOIN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Prioriza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derecha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asegurando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estén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hay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coincidencias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izquierda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la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práctica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puedes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cualquiera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los dos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según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lógica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consulta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ejemplo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puede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usarse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asegurarte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listar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empleados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los que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tienen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proyectos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asignados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puede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usarse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para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asegurarte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listar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todos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los proyectos,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incluso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los que no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tienen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empleados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asignados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casos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puedes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intercambiar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LEFT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RIGHT JOIN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simplemente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cambiando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el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orden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las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tablas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7273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0218"/>
          </a:xfrm>
        </p:spPr>
        <p:txBody>
          <a:bodyPr>
            <a:normAutofit/>
          </a:bodyPr>
          <a:lstStyle/>
          <a:p>
            <a:r>
              <a:rPr lang="es-PE" sz="3200" dirty="0" smtClean="0"/>
              <a:t>Ejemplo 1 -&gt; </a:t>
            </a:r>
            <a:r>
              <a:rPr lang="es-PE" sz="3200" dirty="0" err="1" smtClean="0"/>
              <a:t>Join</a:t>
            </a:r>
            <a:endParaRPr lang="en-US" sz="32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955344"/>
            <a:ext cx="10515600" cy="3647523"/>
          </a:xfrm>
        </p:spPr>
        <p:txBody>
          <a:bodyPr/>
          <a:lstStyle/>
          <a:p>
            <a:pPr algn="just"/>
            <a:r>
              <a:rPr lang="es-PE" sz="2000" dirty="0" smtClean="0">
                <a:latin typeface="+mj-lt"/>
              </a:rPr>
              <a:t>Primeramente crearemos nuestras tablas de Clientes y Pedidos</a:t>
            </a:r>
          </a:p>
          <a:p>
            <a:pPr algn="just"/>
            <a:endParaRPr lang="es-PE" sz="2000" dirty="0" smtClean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err="1">
                <a:latin typeface="+mj-lt"/>
              </a:rPr>
              <a:t>Ejecución</a:t>
            </a:r>
            <a:r>
              <a:rPr lang="en-US" altLang="en-US" sz="2000" b="1" dirty="0">
                <a:latin typeface="+mj-lt"/>
              </a:rPr>
              <a:t> y </a:t>
            </a:r>
            <a:r>
              <a:rPr lang="en-US" altLang="en-US" sz="2000" b="1" dirty="0" err="1">
                <a:latin typeface="+mj-lt"/>
              </a:rPr>
              <a:t>resultados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en-US" altLang="en-US" sz="2000" b="1" dirty="0" err="1">
                <a:latin typeface="+mj-lt"/>
              </a:rPr>
              <a:t>esperados</a:t>
            </a:r>
            <a:endParaRPr lang="en-US" altLang="en-US" sz="2000" b="1" dirty="0">
              <a:latin typeface="+mj-lt"/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000" b="1" dirty="0">
                <a:latin typeface="+mj-lt"/>
              </a:rPr>
              <a:t>INNER JOIN</a:t>
            </a:r>
            <a:r>
              <a:rPr lang="en-US" altLang="en-US" sz="2000" dirty="0">
                <a:latin typeface="+mj-lt"/>
              </a:rPr>
              <a:t>: </a:t>
            </a:r>
            <a:r>
              <a:rPr lang="en-US" altLang="en-US" sz="2000" dirty="0" err="1">
                <a:latin typeface="+mj-lt"/>
              </a:rPr>
              <a:t>Muestra</a:t>
            </a:r>
            <a:r>
              <a:rPr lang="en-US" altLang="en-US" sz="2000" dirty="0">
                <a:latin typeface="+mj-lt"/>
              </a:rPr>
              <a:t> solo las </a:t>
            </a:r>
            <a:r>
              <a:rPr lang="en-US" altLang="en-US" sz="2000" dirty="0" err="1">
                <a:latin typeface="+mj-lt"/>
              </a:rPr>
              <a:t>combinaciones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donde</a:t>
            </a:r>
            <a:r>
              <a:rPr lang="en-US" altLang="en-US" sz="2000" dirty="0">
                <a:latin typeface="+mj-lt"/>
              </a:rPr>
              <a:t> hay </a:t>
            </a:r>
            <a:r>
              <a:rPr lang="en-US" altLang="en-US" sz="2000" dirty="0" err="1">
                <a:latin typeface="+mj-lt"/>
              </a:rPr>
              <a:t>coincidencia</a:t>
            </a:r>
            <a:r>
              <a:rPr lang="en-US" altLang="en-US" sz="2000" dirty="0">
                <a:latin typeface="+mj-lt"/>
              </a:rPr>
              <a:t> entre </a:t>
            </a:r>
            <a:r>
              <a:rPr lang="en-US" altLang="en-US" sz="2000" dirty="0" err="1">
                <a:latin typeface="+mj-lt"/>
              </a:rPr>
              <a:t>ClienteID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en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ambas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tablas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000" b="1" dirty="0">
                <a:latin typeface="+mj-lt"/>
              </a:rPr>
              <a:t>LEFT JOIN</a:t>
            </a:r>
            <a:r>
              <a:rPr lang="en-US" altLang="en-US" sz="2000" dirty="0">
                <a:latin typeface="+mj-lt"/>
              </a:rPr>
              <a:t>: </a:t>
            </a:r>
            <a:r>
              <a:rPr lang="en-US" altLang="en-US" sz="2000" dirty="0" err="1">
                <a:latin typeface="+mj-lt"/>
              </a:rPr>
              <a:t>Incluye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todos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los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registros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Clientes</a:t>
            </a:r>
            <a:r>
              <a:rPr lang="en-US" altLang="en-US" sz="2000" dirty="0">
                <a:latin typeface="+mj-lt"/>
              </a:rPr>
              <a:t>, con </a:t>
            </a:r>
            <a:r>
              <a:rPr lang="en-US" altLang="en-US" sz="2000" dirty="0" err="1">
                <a:latin typeface="+mj-lt"/>
              </a:rPr>
              <a:t>datos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Pedidos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donde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coincida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ClienteID</a:t>
            </a:r>
            <a:r>
              <a:rPr lang="en-US" altLang="en-US" sz="2000" dirty="0">
                <a:latin typeface="+mj-lt"/>
              </a:rPr>
              <a:t>, o NULL </a:t>
            </a:r>
            <a:r>
              <a:rPr lang="en-US" altLang="en-US" sz="2000" dirty="0" err="1">
                <a:latin typeface="+mj-lt"/>
              </a:rPr>
              <a:t>si</a:t>
            </a:r>
            <a:r>
              <a:rPr lang="en-US" altLang="en-US" sz="2000" dirty="0">
                <a:latin typeface="+mj-lt"/>
              </a:rPr>
              <a:t> no hay </a:t>
            </a:r>
            <a:r>
              <a:rPr lang="en-US" altLang="en-US" sz="2000" dirty="0" err="1">
                <a:latin typeface="+mj-lt"/>
              </a:rPr>
              <a:t>coincidencia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000" b="1" dirty="0">
                <a:latin typeface="+mj-lt"/>
              </a:rPr>
              <a:t>RIGHT JOIN</a:t>
            </a:r>
            <a:r>
              <a:rPr lang="en-US" altLang="en-US" sz="2000" dirty="0">
                <a:latin typeface="+mj-lt"/>
              </a:rPr>
              <a:t>: </a:t>
            </a:r>
            <a:r>
              <a:rPr lang="en-US" altLang="en-US" sz="2000" dirty="0" err="1">
                <a:latin typeface="+mj-lt"/>
              </a:rPr>
              <a:t>Incluye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todos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los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registros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Pedidos</a:t>
            </a:r>
            <a:r>
              <a:rPr lang="en-US" altLang="en-US" sz="2000" dirty="0">
                <a:latin typeface="+mj-lt"/>
              </a:rPr>
              <a:t>, con </a:t>
            </a:r>
            <a:r>
              <a:rPr lang="en-US" altLang="en-US" sz="2000" dirty="0" err="1">
                <a:latin typeface="+mj-lt"/>
              </a:rPr>
              <a:t>datos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Clientes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donde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coincida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ClienteID</a:t>
            </a:r>
            <a:r>
              <a:rPr lang="en-US" altLang="en-US" sz="2000" dirty="0">
                <a:latin typeface="+mj-lt"/>
              </a:rPr>
              <a:t>, o NULL </a:t>
            </a:r>
            <a:r>
              <a:rPr lang="en-US" altLang="en-US" sz="2000" dirty="0" err="1">
                <a:latin typeface="+mj-lt"/>
              </a:rPr>
              <a:t>si</a:t>
            </a:r>
            <a:r>
              <a:rPr lang="en-US" altLang="en-US" sz="2000" dirty="0">
                <a:latin typeface="+mj-lt"/>
              </a:rPr>
              <a:t> no hay </a:t>
            </a:r>
            <a:r>
              <a:rPr lang="en-US" altLang="en-US" sz="2000" dirty="0" err="1">
                <a:latin typeface="+mj-lt"/>
              </a:rPr>
              <a:t>coincidencia</a:t>
            </a:r>
            <a:r>
              <a:rPr lang="en-US" altLang="en-US" sz="2000" dirty="0">
                <a:latin typeface="+mj-lt"/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000" b="1" dirty="0">
                <a:latin typeface="+mj-lt"/>
              </a:rPr>
              <a:t>FULL JOIN</a:t>
            </a:r>
            <a:r>
              <a:rPr lang="en-US" altLang="en-US" sz="2000" dirty="0">
                <a:latin typeface="+mj-lt"/>
              </a:rPr>
              <a:t>: </a:t>
            </a:r>
            <a:r>
              <a:rPr lang="en-US" altLang="en-US" sz="2000" dirty="0" err="1">
                <a:latin typeface="+mj-lt"/>
              </a:rPr>
              <a:t>Incluye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todos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los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registros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ambas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tablas</a:t>
            </a:r>
            <a:r>
              <a:rPr lang="en-US" altLang="en-US" sz="2000" dirty="0">
                <a:latin typeface="+mj-lt"/>
              </a:rPr>
              <a:t>, </a:t>
            </a:r>
            <a:r>
              <a:rPr lang="en-US" altLang="en-US" sz="2000" dirty="0" err="1">
                <a:latin typeface="+mj-lt"/>
              </a:rPr>
              <a:t>mostrando</a:t>
            </a:r>
            <a:r>
              <a:rPr lang="en-US" altLang="en-US" sz="2000" dirty="0">
                <a:latin typeface="+mj-lt"/>
              </a:rPr>
              <a:t> NULL </a:t>
            </a:r>
            <a:r>
              <a:rPr lang="en-US" altLang="en-US" sz="2000" dirty="0" err="1">
                <a:latin typeface="+mj-lt"/>
              </a:rPr>
              <a:t>donde</a:t>
            </a:r>
            <a:r>
              <a:rPr lang="en-US" altLang="en-US" sz="2000" dirty="0">
                <a:latin typeface="+mj-lt"/>
              </a:rPr>
              <a:t> no </a:t>
            </a:r>
            <a:r>
              <a:rPr lang="en-US" altLang="en-US" sz="2000" dirty="0" err="1">
                <a:latin typeface="+mj-lt"/>
              </a:rPr>
              <a:t>haya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>
                <a:latin typeface="+mj-lt"/>
              </a:rPr>
              <a:t>coincidencia</a:t>
            </a:r>
            <a:r>
              <a:rPr lang="en-US" altLang="en-US" sz="2000" dirty="0" smtClean="0">
                <a:latin typeface="+mj-lt"/>
              </a:rPr>
              <a:t>.</a:t>
            </a:r>
            <a:endParaRPr lang="en-US" altLang="en-US" sz="2000" dirty="0">
              <a:latin typeface="+mj-lt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602867"/>
            <a:ext cx="4061569" cy="1484034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048" y="4602867"/>
            <a:ext cx="5608752" cy="1587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13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232604"/>
            <a:ext cx="10515600" cy="496266"/>
          </a:xfrm>
        </p:spPr>
        <p:txBody>
          <a:bodyPr>
            <a:normAutofit/>
          </a:bodyPr>
          <a:lstStyle/>
          <a:p>
            <a:r>
              <a:rPr lang="es-PE" sz="2800" b="1" dirty="0" smtClean="0"/>
              <a:t>Uso de </a:t>
            </a:r>
            <a:r>
              <a:rPr lang="es-PE" sz="2800" b="1" dirty="0" err="1" smtClean="0"/>
              <a:t>Joins</a:t>
            </a:r>
            <a:endParaRPr lang="en-US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728870"/>
            <a:ext cx="10515600" cy="5870713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s-MX" sz="1600" dirty="0"/>
              <a:t>Muestre los nombres de libros con sus </a:t>
            </a:r>
            <a:r>
              <a:rPr lang="es-MX" sz="1600" dirty="0" smtClean="0"/>
              <a:t>géneros.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los nombres de encargados juntamente con la ubicación de la biblioteca </a:t>
            </a:r>
            <a:r>
              <a:rPr lang="es-MX" sz="1600" dirty="0" smtClean="0"/>
              <a:t>a la </a:t>
            </a:r>
            <a:r>
              <a:rPr lang="es-MX" sz="1600" dirty="0"/>
              <a:t>que </a:t>
            </a:r>
            <a:r>
              <a:rPr lang="es-MX" sz="1600" dirty="0" smtClean="0"/>
              <a:t>pertenecen.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los nombres de los clientes y las fechas en que compraron </a:t>
            </a:r>
            <a:r>
              <a:rPr lang="es-MX" sz="1600" dirty="0" smtClean="0"/>
              <a:t>libros.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b="1" dirty="0" err="1" smtClean="0"/>
              <a:t>Left-join</a:t>
            </a:r>
            <a:r>
              <a:rPr lang="es-MX" sz="1600" b="1" dirty="0" smtClean="0"/>
              <a:t>-&gt;</a:t>
            </a:r>
            <a:r>
              <a:rPr lang="es-MX" sz="1600" dirty="0" smtClean="0"/>
              <a:t>Muestra </a:t>
            </a:r>
            <a:r>
              <a:rPr lang="es-MX" sz="1600" dirty="0"/>
              <a:t>los nombres de todos los clientes y la cantidad de libros que han comprado. Incluye a los clientes que no han realizado ninguna compra</a:t>
            </a:r>
            <a:r>
              <a:rPr lang="es-MX" sz="1600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b="1" dirty="0" err="1" smtClean="0"/>
              <a:t>Right-join</a:t>
            </a:r>
            <a:r>
              <a:rPr lang="es-MX" sz="1600" b="1" dirty="0" smtClean="0"/>
              <a:t>-&gt;</a:t>
            </a:r>
            <a:r>
              <a:rPr lang="es-MX" sz="1600" dirty="0" smtClean="0"/>
              <a:t>Muestra </a:t>
            </a:r>
            <a:r>
              <a:rPr lang="es-MX" sz="1600" dirty="0"/>
              <a:t>todos los libros y la cantidad total de ventas de cada libro. Incluye libros que no han sido vendidos</a:t>
            </a:r>
            <a:r>
              <a:rPr lang="es-MX" sz="1600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b="1" dirty="0" smtClean="0"/>
              <a:t>Full-</a:t>
            </a:r>
            <a:r>
              <a:rPr lang="es-MX" sz="1600" b="1" dirty="0" err="1" smtClean="0"/>
              <a:t>join</a:t>
            </a:r>
            <a:r>
              <a:rPr lang="es-MX" sz="1600" b="1" dirty="0" smtClean="0"/>
              <a:t>-&gt;</a:t>
            </a:r>
            <a:r>
              <a:rPr lang="es-MX" sz="1600" dirty="0" smtClean="0"/>
              <a:t>Muestra </a:t>
            </a:r>
            <a:r>
              <a:rPr lang="es-MX" sz="1600" dirty="0"/>
              <a:t>todos los encargados y todas las bibliotecas, incluyendo aquellos encargados que no están asignados a ninguna biblioteca y todas las bibliotecas que no tienen encargados asignados.</a:t>
            </a:r>
            <a:endParaRPr lang="es-MX" sz="1600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los nombres de los clientes y las fechas en que alquilaron y </a:t>
            </a:r>
            <a:r>
              <a:rPr lang="es-MX" sz="1600" dirty="0" smtClean="0"/>
              <a:t>devolvieron libros.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los nombres de los libros, sus géneros, fechas y cantidades vendidas en el</a:t>
            </a:r>
            <a:br>
              <a:rPr lang="es-MX" sz="1600" dirty="0"/>
            </a:br>
            <a:r>
              <a:rPr lang="es-MX" sz="1600" dirty="0"/>
              <a:t>año </a:t>
            </a:r>
            <a:r>
              <a:rPr lang="es-MX" sz="1600" dirty="0" smtClean="0"/>
              <a:t>2015.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los nombres de los clientes, correo, fecha de nacimiento, ubicación de </a:t>
            </a:r>
            <a:r>
              <a:rPr lang="es-MX" sz="1600" dirty="0" smtClean="0"/>
              <a:t>la biblioteca </a:t>
            </a:r>
            <a:r>
              <a:rPr lang="es-MX" sz="1600" dirty="0"/>
              <a:t>donde alquilaron libros, así como los estados de esos libros, cuyas </a:t>
            </a:r>
            <a:r>
              <a:rPr lang="es-MX" sz="1600" dirty="0" smtClean="0"/>
              <a:t>fechas de </a:t>
            </a:r>
            <a:r>
              <a:rPr lang="es-MX" sz="1600" dirty="0"/>
              <a:t>nacimiento de los clientes estén entre el 2000 y </a:t>
            </a:r>
            <a:r>
              <a:rPr lang="es-MX" sz="1600" dirty="0" smtClean="0"/>
              <a:t>2010.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dirty="0" smtClean="0"/>
              <a:t>Muestre </a:t>
            </a:r>
            <a:r>
              <a:rPr lang="es-MX" sz="1600" dirty="0"/>
              <a:t>el celular del encargado; teléfono de la biblioteca; nombre y correo </a:t>
            </a:r>
            <a:r>
              <a:rPr lang="es-MX" sz="1600" dirty="0" smtClean="0"/>
              <a:t>del cliente</a:t>
            </a:r>
            <a:r>
              <a:rPr lang="es-MX" sz="1600" dirty="0"/>
              <a:t>; nombre, autor y año de edición del libro; cantidad y su fecha de </a:t>
            </a:r>
            <a:r>
              <a:rPr lang="es-MX" sz="1600" dirty="0" smtClean="0"/>
              <a:t>venta, considerando </a:t>
            </a:r>
            <a:r>
              <a:rPr lang="es-MX" sz="1600" dirty="0"/>
              <a:t>los libros de los cuales se han vendido más de 10 </a:t>
            </a:r>
            <a:r>
              <a:rPr lang="es-MX" sz="1600" dirty="0" smtClean="0"/>
              <a:t>unidades.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b="1" dirty="0" err="1" smtClean="0"/>
              <a:t>Left</a:t>
            </a:r>
            <a:r>
              <a:rPr lang="es-MX" sz="1600" b="1" dirty="0" smtClean="0"/>
              <a:t> </a:t>
            </a:r>
            <a:r>
              <a:rPr lang="es-MX" sz="1600" b="1" dirty="0" err="1" smtClean="0"/>
              <a:t>join</a:t>
            </a:r>
            <a:r>
              <a:rPr lang="es-MX" sz="1600" b="1" dirty="0" smtClean="0"/>
              <a:t> </a:t>
            </a:r>
            <a:r>
              <a:rPr lang="es-MX" sz="1600" dirty="0"/>
              <a:t>-&gt; Muestra todos los libros, junto con su género y las bibliotecas en las que se venden. Si un libro no tiene género o no está asociado a una biblioteca, también debe aparecer</a:t>
            </a:r>
            <a:r>
              <a:rPr lang="es-MX" sz="1600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sz="1600" b="1" dirty="0" err="1" smtClean="0"/>
              <a:t>Riht</a:t>
            </a:r>
            <a:r>
              <a:rPr lang="es-MX" sz="1600" b="1" dirty="0" smtClean="0"/>
              <a:t> </a:t>
            </a:r>
            <a:r>
              <a:rPr lang="es-MX" sz="1600" b="1" dirty="0" err="1" smtClean="0"/>
              <a:t>join</a:t>
            </a:r>
            <a:r>
              <a:rPr lang="es-MX" sz="1600" b="1" dirty="0" smtClean="0"/>
              <a:t> -&gt; </a:t>
            </a:r>
            <a:r>
              <a:rPr lang="es-MX" sz="1600" dirty="0" smtClean="0"/>
              <a:t>Muestra </a:t>
            </a:r>
            <a:r>
              <a:rPr lang="es-MX" sz="1600" dirty="0"/>
              <a:t>todas las bibliotecas junto con los libros que venden y sus géneros. Si una biblioteca no tiene libros asociados o si el género de un libro no está definido, deben mostrarse de todos modos.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521859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391479"/>
            <a:ext cx="10515600" cy="5593867"/>
          </a:xfrm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clientes que alquilaron o compraron </a:t>
            </a:r>
            <a:r>
              <a:rPr lang="es-MX" dirty="0" smtClean="0"/>
              <a:t>libros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el nombre de los libros de una biblioteca </a:t>
            </a:r>
            <a:r>
              <a:rPr lang="es-MX" dirty="0" smtClean="0"/>
              <a:t>específica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el nombre y teléfono de las bibliotecas que tienen libros alquilados en estado </a:t>
            </a:r>
            <a:r>
              <a:rPr lang="es-MX" dirty="0" smtClean="0"/>
              <a:t>'N‘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los clientes que han alquilado un libro de un género específico (por ejemplo, género 4</a:t>
            </a:r>
            <a:r>
              <a:rPr lang="es-MX" dirty="0" smtClean="0"/>
              <a:t>)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los nombres de libros y los nombres de los clientes que los han </a:t>
            </a:r>
            <a:r>
              <a:rPr lang="es-MX" dirty="0" smtClean="0"/>
              <a:t>comprado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/>
              <a:t>-- Listar los libros que se han alquilado más de una vez</a:t>
            </a:r>
            <a:endParaRPr lang="en-US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 smtClean="0"/>
              <a:t>Uso de </a:t>
            </a:r>
            <a:r>
              <a:rPr lang="es-PE" dirty="0" err="1" smtClean="0"/>
              <a:t>Joins</a:t>
            </a:r>
            <a:r>
              <a:rPr lang="es-PE" dirty="0" smtClean="0"/>
              <a:t> – parte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949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Funciones de grupo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MX" sz="2000" dirty="0">
                <a:latin typeface="+mj-lt"/>
              </a:rPr>
              <a:t>Las </a:t>
            </a:r>
            <a:r>
              <a:rPr lang="es-MX" sz="2000" b="1" dirty="0">
                <a:latin typeface="+mj-lt"/>
              </a:rPr>
              <a:t>funciones de grupo</a:t>
            </a:r>
            <a:r>
              <a:rPr lang="es-MX" sz="2000" dirty="0">
                <a:latin typeface="+mj-lt"/>
              </a:rPr>
              <a:t> en SQL Server, también conocidas como </a:t>
            </a:r>
            <a:r>
              <a:rPr lang="es-MX" sz="2000" b="1" dirty="0">
                <a:latin typeface="+mj-lt"/>
              </a:rPr>
              <a:t>funciones de agregación</a:t>
            </a:r>
            <a:r>
              <a:rPr lang="es-MX" sz="2000" dirty="0">
                <a:latin typeface="+mj-lt"/>
              </a:rPr>
              <a:t>, son funciones que operan en un conjunto de valores y devuelven un único valor resumido. Se utilizan principalmente para realizar cálculos matemáticos, estadísticas y agregaciones sobre datos de una tabla</a:t>
            </a:r>
            <a:r>
              <a:rPr lang="es-MX" sz="2000" dirty="0" smtClean="0">
                <a:latin typeface="+mj-lt"/>
              </a:rPr>
              <a:t>.</a:t>
            </a:r>
          </a:p>
          <a:p>
            <a:pPr marL="0" indent="0" algn="just">
              <a:buNone/>
            </a:pPr>
            <a:endParaRPr lang="es-MX" sz="1050" dirty="0" smtClean="0">
              <a:latin typeface="+mj-lt"/>
            </a:endParaRPr>
          </a:p>
          <a:p>
            <a:pPr marL="0" indent="0" algn="just">
              <a:buNone/>
            </a:pPr>
            <a:r>
              <a:rPr lang="es-MX" sz="2000" b="1" dirty="0">
                <a:latin typeface="+mj-lt"/>
              </a:rPr>
              <a:t>Principales funciones de grupo en SQL Server</a:t>
            </a:r>
          </a:p>
          <a:p>
            <a:pPr algn="just"/>
            <a:r>
              <a:rPr lang="es-MX" sz="2000" b="1" dirty="0">
                <a:latin typeface="+mj-lt"/>
              </a:rPr>
              <a:t>COUNT</a:t>
            </a:r>
            <a:r>
              <a:rPr lang="es-MX" sz="2000" b="1" dirty="0" smtClean="0">
                <a:latin typeface="+mj-lt"/>
              </a:rPr>
              <a:t>(): </a:t>
            </a:r>
            <a:r>
              <a:rPr lang="es-MX" sz="2000" dirty="0" smtClean="0">
                <a:latin typeface="+mj-lt"/>
              </a:rPr>
              <a:t>Cuenta </a:t>
            </a:r>
            <a:r>
              <a:rPr lang="es-MX" sz="2000" dirty="0">
                <a:latin typeface="+mj-lt"/>
              </a:rPr>
              <a:t>la cantidad de filas o valores en un </a:t>
            </a:r>
            <a:r>
              <a:rPr lang="es-MX" sz="2000" dirty="0" smtClean="0">
                <a:latin typeface="+mj-lt"/>
              </a:rPr>
              <a:t>conjunto</a:t>
            </a:r>
          </a:p>
          <a:p>
            <a:pPr algn="just"/>
            <a:r>
              <a:rPr lang="en-US" altLang="en-US" sz="2000" b="1" dirty="0" smtClean="0">
                <a:latin typeface="+mj-lt"/>
              </a:rPr>
              <a:t>SUM(): </a:t>
            </a:r>
            <a:r>
              <a:rPr lang="en-US" altLang="en-US" sz="2000" dirty="0" err="1" smtClean="0">
                <a:latin typeface="+mj-lt"/>
              </a:rPr>
              <a:t>Calcula</a:t>
            </a:r>
            <a:r>
              <a:rPr lang="en-US" altLang="en-US" sz="2000" dirty="0" smtClean="0">
                <a:latin typeface="+mj-lt"/>
              </a:rPr>
              <a:t> </a:t>
            </a:r>
            <a:r>
              <a:rPr lang="en-US" altLang="en-US" sz="2000" dirty="0">
                <a:latin typeface="+mj-lt"/>
              </a:rPr>
              <a:t>la </a:t>
            </a:r>
            <a:r>
              <a:rPr lang="en-US" altLang="en-US" sz="2000" dirty="0" err="1">
                <a:latin typeface="+mj-lt"/>
              </a:rPr>
              <a:t>suma</a:t>
            </a:r>
            <a:r>
              <a:rPr lang="en-US" altLang="en-US" sz="2000" dirty="0">
                <a:latin typeface="+mj-lt"/>
              </a:rPr>
              <a:t> total de un </a:t>
            </a:r>
            <a:r>
              <a:rPr lang="en-US" altLang="en-US" sz="2000" dirty="0" err="1">
                <a:latin typeface="+mj-lt"/>
              </a:rPr>
              <a:t>conjunto</a:t>
            </a:r>
            <a:r>
              <a:rPr lang="en-US" altLang="en-US" sz="2000" dirty="0">
                <a:latin typeface="+mj-lt"/>
              </a:rPr>
              <a:t> de </a:t>
            </a:r>
            <a:r>
              <a:rPr lang="en-US" altLang="en-US" sz="2000" dirty="0" err="1">
                <a:latin typeface="+mj-lt"/>
              </a:rPr>
              <a:t>valores</a:t>
            </a:r>
            <a:r>
              <a:rPr lang="en-US" altLang="en-US" sz="2000" dirty="0">
                <a:latin typeface="+mj-lt"/>
              </a:rPr>
              <a:t> </a:t>
            </a:r>
            <a:r>
              <a:rPr lang="en-US" altLang="en-US" sz="2000" dirty="0" err="1" smtClean="0">
                <a:latin typeface="+mj-lt"/>
              </a:rPr>
              <a:t>numéricos</a:t>
            </a:r>
            <a:endParaRPr lang="en-US" altLang="en-US" sz="2000" dirty="0" smtClean="0">
              <a:latin typeface="+mj-lt"/>
            </a:endParaRPr>
          </a:p>
          <a:p>
            <a:pPr algn="just"/>
            <a:r>
              <a:rPr lang="es-MX" altLang="en-US" sz="2000" b="1" dirty="0">
                <a:latin typeface="+mj-lt"/>
              </a:rPr>
              <a:t>AVG</a:t>
            </a:r>
            <a:r>
              <a:rPr lang="es-MX" altLang="en-US" sz="2000" b="1" dirty="0" smtClean="0">
                <a:latin typeface="+mj-lt"/>
              </a:rPr>
              <a:t>(): </a:t>
            </a:r>
            <a:r>
              <a:rPr lang="es-MX" altLang="en-US" sz="2000" dirty="0" smtClean="0">
                <a:latin typeface="+mj-lt"/>
              </a:rPr>
              <a:t>Calcula </a:t>
            </a:r>
            <a:r>
              <a:rPr lang="es-MX" altLang="en-US" sz="2000" dirty="0">
                <a:latin typeface="+mj-lt"/>
              </a:rPr>
              <a:t>el promedio (media) de un conjunto de valores numéricos.</a:t>
            </a:r>
          </a:p>
          <a:p>
            <a:pPr algn="just"/>
            <a:r>
              <a:rPr lang="es-MX" altLang="en-US" sz="2000" b="1" dirty="0" smtClean="0">
                <a:latin typeface="+mj-lt"/>
              </a:rPr>
              <a:t>MIN(): </a:t>
            </a:r>
            <a:r>
              <a:rPr lang="es-MX" altLang="en-US" sz="2000" dirty="0" smtClean="0">
                <a:latin typeface="+mj-lt"/>
              </a:rPr>
              <a:t>Devuelve </a:t>
            </a:r>
            <a:r>
              <a:rPr lang="es-MX" altLang="en-US" sz="2000" dirty="0">
                <a:latin typeface="+mj-lt"/>
              </a:rPr>
              <a:t>el valor mínimo en un conjunto.</a:t>
            </a:r>
          </a:p>
          <a:p>
            <a:pPr algn="just"/>
            <a:r>
              <a:rPr lang="es-MX" altLang="en-US" sz="2000" b="1" dirty="0" smtClean="0">
                <a:latin typeface="+mj-lt"/>
              </a:rPr>
              <a:t>MAX(): </a:t>
            </a:r>
            <a:r>
              <a:rPr lang="es-MX" altLang="en-US" sz="2000" dirty="0" smtClean="0">
                <a:latin typeface="+mj-lt"/>
              </a:rPr>
              <a:t>Devuelve </a:t>
            </a:r>
            <a:r>
              <a:rPr lang="es-MX" altLang="en-US" sz="2000" dirty="0">
                <a:latin typeface="+mj-lt"/>
              </a:rPr>
              <a:t>el valor máximo en un conjunto.</a:t>
            </a:r>
          </a:p>
          <a:p>
            <a:pPr algn="just"/>
            <a:endParaRPr lang="es-MX" altLang="en-US" sz="2000" dirty="0">
              <a:latin typeface="+mj-lt"/>
            </a:endParaRPr>
          </a:p>
          <a:p>
            <a:pPr algn="just"/>
            <a:endParaRPr lang="en-US" altLang="en-US" sz="2000" dirty="0" smtClean="0">
              <a:latin typeface="+mj-lt"/>
            </a:endParaRPr>
          </a:p>
          <a:p>
            <a:pPr algn="just"/>
            <a:endParaRPr lang="es-MX" sz="2000" dirty="0">
              <a:latin typeface="+mj-lt"/>
            </a:endParaRP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763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51452" y="422274"/>
            <a:ext cx="10515600" cy="44677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Uso con GROUP </a:t>
            </a:r>
            <a:r>
              <a:rPr lang="es-MX" sz="2000" b="1" dirty="0" smtClean="0"/>
              <a:t>BY</a:t>
            </a:r>
          </a:p>
          <a:p>
            <a:pPr algn="just"/>
            <a:r>
              <a:rPr lang="es-MX" sz="2000" dirty="0" smtClean="0"/>
              <a:t>Las </a:t>
            </a:r>
            <a:r>
              <a:rPr lang="es-MX" sz="2000" dirty="0"/>
              <a:t>funciones de grupo son aún más útiles cuando se combinan con la cláusula GROUP BY, que permite realizar agregaciones para diferentes categorías o grupos dentro de los datos</a:t>
            </a:r>
            <a:r>
              <a:rPr lang="es-MX" sz="2000" dirty="0" smtClean="0"/>
              <a:t>.</a:t>
            </a:r>
          </a:p>
          <a:p>
            <a:pPr algn="just"/>
            <a:r>
              <a:rPr lang="en-US" sz="2000" dirty="0"/>
              <a:t>Ejemplo: </a:t>
            </a:r>
            <a:r>
              <a:rPr lang="en-US" sz="2000" dirty="0" err="1"/>
              <a:t>Salario</a:t>
            </a:r>
            <a:r>
              <a:rPr lang="en-US" sz="2000" dirty="0"/>
              <a:t> </a:t>
            </a:r>
            <a:r>
              <a:rPr lang="en-US" sz="2000" dirty="0" err="1" smtClean="0"/>
              <a:t>promedio</a:t>
            </a:r>
            <a:r>
              <a:rPr lang="en-US" sz="2000" dirty="0" smtClean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 smtClean="0"/>
              <a:t>departamento</a:t>
            </a:r>
            <a:r>
              <a:rPr lang="en-US" sz="2000" dirty="0" smtClean="0"/>
              <a:t>.</a:t>
            </a:r>
          </a:p>
          <a:p>
            <a:pPr algn="just"/>
            <a:endParaRPr lang="es-PE" sz="2000" dirty="0"/>
          </a:p>
          <a:p>
            <a:pPr algn="just"/>
            <a:endParaRPr lang="es-PE" sz="2000" dirty="0" smtClean="0"/>
          </a:p>
          <a:p>
            <a:pPr algn="just"/>
            <a:endParaRPr lang="es-PE" sz="2000" dirty="0" smtClean="0"/>
          </a:p>
          <a:p>
            <a:pPr algn="just"/>
            <a:endParaRPr lang="es-PE" sz="2000" dirty="0"/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 err="1">
                <a:latin typeface="Arial" panose="020B0604020202020204" pitchFamily="34" charset="0"/>
              </a:rPr>
              <a:t>Uso</a:t>
            </a:r>
            <a:r>
              <a:rPr lang="en-US" altLang="en-US" sz="2000" b="1" dirty="0">
                <a:latin typeface="Arial" panose="020B0604020202020204" pitchFamily="34" charset="0"/>
              </a:rPr>
              <a:t> con </a:t>
            </a:r>
            <a:r>
              <a:rPr lang="en-US" altLang="en-US" sz="2000" b="1" dirty="0" smtClean="0">
                <a:latin typeface="Arial Unicode MS"/>
              </a:rPr>
              <a:t>HAVING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1050" b="1" dirty="0"/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La </a:t>
            </a:r>
            <a:r>
              <a:rPr lang="en-US" altLang="en-US" sz="2000" dirty="0" err="1">
                <a:latin typeface="Arial" panose="020B0604020202020204" pitchFamily="34" charset="0"/>
              </a:rPr>
              <a:t>cláusula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>
                <a:latin typeface="Arial Unicode MS"/>
              </a:rPr>
              <a:t>HAVING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permite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filtrar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los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resultados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una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consulta</a:t>
            </a:r>
            <a:r>
              <a:rPr lang="en-US" altLang="en-US" sz="2000" dirty="0"/>
              <a:t> que usa </a:t>
            </a:r>
            <a:r>
              <a:rPr lang="en-US" altLang="en-US" sz="2000" dirty="0" err="1"/>
              <a:t>funciones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grupo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ya</a:t>
            </a:r>
            <a:r>
              <a:rPr lang="en-US" altLang="en-US" sz="2000" dirty="0"/>
              <a:t> que no </a:t>
            </a:r>
            <a:r>
              <a:rPr lang="en-US" altLang="en-US" sz="2000" dirty="0" err="1"/>
              <a:t>puedes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usar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Arial Unicode MS"/>
              </a:rPr>
              <a:t>WHERE</a:t>
            </a:r>
            <a:r>
              <a:rPr lang="en-US" altLang="en-US" sz="2000" dirty="0"/>
              <a:t> para </a:t>
            </a:r>
            <a:r>
              <a:rPr lang="en-US" altLang="en-US" sz="2000" dirty="0" err="1"/>
              <a:t>filtrar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resultados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agregados</a:t>
            </a:r>
            <a:r>
              <a:rPr lang="en-US" altLang="en-US" sz="2000" dirty="0"/>
              <a:t>.</a:t>
            </a:r>
            <a:endParaRPr lang="en-US" altLang="en-US" sz="2000" b="1" dirty="0"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Ejemplo: </a:t>
            </a:r>
            <a:r>
              <a:rPr lang="en-US" altLang="en-US" sz="2000" dirty="0" err="1">
                <a:latin typeface="Arial" panose="020B0604020202020204" pitchFamily="34" charset="0"/>
              </a:rPr>
              <a:t>Departamentos</a:t>
            </a:r>
            <a:r>
              <a:rPr lang="en-US" altLang="en-US" sz="2000" dirty="0">
                <a:latin typeface="Arial" panose="020B0604020202020204" pitchFamily="34" charset="0"/>
              </a:rPr>
              <a:t> con un </a:t>
            </a:r>
            <a:r>
              <a:rPr lang="en-US" altLang="en-US" sz="2000" dirty="0" err="1">
                <a:latin typeface="Arial" panose="020B0604020202020204" pitchFamily="34" charset="0"/>
              </a:rPr>
              <a:t>salario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  <a:r>
              <a:rPr lang="en-US" altLang="en-US" sz="2000" dirty="0" err="1">
                <a:latin typeface="Arial" panose="020B0604020202020204" pitchFamily="34" charset="0"/>
              </a:rPr>
              <a:t>promedio</a:t>
            </a:r>
            <a:r>
              <a:rPr lang="en-US" altLang="en-US" sz="2000" dirty="0">
                <a:latin typeface="Arial" panose="020B0604020202020204" pitchFamily="34" charset="0"/>
              </a:rPr>
              <a:t> mayor a 50,000</a:t>
            </a:r>
          </a:p>
          <a:p>
            <a:pPr algn="just"/>
            <a:endParaRPr lang="es-PE" dirty="0" smtClean="0"/>
          </a:p>
          <a:p>
            <a:pPr algn="just"/>
            <a:endParaRPr lang="en-U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923" y="2023475"/>
            <a:ext cx="5774153" cy="121561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922" y="5224330"/>
            <a:ext cx="5774153" cy="136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10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5791" y="1093230"/>
            <a:ext cx="8269356" cy="2726858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50576" y="555318"/>
            <a:ext cx="10575234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Ejemplo de Group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By: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Supongamos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que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tenemos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una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tabla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llamada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Sales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con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siguiente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estructura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y datos: 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50576" y="4077205"/>
            <a:ext cx="4997835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Queremos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saber el total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SUM(Quantity)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agrupadas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cada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categoría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de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producto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 La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consulta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sería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76" y="5138337"/>
            <a:ext cx="4997835" cy="1063679"/>
          </a:xfrm>
          <a:prstGeom prst="rect">
            <a:avLst/>
          </a:prstGeom>
        </p:spPr>
      </p:pic>
      <p:sp>
        <p:nvSpPr>
          <p:cNvPr id="8" name="Flecha derecha 7"/>
          <p:cNvSpPr/>
          <p:nvPr/>
        </p:nvSpPr>
        <p:spPr>
          <a:xfrm>
            <a:off x="5910469" y="4863548"/>
            <a:ext cx="940905" cy="274789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ángulo 8"/>
          <p:cNvSpPr/>
          <p:nvPr/>
        </p:nvSpPr>
        <p:spPr>
          <a:xfrm>
            <a:off x="8307496" y="4354204"/>
            <a:ext cx="2462149" cy="36933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dirty="0"/>
              <a:t>Resultado de la </a:t>
            </a:r>
            <a:r>
              <a:rPr lang="en-US" dirty="0" err="1"/>
              <a:t>consulta</a:t>
            </a:r>
            <a:endParaRPr lang="en-U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4"/>
          <a:srcRect r="27908"/>
          <a:stretch/>
        </p:blipFill>
        <p:spPr>
          <a:xfrm>
            <a:off x="7313432" y="4800388"/>
            <a:ext cx="4450278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208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xplicación visual de una consulta SQL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796" y="381137"/>
            <a:ext cx="5325344" cy="620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02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51873"/>
            <a:ext cx="10515600" cy="390249"/>
          </a:xfrm>
        </p:spPr>
        <p:txBody>
          <a:bodyPr>
            <a:noAutofit/>
          </a:bodyPr>
          <a:lstStyle/>
          <a:p>
            <a:r>
              <a:rPr lang="en-US" sz="2800" b="1" dirty="0" err="1"/>
              <a:t>Funciones</a:t>
            </a:r>
            <a:r>
              <a:rPr lang="en-US" sz="2800" b="1" dirty="0"/>
              <a:t> de </a:t>
            </a:r>
            <a:r>
              <a:rPr lang="en-US" sz="2800" b="1" dirty="0" err="1" smtClean="0"/>
              <a:t>grupo</a:t>
            </a:r>
            <a:endParaRPr lang="en-US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977485"/>
            <a:ext cx="10515600" cy="5622097"/>
          </a:xfrm>
        </p:spPr>
        <p:txBody>
          <a:bodyPr>
            <a:normAutofit fontScale="62500" lnSpcReduction="20000"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Total de libros vendidos por </a:t>
            </a:r>
            <a:r>
              <a:rPr lang="es-MX" b="1" dirty="0" smtClean="0"/>
              <a:t>biblioteca</a:t>
            </a:r>
            <a:r>
              <a:rPr lang="es-MX" dirty="0" smtClean="0"/>
              <a:t>: </a:t>
            </a:r>
            <a:r>
              <a:rPr lang="es-MX" dirty="0"/>
              <a:t>Muestra el total de libros vendidos en cada biblioteca, indicando la biblioteca y la cantidad total de libros vendidos.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Promedio de precios de libros por </a:t>
            </a:r>
            <a:r>
              <a:rPr lang="es-MX" b="1" dirty="0" smtClean="0"/>
              <a:t>género</a:t>
            </a:r>
            <a:r>
              <a:rPr lang="es-MX" dirty="0" smtClean="0"/>
              <a:t>: </a:t>
            </a:r>
            <a:r>
              <a:rPr lang="es-MX" dirty="0"/>
              <a:t>Calcula el precio promedio de los libros agrupados por género y muestra el nombre del género junto con el promedio</a:t>
            </a:r>
            <a:r>
              <a:rPr lang="es-MX" dirty="0" smtClean="0"/>
              <a:t>.</a:t>
            </a:r>
            <a:endParaRPr lang="es-MX" b="1" dirty="0" smtClean="0"/>
          </a:p>
          <a:p>
            <a:pPr marL="514350" indent="-514350" algn="just">
              <a:buFont typeface="+mj-lt"/>
              <a:buAutoNum type="arabicPeriod"/>
            </a:pPr>
            <a:r>
              <a:rPr lang="es-MX" b="1" dirty="0" smtClean="0"/>
              <a:t>Calcular </a:t>
            </a:r>
            <a:r>
              <a:rPr lang="es-MX" b="1" dirty="0"/>
              <a:t>el stock total de libros por </a:t>
            </a:r>
            <a:r>
              <a:rPr lang="es-MX" b="1" dirty="0" smtClean="0"/>
              <a:t>género</a:t>
            </a:r>
            <a:r>
              <a:rPr lang="es-MX" dirty="0" smtClean="0"/>
              <a:t>: </a:t>
            </a:r>
            <a:r>
              <a:rPr lang="es-MX" dirty="0"/>
              <a:t>Muestra cada género y el stock total de libros disponibles para ese </a:t>
            </a:r>
            <a:r>
              <a:rPr lang="es-MX" dirty="0" smtClean="0"/>
              <a:t>género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Cantidad total de libros alquilados por </a:t>
            </a:r>
            <a:r>
              <a:rPr lang="es-MX" b="1" dirty="0" smtClean="0"/>
              <a:t>cliente</a:t>
            </a:r>
            <a:r>
              <a:rPr lang="es-MX" dirty="0" smtClean="0"/>
              <a:t>: </a:t>
            </a:r>
            <a:r>
              <a:rPr lang="es-MX" dirty="0"/>
              <a:t>Muestra el nombre de los clientes y la cantidad total de libros que han </a:t>
            </a:r>
            <a:r>
              <a:rPr lang="es-MX" dirty="0" smtClean="0"/>
              <a:t>alquilado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Total de ingresos por </a:t>
            </a:r>
            <a:r>
              <a:rPr lang="es-MX" b="1" dirty="0" smtClean="0"/>
              <a:t>biblioteca</a:t>
            </a:r>
            <a:r>
              <a:rPr lang="es-MX" dirty="0" smtClean="0"/>
              <a:t>: </a:t>
            </a:r>
            <a:r>
              <a:rPr lang="es-MX" dirty="0"/>
              <a:t>Muestra el nombre de la biblioteca y el total de ingresos generados por ventas de libros.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 smtClean="0"/>
              <a:t>Muestre </a:t>
            </a:r>
            <a:r>
              <a:rPr lang="es-MX" dirty="0"/>
              <a:t>el total disponible en stock de los libros, agrupados por </a:t>
            </a:r>
            <a:r>
              <a:rPr lang="es-MX" dirty="0" smtClean="0"/>
              <a:t>género.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 smtClean="0"/>
              <a:t>Muestre el promedio de las cantidades vendidas de libros, agrupados por libro.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dirty="0" smtClean="0"/>
              <a:t>Muestre </a:t>
            </a:r>
            <a:r>
              <a:rPr lang="es-MX" dirty="0"/>
              <a:t>los </a:t>
            </a:r>
            <a:r>
              <a:rPr lang="es-MX" dirty="0" err="1"/>
              <a:t>Ids</a:t>
            </a:r>
            <a:r>
              <a:rPr lang="es-MX" dirty="0"/>
              <a:t> de los clientes cuyos totales (sumatoria) de ventas de libros </a:t>
            </a:r>
            <a:r>
              <a:rPr lang="es-MX" dirty="0" smtClean="0"/>
              <a:t>estén entre </a:t>
            </a:r>
            <a:r>
              <a:rPr lang="es-MX" dirty="0"/>
              <a:t>10 y </a:t>
            </a:r>
            <a:r>
              <a:rPr lang="es-MX" dirty="0" smtClean="0"/>
              <a:t>50.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Total de ingresos por </a:t>
            </a:r>
            <a:r>
              <a:rPr lang="es-MX" b="1" dirty="0" smtClean="0"/>
              <a:t>biblioteca</a:t>
            </a:r>
            <a:r>
              <a:rPr lang="es-MX" dirty="0" smtClean="0"/>
              <a:t>: </a:t>
            </a:r>
            <a:r>
              <a:rPr lang="es-MX" dirty="0"/>
              <a:t>Muestra el total de ingresos generados por cada biblioteca a partir de las ventas de libros, indicando la biblioteca, su ubicación y el monto total.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Cantidad de libros alquilados por género y </a:t>
            </a:r>
            <a:r>
              <a:rPr lang="es-MX" b="1" dirty="0" smtClean="0"/>
              <a:t>estado</a:t>
            </a:r>
            <a:r>
              <a:rPr lang="es-MX" dirty="0" smtClean="0"/>
              <a:t>: </a:t>
            </a:r>
            <a:r>
              <a:rPr lang="es-MX" dirty="0"/>
              <a:t>Muestra la cantidad total de libros alquilados, agrupados por género del libro y el estado en que fueron devueltos.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Promedio de edad de los clientes por </a:t>
            </a:r>
            <a:r>
              <a:rPr lang="es-MX" b="1" dirty="0" smtClean="0"/>
              <a:t>biblioteca</a:t>
            </a:r>
            <a:r>
              <a:rPr lang="es-MX" dirty="0" smtClean="0"/>
              <a:t>: </a:t>
            </a:r>
            <a:r>
              <a:rPr lang="es-MX" dirty="0"/>
              <a:t>Calcula el promedio de edad de los clientes que realizaron ventas en cada biblioteca, agrupado por la ubicación de la biblioteca</a:t>
            </a:r>
            <a:r>
              <a:rPr lang="es-MX" dirty="0" smtClean="0"/>
              <a:t>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s-MX" b="1" dirty="0"/>
              <a:t>Clientes que han alquilado más de 3 </a:t>
            </a:r>
            <a:r>
              <a:rPr lang="es-MX" b="1" dirty="0" smtClean="0"/>
              <a:t>libros</a:t>
            </a:r>
            <a:r>
              <a:rPr lang="es-MX" dirty="0" smtClean="0"/>
              <a:t>: </a:t>
            </a:r>
            <a:r>
              <a:rPr lang="es-MX" dirty="0"/>
              <a:t>Muestra los nombres de los clientes que han alquilado más de 3 libros</a:t>
            </a:r>
            <a:r>
              <a:rPr lang="es-MX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14623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516" y="341035"/>
            <a:ext cx="7021997" cy="742467"/>
          </a:xfrm>
        </p:spPr>
        <p:txBody>
          <a:bodyPr>
            <a:normAutofit/>
          </a:bodyPr>
          <a:lstStyle/>
          <a:p>
            <a:r>
              <a:rPr lang="en-US" sz="2800" b="1" dirty="0" err="1" smtClean="0"/>
              <a:t>Uso</a:t>
            </a:r>
            <a:r>
              <a:rPr lang="en-US" sz="2800" b="1" dirty="0" smtClean="0"/>
              <a:t> de </a:t>
            </a:r>
            <a:r>
              <a:rPr lang="en-US" sz="2800" b="1" dirty="0" err="1" smtClean="0"/>
              <a:t>subconsultas</a:t>
            </a:r>
            <a:r>
              <a:rPr lang="en-US" sz="2800" b="1" dirty="0" smtClean="0"/>
              <a:t> para resolver </a:t>
            </a:r>
            <a:r>
              <a:rPr lang="en-US" sz="2800" b="1" dirty="0" err="1" smtClean="0"/>
              <a:t>consultas</a:t>
            </a:r>
            <a:endParaRPr lang="en-US" sz="2800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516" y="1212849"/>
            <a:ext cx="10044411" cy="5307221"/>
          </a:xfrm>
        </p:spPr>
        <p:txBody>
          <a:bodyPr>
            <a:no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s-MX" sz="1600" b="1" dirty="0"/>
              <a:t>Obtener el libro más </a:t>
            </a:r>
            <a:r>
              <a:rPr lang="es-MX" sz="1600" b="1" dirty="0" smtClean="0"/>
              <a:t>caro: </a:t>
            </a:r>
            <a:r>
              <a:rPr lang="es-MX" sz="1600" dirty="0" smtClean="0"/>
              <a:t>Usar </a:t>
            </a:r>
            <a:r>
              <a:rPr lang="es-MX" sz="1600" dirty="0"/>
              <a:t>una </a:t>
            </a:r>
            <a:r>
              <a:rPr lang="es-MX" sz="1600" dirty="0" err="1"/>
              <a:t>subconsulta</a:t>
            </a:r>
            <a:r>
              <a:rPr lang="es-MX" sz="1600" dirty="0"/>
              <a:t> para identificar el libro con el precio más alto.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b="1" dirty="0"/>
              <a:t>Identificar clientes con más de 2 </a:t>
            </a:r>
            <a:r>
              <a:rPr lang="es-MX" sz="1600" b="1" dirty="0" smtClean="0"/>
              <a:t>alquileres: </a:t>
            </a:r>
            <a:r>
              <a:rPr lang="es-MX" sz="1600" dirty="0" smtClean="0"/>
              <a:t>Determinar </a:t>
            </a:r>
            <a:r>
              <a:rPr lang="es-MX" sz="1600" dirty="0"/>
              <a:t>qué clientes han alquilado más de dos libros.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b="1" dirty="0"/>
              <a:t>Bibliotecas con libros de género "drama</a:t>
            </a:r>
            <a:r>
              <a:rPr lang="es-MX" sz="1600" b="1" dirty="0" smtClean="0"/>
              <a:t>"</a:t>
            </a:r>
            <a:r>
              <a:rPr lang="es-MX" sz="1600" dirty="0" smtClean="0"/>
              <a:t>: </a:t>
            </a:r>
            <a:r>
              <a:rPr lang="es-MX" sz="1600" dirty="0"/>
              <a:t>Listar las bibliotecas que tienen libros del género "drama".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b="1" dirty="0"/>
              <a:t>Clientes que alquilaron libros después del </a:t>
            </a:r>
            <a:r>
              <a:rPr lang="es-MX" sz="1600" b="1" dirty="0" smtClean="0"/>
              <a:t>2020: </a:t>
            </a:r>
            <a:r>
              <a:rPr lang="es-MX" sz="1600" dirty="0" smtClean="0"/>
              <a:t>Identificar </a:t>
            </a:r>
            <a:r>
              <a:rPr lang="es-MX" sz="1600" dirty="0"/>
              <a:t>clientes que han alquilado libros después del año 2020.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b="1" dirty="0"/>
              <a:t>Géneros más </a:t>
            </a:r>
            <a:r>
              <a:rPr lang="es-MX" sz="1600" b="1" dirty="0" smtClean="0"/>
              <a:t>vendidos: </a:t>
            </a:r>
            <a:r>
              <a:rPr lang="es-MX" sz="1600" dirty="0" smtClean="0"/>
              <a:t>Encontrar </a:t>
            </a:r>
            <a:r>
              <a:rPr lang="es-MX" sz="1600" dirty="0"/>
              <a:t>los géneros de libros que han tenido ventas superiores a 5 </a:t>
            </a:r>
            <a:r>
              <a:rPr lang="es-MX" sz="1600" dirty="0" smtClean="0"/>
              <a:t>unidades.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600" dirty="0"/>
              <a:t>O</a:t>
            </a:r>
            <a:r>
              <a:rPr lang="es-MX" sz="1600" dirty="0" smtClean="0"/>
              <a:t>btener </a:t>
            </a:r>
            <a:r>
              <a:rPr lang="es-MX" sz="1600" dirty="0"/>
              <a:t>una lista de los clientes que han comprado más de </a:t>
            </a:r>
            <a:r>
              <a:rPr lang="es-MX" sz="1600" dirty="0" smtClean="0"/>
              <a:t>3 </a:t>
            </a:r>
            <a:r>
              <a:rPr lang="es-MX" sz="1600" dirty="0"/>
              <a:t>libros</a:t>
            </a:r>
            <a:r>
              <a:rPr lang="es-MX" sz="1600" dirty="0" smtClean="0"/>
              <a:t>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altLang="en-US" sz="1600" dirty="0" err="1" smtClean="0">
                <a:latin typeface="Arial" panose="020B0604020202020204" pitchFamily="34" charset="0"/>
              </a:rPr>
              <a:t>Obtener</a:t>
            </a:r>
            <a:r>
              <a:rPr lang="en-US" altLang="en-US" sz="1600" dirty="0" smtClean="0">
                <a:latin typeface="Arial" panose="020B0604020202020204" pitchFamily="34" charset="0"/>
              </a:rPr>
              <a:t> </a:t>
            </a:r>
            <a:r>
              <a:rPr lang="en-US" altLang="en-US" sz="1600" dirty="0">
                <a:latin typeface="Arial" panose="020B0604020202020204" pitchFamily="34" charset="0"/>
              </a:rPr>
              <a:t>la </a:t>
            </a:r>
            <a:r>
              <a:rPr lang="en-US" altLang="en-US" sz="1600" dirty="0" err="1">
                <a:latin typeface="Arial" panose="020B0604020202020204" pitchFamily="34" charset="0"/>
              </a:rPr>
              <a:t>cantidad</a:t>
            </a:r>
            <a:r>
              <a:rPr lang="en-US" altLang="en-US" sz="1600" dirty="0">
                <a:latin typeface="Arial" panose="020B0604020202020204" pitchFamily="34" charset="0"/>
              </a:rPr>
              <a:t> total de </a:t>
            </a:r>
            <a:r>
              <a:rPr lang="en-US" altLang="en-US" sz="1600" dirty="0" err="1">
                <a:latin typeface="Arial" panose="020B0604020202020204" pitchFamily="34" charset="0"/>
              </a:rPr>
              <a:t>ventas</a:t>
            </a:r>
            <a:r>
              <a:rPr lang="en-US" altLang="en-US" sz="1600" dirty="0">
                <a:latin typeface="Arial" panose="020B0604020202020204" pitchFamily="34" charset="0"/>
              </a:rPr>
              <a:t> de </a:t>
            </a:r>
            <a:r>
              <a:rPr lang="en-US" altLang="en-US" sz="1600" dirty="0" err="1">
                <a:latin typeface="Arial" panose="020B0604020202020204" pitchFamily="34" charset="0"/>
              </a:rPr>
              <a:t>libros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por</a:t>
            </a:r>
            <a:r>
              <a:rPr lang="en-US" altLang="en-US" sz="1600" dirty="0">
                <a:latin typeface="Arial" panose="020B0604020202020204" pitchFamily="34" charset="0"/>
              </a:rPr>
              <a:t> </a:t>
            </a:r>
            <a:r>
              <a:rPr lang="en-US" altLang="en-US" sz="1600" dirty="0" err="1">
                <a:latin typeface="Arial" panose="020B0604020202020204" pitchFamily="34" charset="0"/>
              </a:rPr>
              <a:t>cliente</a:t>
            </a:r>
            <a:r>
              <a:rPr lang="en-US" altLang="en-US" sz="1600" dirty="0">
                <a:latin typeface="Arial" panose="020B0604020202020204" pitchFamily="34" charset="0"/>
              </a:rPr>
              <a:t>, </a:t>
            </a:r>
            <a:r>
              <a:rPr lang="en-US" altLang="en-US" sz="1600" dirty="0" err="1">
                <a:latin typeface="Arial" panose="020B0604020202020204" pitchFamily="34" charset="0"/>
              </a:rPr>
              <a:t>usando</a:t>
            </a:r>
            <a:r>
              <a:rPr lang="en-US" altLang="en-US" sz="1600" dirty="0">
                <a:latin typeface="Arial" panose="020B0604020202020204" pitchFamily="34" charset="0"/>
              </a:rPr>
              <a:t> un </a:t>
            </a:r>
            <a:r>
              <a:rPr lang="en-US" altLang="en-US" sz="1600" dirty="0">
                <a:latin typeface="Arial Unicode MS"/>
              </a:rPr>
              <a:t>JOIN</a:t>
            </a:r>
            <a:r>
              <a:rPr lang="en-US" altLang="en-US" sz="1600" dirty="0"/>
              <a:t> con una </a:t>
            </a:r>
            <a:r>
              <a:rPr lang="en-US" altLang="en-US" sz="1600" dirty="0" err="1"/>
              <a:t>subconsulta</a:t>
            </a:r>
            <a:r>
              <a:rPr lang="en-US" altLang="en-US" sz="1600" dirty="0"/>
              <a:t> que </a:t>
            </a:r>
            <a:r>
              <a:rPr lang="en-US" altLang="en-US" sz="1600" dirty="0" err="1"/>
              <a:t>calcula</a:t>
            </a:r>
            <a:r>
              <a:rPr lang="en-US" altLang="en-US" sz="1600" dirty="0"/>
              <a:t> el total de </a:t>
            </a:r>
            <a:r>
              <a:rPr lang="en-US" altLang="en-US" sz="1600" dirty="0" err="1"/>
              <a:t>ventas</a:t>
            </a:r>
            <a:r>
              <a:rPr lang="en-US" altLang="en-US" sz="1600" dirty="0"/>
              <a:t> de </a:t>
            </a:r>
            <a:r>
              <a:rPr lang="en-US" altLang="en-US" sz="1600" dirty="0" err="1"/>
              <a:t>cada</a:t>
            </a:r>
            <a:r>
              <a:rPr lang="en-US" altLang="en-US" sz="1600" dirty="0"/>
              <a:t> </a:t>
            </a:r>
            <a:r>
              <a:rPr lang="en-US" altLang="en-US" sz="1600" dirty="0" err="1"/>
              <a:t>cliente</a:t>
            </a:r>
            <a:r>
              <a:rPr lang="en-US" altLang="en-US" sz="1600" dirty="0"/>
              <a:t>.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342900" lvl="0" indent="-342900" algn="just">
              <a:buFont typeface="+mj-lt"/>
              <a:buAutoNum type="arabicPeriod"/>
            </a:pPr>
            <a:r>
              <a:rPr lang="es-MX" sz="1600" dirty="0" smtClean="0"/>
              <a:t>Cuenta el número de libros alquilados por cada cliente: </a:t>
            </a:r>
            <a:r>
              <a:rPr lang="en-US" altLang="en-US" sz="1600" dirty="0" err="1" smtClean="0">
                <a:latin typeface="Arial" panose="020B0604020202020204" pitchFamily="34" charset="0"/>
              </a:rPr>
              <a:t>Usar</a:t>
            </a:r>
            <a:r>
              <a:rPr lang="en-US" altLang="en-US" sz="1600" dirty="0" smtClean="0">
                <a:latin typeface="Arial" panose="020B0604020202020204" pitchFamily="34" charset="0"/>
              </a:rPr>
              <a:t> una </a:t>
            </a:r>
            <a:r>
              <a:rPr lang="en-US" altLang="en-US" sz="1600" dirty="0" err="1" smtClean="0">
                <a:latin typeface="Arial" panose="020B0604020202020204" pitchFamily="34" charset="0"/>
              </a:rPr>
              <a:t>subconsulta</a:t>
            </a:r>
            <a:r>
              <a:rPr lang="en-US" altLang="en-US" sz="1600" dirty="0" smtClean="0">
                <a:latin typeface="Arial" panose="020B0604020202020204" pitchFamily="34" charset="0"/>
              </a:rPr>
              <a:t> en un </a:t>
            </a:r>
            <a:r>
              <a:rPr lang="en-US" altLang="en-US" sz="1600" dirty="0" smtClean="0">
                <a:latin typeface="Arial Unicode MS"/>
              </a:rPr>
              <a:t>JOIN</a:t>
            </a:r>
            <a:r>
              <a:rPr lang="en-US" altLang="en-US" sz="1600" dirty="0" smtClean="0"/>
              <a:t> para </a:t>
            </a:r>
            <a:r>
              <a:rPr lang="en-US" altLang="en-US" sz="1600" dirty="0" err="1" smtClean="0"/>
              <a:t>contar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cuántos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libros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han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sido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alquilados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por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cada</a:t>
            </a:r>
            <a:r>
              <a:rPr lang="en-US" altLang="en-US" sz="1600" dirty="0" smtClean="0"/>
              <a:t> </a:t>
            </a:r>
            <a:r>
              <a:rPr lang="en-US" altLang="en-US" sz="1600" dirty="0" err="1" smtClean="0"/>
              <a:t>cliente</a:t>
            </a:r>
            <a:r>
              <a:rPr lang="en-US" altLang="en-US" sz="1600" dirty="0" smtClean="0"/>
              <a:t>. </a:t>
            </a:r>
            <a:endParaRPr lang="en-US" altLang="en-US" sz="1600" dirty="0" smtClean="0">
              <a:latin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s-MX" sz="1600" dirty="0" smtClean="0"/>
              <a:t>Obtener una lista de todos los clientes que han alquilado libros, junto con el nombre de los libros alquilados y el total de días de alquiler para cada uno de los libros que han alquilado. Solo se deben mostrar los registros de clientes que han alquilado más de un libro. Utiliza </a:t>
            </a:r>
            <a:r>
              <a:rPr lang="es-MX" sz="1600" dirty="0" err="1" smtClean="0"/>
              <a:t>subconsultas</a:t>
            </a:r>
            <a:r>
              <a:rPr lang="es-MX" sz="1600" dirty="0" smtClean="0"/>
              <a:t> para calcular el total de días de alquiler por cliente y filtra solo aquellos clientes que han alquilado más de un libro.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s-MX" sz="1800" dirty="0" smtClean="0"/>
              <a:t>Deseamos </a:t>
            </a:r>
            <a:r>
              <a:rPr lang="es-MX" sz="1800" dirty="0"/>
              <a:t>obtener el nombre de la biblioteca, el total de ventas y el promedio de cantidad de libros vendidos por cada biblioteca, solo para las bibliotecas que hayan vendido más de 5 libros en total.</a:t>
            </a:r>
            <a:endParaRPr lang="es-MX" sz="1800" dirty="0" smtClean="0"/>
          </a:p>
          <a:p>
            <a:pPr marL="342900" indent="-342900" algn="just">
              <a:buFont typeface="+mj-lt"/>
              <a:buAutoNum type="arabicPeriod"/>
            </a:pPr>
            <a:endParaRPr lang="es-MX" sz="1800" dirty="0"/>
          </a:p>
          <a:p>
            <a:pPr marL="342900" indent="-342900" algn="just">
              <a:buFont typeface="+mj-lt"/>
              <a:buAutoNum type="arabicPeriod"/>
            </a:pPr>
            <a:endParaRPr lang="es-MX" sz="1800" dirty="0" smtClean="0"/>
          </a:p>
          <a:p>
            <a:pPr marL="342900" indent="-342900" algn="just">
              <a:buFont typeface="+mj-lt"/>
              <a:buAutoNum type="arabicPeriod"/>
            </a:pPr>
            <a:endParaRPr lang="es-MX" sz="1800" dirty="0"/>
          </a:p>
          <a:p>
            <a:pPr marL="342900" indent="-342900" algn="just">
              <a:buFont typeface="+mj-lt"/>
              <a:buAutoNum type="arabicPeriod"/>
            </a:pPr>
            <a:endParaRPr lang="es-MX" sz="1800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304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smtClean="0"/>
              <a:t>EJERCICIO 3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964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MX" b="1" dirty="0"/>
              <a:t>Base de datos para la gestión de una cadena de restaurantes de comida rápida</a:t>
            </a:r>
            <a:endParaRPr lang="es-MX" dirty="0"/>
          </a:p>
          <a:p>
            <a:pPr marL="0" indent="0" algn="just">
              <a:buNone/>
            </a:pPr>
            <a:r>
              <a:rPr lang="es-MX" dirty="0"/>
              <a:t>Imaginemos una cadena de restaurantes de comida rápida que busca optimizar su gestión de pedidos y clientes. Para ello, han diseñado una base de datos que les permite:</a:t>
            </a:r>
          </a:p>
          <a:p>
            <a:pPr algn="just"/>
            <a:r>
              <a:rPr lang="es-MX" dirty="0"/>
              <a:t>Registrar información detallada de sus </a:t>
            </a:r>
            <a:r>
              <a:rPr lang="es-MX" b="1" dirty="0">
                <a:solidFill>
                  <a:srgbClr val="FF0000"/>
                </a:solidFill>
              </a:rPr>
              <a:t>clientes</a:t>
            </a:r>
            <a:r>
              <a:rPr lang="es-MX" dirty="0"/>
              <a:t>, como nombres, direcciones, fechas de alta y baja, correos electrónicos, teléfonos y otra información de contacto relevante.</a:t>
            </a:r>
          </a:p>
          <a:p>
            <a:pPr algn="just"/>
            <a:r>
              <a:rPr lang="es-MX" dirty="0"/>
              <a:t>Llevar un control exhaustivo de los </a:t>
            </a:r>
            <a:r>
              <a:rPr lang="es-MX" b="1" dirty="0">
                <a:solidFill>
                  <a:srgbClr val="FF0000"/>
                </a:solidFill>
              </a:rPr>
              <a:t>productos</a:t>
            </a:r>
            <a:r>
              <a:rPr lang="es-MX" dirty="0"/>
              <a:t> ofrecidos en el menú, incluyendo precios de venta, costos de compra, su disponibilidad en el inventario y el IVA aplicable.</a:t>
            </a:r>
          </a:p>
          <a:p>
            <a:pPr marL="0" indent="0" algn="just">
              <a:buNone/>
            </a:pPr>
            <a:r>
              <a:rPr lang="es-MX" dirty="0"/>
              <a:t>Además, la empresa necesita:</a:t>
            </a:r>
          </a:p>
          <a:p>
            <a:pPr algn="just"/>
            <a:r>
              <a:rPr lang="es-MX" dirty="0"/>
              <a:t>Rastrear los </a:t>
            </a:r>
            <a:r>
              <a:rPr lang="es-MX" b="1" dirty="0">
                <a:solidFill>
                  <a:srgbClr val="FF0000"/>
                </a:solidFill>
              </a:rPr>
              <a:t>pedidos realizados</a:t>
            </a:r>
            <a:r>
              <a:rPr lang="es-MX" dirty="0"/>
              <a:t>, registrando qué cliente realizó el pedido, la fecha del mismo y los productos que lo conforman.</a:t>
            </a:r>
          </a:p>
          <a:p>
            <a:pPr algn="just"/>
            <a:r>
              <a:rPr lang="es-MX" dirty="0"/>
              <a:t>Desglosar cada </a:t>
            </a:r>
            <a:r>
              <a:rPr lang="es-MX" b="1" dirty="0">
                <a:solidFill>
                  <a:srgbClr val="FF0000"/>
                </a:solidFill>
              </a:rPr>
              <a:t>pedido en líneas </a:t>
            </a:r>
            <a:r>
              <a:rPr lang="es-MX" dirty="0"/>
              <a:t>específicas, indicando la cantidad de productos solicitados, el precio de venta y el IVA correspondiente a cada producto.</a:t>
            </a:r>
          </a:p>
          <a:p>
            <a:pPr algn="just"/>
            <a:r>
              <a:rPr lang="es-MX" dirty="0"/>
              <a:t>Generar </a:t>
            </a:r>
            <a:r>
              <a:rPr lang="es-MX" b="1" dirty="0">
                <a:solidFill>
                  <a:srgbClr val="FF0000"/>
                </a:solidFill>
              </a:rPr>
              <a:t>facturas detalladas</a:t>
            </a:r>
            <a:r>
              <a:rPr lang="es-MX" dirty="0"/>
              <a:t>, que incluyan los totales de productos, IVA y el monto final de cada pedido, así como la fecha de emisión y, en caso necesario, la fecha de anulación.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7904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371061"/>
            <a:ext cx="10515600" cy="5805902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s-MX" b="1" dirty="0"/>
              <a:t>Funcionamiento de la base de datos</a:t>
            </a:r>
            <a:r>
              <a:rPr lang="es-MX" dirty="0"/>
              <a:t>:</a:t>
            </a:r>
          </a:p>
          <a:p>
            <a:pPr algn="just"/>
            <a:r>
              <a:rPr lang="es-MX" dirty="0"/>
              <a:t>Cada cliente que realiza un pedido queda registrado en el sistema con información única, lo que permite un seguimiento individualizado.</a:t>
            </a:r>
          </a:p>
          <a:p>
            <a:pPr algn="just"/>
            <a:r>
              <a:rPr lang="es-MX" dirty="0"/>
              <a:t>Los productos disponibles se almacenan en un catálogo, junto con información importante como el stock y los precios, que pueden actualizarse en función de las tendencias del mercado y los costos de los ingredientes.</a:t>
            </a:r>
          </a:p>
          <a:p>
            <a:pPr algn="just"/>
            <a:r>
              <a:rPr lang="es-MX" dirty="0"/>
              <a:t>Cuando un cliente realiza un pedido, este queda registrado con su respectiva fecha y cliente asociado.</a:t>
            </a:r>
          </a:p>
          <a:p>
            <a:pPr algn="just"/>
            <a:r>
              <a:rPr lang="es-MX" dirty="0"/>
              <a:t>Los detalles del pedido se almacenan línea por línea, indicando cada producto incluido, sus cantidades y precios específicos.</a:t>
            </a:r>
          </a:p>
          <a:p>
            <a:pPr algn="just"/>
            <a:r>
              <a:rPr lang="es-MX" dirty="0"/>
              <a:t>Finalmente, se emite una factura asociada al pedido, que resume el costo total y los impuestos aplicables, facilitando la gestión contable y la transparencia en las operaciones.</a:t>
            </a:r>
          </a:p>
          <a:p>
            <a:pPr marL="0" indent="0" algn="just">
              <a:buNone/>
            </a:pPr>
            <a:r>
              <a:rPr lang="es-MX" b="1" dirty="0" smtClean="0"/>
              <a:t>Relaciones </a:t>
            </a:r>
            <a:r>
              <a:rPr lang="es-MX" b="1" dirty="0"/>
              <a:t>entre las tablas</a:t>
            </a:r>
            <a:r>
              <a:rPr lang="es-MX" dirty="0"/>
              <a:t>:</a:t>
            </a:r>
          </a:p>
          <a:p>
            <a:pPr algn="just"/>
            <a:r>
              <a:rPr lang="es-MX" dirty="0"/>
              <a:t>Los pedidos dependen directamente de los clientes, ya que un cliente debe existir para que se registre un pedido.</a:t>
            </a:r>
          </a:p>
          <a:p>
            <a:pPr algn="just"/>
            <a:r>
              <a:rPr lang="es-MX" dirty="0"/>
              <a:t>Cada pedido se compone de múltiples productos, cuyos detalles específicos se registran en líneas independientes.</a:t>
            </a:r>
          </a:p>
          <a:p>
            <a:pPr algn="just"/>
            <a:r>
              <a:rPr lang="es-MX" dirty="0"/>
              <a:t>Las facturas están vinculadas a los pedidos, ya que reflejan el resumen de los productos comprados</a:t>
            </a:r>
            <a:r>
              <a:rPr lang="es-MX" dirty="0" smtClean="0"/>
              <a:t>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36487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9614" y="658945"/>
            <a:ext cx="1692350" cy="4351338"/>
          </a:xfrm>
        </p:spPr>
        <p:txBody>
          <a:bodyPr>
            <a:normAutofit fontScale="85000" lnSpcReduction="20000"/>
          </a:bodyPr>
          <a:lstStyle/>
          <a:p>
            <a:r>
              <a:rPr lang="es-PE" b="1" dirty="0" smtClean="0">
                <a:solidFill>
                  <a:srgbClr val="FF0000"/>
                </a:solidFill>
              </a:rPr>
              <a:t>Cliente</a:t>
            </a:r>
          </a:p>
          <a:p>
            <a:pPr marL="0" indent="0">
              <a:buNone/>
            </a:pPr>
            <a:r>
              <a:rPr lang="es-PE" dirty="0" err="1" smtClean="0"/>
              <a:t>IdCliente</a:t>
            </a:r>
            <a:endParaRPr lang="es-PE" dirty="0"/>
          </a:p>
          <a:p>
            <a:pPr marL="0" indent="0">
              <a:buNone/>
            </a:pPr>
            <a:r>
              <a:rPr lang="es-PE" dirty="0" smtClean="0"/>
              <a:t>Nombre</a:t>
            </a:r>
          </a:p>
          <a:p>
            <a:pPr marL="0" indent="0">
              <a:buNone/>
            </a:pPr>
            <a:r>
              <a:rPr lang="es-PE" dirty="0" err="1" smtClean="0"/>
              <a:t>Direccion</a:t>
            </a:r>
            <a:endParaRPr lang="es-PE" dirty="0" smtClean="0"/>
          </a:p>
          <a:p>
            <a:pPr marL="0" indent="0">
              <a:buNone/>
            </a:pPr>
            <a:r>
              <a:rPr lang="es-PE" dirty="0" err="1" smtClean="0"/>
              <a:t>Cif</a:t>
            </a:r>
            <a:endParaRPr lang="es-PE" dirty="0" smtClean="0"/>
          </a:p>
          <a:p>
            <a:pPr marL="0" indent="0">
              <a:buNone/>
            </a:pPr>
            <a:r>
              <a:rPr lang="es-PE" dirty="0" err="1" smtClean="0"/>
              <a:t>FechaAlta</a:t>
            </a:r>
            <a:endParaRPr lang="es-PE" dirty="0" smtClean="0"/>
          </a:p>
          <a:p>
            <a:pPr marL="0" indent="0">
              <a:buNone/>
            </a:pPr>
            <a:r>
              <a:rPr lang="es-PE" dirty="0" err="1" smtClean="0"/>
              <a:t>FechaBaja</a:t>
            </a:r>
            <a:endParaRPr lang="es-PE" dirty="0" smtClean="0"/>
          </a:p>
          <a:p>
            <a:pPr marL="0" indent="0">
              <a:buNone/>
            </a:pPr>
            <a:r>
              <a:rPr lang="es-PE" dirty="0" smtClean="0"/>
              <a:t>Email</a:t>
            </a:r>
          </a:p>
          <a:p>
            <a:pPr marL="0" indent="0">
              <a:buNone/>
            </a:pPr>
            <a:r>
              <a:rPr lang="es-PE" dirty="0" smtClean="0"/>
              <a:t>Usuario</a:t>
            </a:r>
          </a:p>
          <a:p>
            <a:pPr marL="0" indent="0">
              <a:buNone/>
            </a:pPr>
            <a:r>
              <a:rPr lang="es-PE" dirty="0" err="1" smtClean="0"/>
              <a:t>Password</a:t>
            </a:r>
            <a:endParaRPr lang="es-PE" dirty="0" smtClean="0"/>
          </a:p>
          <a:p>
            <a:pPr marL="0" indent="0">
              <a:buNone/>
            </a:pPr>
            <a:r>
              <a:rPr lang="es-PE" dirty="0" err="1" smtClean="0"/>
              <a:t>Telefono</a:t>
            </a:r>
            <a:endParaRPr lang="en-US" dirty="0"/>
          </a:p>
        </p:txBody>
      </p:sp>
      <p:sp>
        <p:nvSpPr>
          <p:cNvPr id="4" name="Marcador de contenido 2"/>
          <p:cNvSpPr txBox="1">
            <a:spLocks/>
          </p:cNvSpPr>
          <p:nvPr/>
        </p:nvSpPr>
        <p:spPr>
          <a:xfrm>
            <a:off x="2027274" y="658945"/>
            <a:ext cx="26457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b="1" dirty="0" smtClean="0">
                <a:solidFill>
                  <a:srgbClr val="FF0000"/>
                </a:solidFill>
              </a:rPr>
              <a:t>Producto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IdProducto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CodProducto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PVEstablecido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PrecioCompra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smtClean="0"/>
              <a:t>Tangible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IvaActual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smtClean="0"/>
              <a:t>Stock</a:t>
            </a:r>
            <a:endParaRPr lang="en-US" dirty="0"/>
          </a:p>
        </p:txBody>
      </p:sp>
      <p:sp>
        <p:nvSpPr>
          <p:cNvPr id="5" name="Marcador de contenido 2"/>
          <p:cNvSpPr txBox="1">
            <a:spLocks/>
          </p:cNvSpPr>
          <p:nvPr/>
        </p:nvSpPr>
        <p:spPr>
          <a:xfrm>
            <a:off x="4736762" y="673459"/>
            <a:ext cx="2153094" cy="24592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b="1" dirty="0" smtClean="0">
                <a:solidFill>
                  <a:schemeClr val="accent6">
                    <a:lumMod val="75000"/>
                  </a:schemeClr>
                </a:solidFill>
              </a:rPr>
              <a:t>Pedido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IdPedido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IdCliente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FechaPedido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 smtClean="0"/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6953609" y="673459"/>
            <a:ext cx="2647507" cy="295902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b="1" dirty="0" err="1" smtClean="0">
                <a:solidFill>
                  <a:schemeClr val="accent6">
                    <a:lumMod val="75000"/>
                  </a:schemeClr>
                </a:solidFill>
              </a:rPr>
              <a:t>Lineas_Pedido</a:t>
            </a:r>
            <a:endParaRPr lang="es-PE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IdLineasPedido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IdPedido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IdProducto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smtClean="0"/>
              <a:t>PVP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smtClean="0"/>
              <a:t>Cantidad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IvaDetalle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 smtClean="0"/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9544493" y="673459"/>
            <a:ext cx="2337223" cy="295902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b="1" dirty="0" smtClean="0">
                <a:solidFill>
                  <a:schemeClr val="accent6">
                    <a:lumMod val="75000"/>
                  </a:schemeClr>
                </a:solidFill>
              </a:rPr>
              <a:t>Factura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IdFactura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IdPedido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TotalProductos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TotalIva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TotalFactura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FechaFactura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s-PE" dirty="0" err="1" smtClean="0"/>
              <a:t>FechaAnulacion</a:t>
            </a: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 smtClean="0"/>
          </a:p>
          <a:p>
            <a:pPr marL="0" indent="0">
              <a:buFont typeface="Arial" panose="020B0604020202020204" pitchFamily="34" charset="0"/>
              <a:buNone/>
            </a:pPr>
            <a:endParaRPr lang="es-PE" dirty="0" smtClean="0"/>
          </a:p>
        </p:txBody>
      </p:sp>
    </p:spTree>
    <p:extLst>
      <p:ext uri="{BB962C8B-B14F-4D97-AF65-F5344CB8AC3E}">
        <p14:creationId xmlns:p14="http://schemas.microsoft.com/office/powerpoint/2010/main" val="2632284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495300" y="977900"/>
            <a:ext cx="2095500" cy="91440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Cliente</a:t>
            </a:r>
            <a:endParaRPr lang="en-US" dirty="0"/>
          </a:p>
        </p:txBody>
      </p:sp>
      <p:sp>
        <p:nvSpPr>
          <p:cNvPr id="5" name="Rectángulo 4"/>
          <p:cNvSpPr/>
          <p:nvPr/>
        </p:nvSpPr>
        <p:spPr>
          <a:xfrm>
            <a:off x="4794250" y="977900"/>
            <a:ext cx="2095500" cy="91440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Pedido</a:t>
            </a:r>
            <a:endParaRPr lang="en-US" dirty="0"/>
          </a:p>
        </p:txBody>
      </p:sp>
      <p:sp>
        <p:nvSpPr>
          <p:cNvPr id="6" name="Rectángulo 5"/>
          <p:cNvSpPr/>
          <p:nvPr/>
        </p:nvSpPr>
        <p:spPr>
          <a:xfrm>
            <a:off x="9093200" y="977900"/>
            <a:ext cx="2095500" cy="91440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err="1" smtClean="0"/>
              <a:t>Lineas_Pedido</a:t>
            </a:r>
            <a:endParaRPr lang="en-US" dirty="0"/>
          </a:p>
        </p:txBody>
      </p:sp>
      <p:sp>
        <p:nvSpPr>
          <p:cNvPr id="7" name="Rectángulo 6"/>
          <p:cNvSpPr/>
          <p:nvPr/>
        </p:nvSpPr>
        <p:spPr>
          <a:xfrm>
            <a:off x="2174875" y="4305300"/>
            <a:ext cx="2095500" cy="91440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Factura</a:t>
            </a:r>
            <a:endParaRPr lang="en-US" dirty="0"/>
          </a:p>
        </p:txBody>
      </p:sp>
      <p:sp>
        <p:nvSpPr>
          <p:cNvPr id="8" name="Rectángulo 7"/>
          <p:cNvSpPr/>
          <p:nvPr/>
        </p:nvSpPr>
        <p:spPr>
          <a:xfrm>
            <a:off x="9093200" y="4508500"/>
            <a:ext cx="2095500" cy="914400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PE" dirty="0" smtClean="0"/>
              <a:t>Producto</a:t>
            </a:r>
            <a:endParaRPr lang="en-US" dirty="0"/>
          </a:p>
        </p:txBody>
      </p:sp>
      <p:sp>
        <p:nvSpPr>
          <p:cNvPr id="9" name="Rombo 8"/>
          <p:cNvSpPr/>
          <p:nvPr/>
        </p:nvSpPr>
        <p:spPr>
          <a:xfrm>
            <a:off x="3073400" y="1143000"/>
            <a:ext cx="889000" cy="58420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mbo 9"/>
          <p:cNvSpPr/>
          <p:nvPr/>
        </p:nvSpPr>
        <p:spPr>
          <a:xfrm>
            <a:off x="7499350" y="1143000"/>
            <a:ext cx="889000" cy="58420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mbo 10"/>
          <p:cNvSpPr/>
          <p:nvPr/>
        </p:nvSpPr>
        <p:spPr>
          <a:xfrm>
            <a:off x="9696450" y="2654300"/>
            <a:ext cx="889000" cy="58420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mbo 11"/>
          <p:cNvSpPr/>
          <p:nvPr/>
        </p:nvSpPr>
        <p:spPr>
          <a:xfrm>
            <a:off x="2778125" y="2806700"/>
            <a:ext cx="889000" cy="584200"/>
          </a:xfrm>
          <a:prstGeom prst="diamond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ector recto 13"/>
          <p:cNvCxnSpPr>
            <a:stCxn id="4" idx="3"/>
            <a:endCxn id="9" idx="1"/>
          </p:cNvCxnSpPr>
          <p:nvPr/>
        </p:nvCxnSpPr>
        <p:spPr>
          <a:xfrm>
            <a:off x="2590800" y="1435100"/>
            <a:ext cx="482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/>
          <p:cNvCxnSpPr>
            <a:stCxn id="9" idx="3"/>
            <a:endCxn id="5" idx="1"/>
          </p:cNvCxnSpPr>
          <p:nvPr/>
        </p:nvCxnSpPr>
        <p:spPr>
          <a:xfrm>
            <a:off x="3962400" y="1435100"/>
            <a:ext cx="831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/>
          <p:cNvCxnSpPr>
            <a:stCxn id="5" idx="3"/>
            <a:endCxn id="10" idx="1"/>
          </p:cNvCxnSpPr>
          <p:nvPr/>
        </p:nvCxnSpPr>
        <p:spPr>
          <a:xfrm>
            <a:off x="6889750" y="1435100"/>
            <a:ext cx="609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/>
          <p:cNvCxnSpPr>
            <a:stCxn id="10" idx="3"/>
            <a:endCxn id="6" idx="1"/>
          </p:cNvCxnSpPr>
          <p:nvPr/>
        </p:nvCxnSpPr>
        <p:spPr>
          <a:xfrm>
            <a:off x="8388350" y="1435100"/>
            <a:ext cx="7048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/>
          <p:cNvCxnSpPr>
            <a:stCxn id="6" idx="2"/>
            <a:endCxn id="11" idx="0"/>
          </p:cNvCxnSpPr>
          <p:nvPr/>
        </p:nvCxnSpPr>
        <p:spPr>
          <a:xfrm>
            <a:off x="10140950" y="1892300"/>
            <a:ext cx="0" cy="762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/>
          <p:cNvCxnSpPr>
            <a:stCxn id="11" idx="2"/>
            <a:endCxn id="8" idx="0"/>
          </p:cNvCxnSpPr>
          <p:nvPr/>
        </p:nvCxnSpPr>
        <p:spPr>
          <a:xfrm>
            <a:off x="10140950" y="3238500"/>
            <a:ext cx="0" cy="127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/>
          <p:cNvCxnSpPr>
            <a:stCxn id="5" idx="2"/>
            <a:endCxn id="12" idx="0"/>
          </p:cNvCxnSpPr>
          <p:nvPr/>
        </p:nvCxnSpPr>
        <p:spPr>
          <a:xfrm flipH="1">
            <a:off x="3222625" y="1892300"/>
            <a:ext cx="2619375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/>
          <p:cNvCxnSpPr>
            <a:stCxn id="12" idx="2"/>
            <a:endCxn id="7" idx="0"/>
          </p:cNvCxnSpPr>
          <p:nvPr/>
        </p:nvCxnSpPr>
        <p:spPr>
          <a:xfrm>
            <a:off x="3222625" y="3390900"/>
            <a:ext cx="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>
            <a:off x="2686050" y="1027153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n-US" dirty="0"/>
          </a:p>
        </p:txBody>
      </p:sp>
      <p:sp>
        <p:nvSpPr>
          <p:cNvPr id="30" name="CuadroTexto 29"/>
          <p:cNvSpPr txBox="1"/>
          <p:nvPr/>
        </p:nvSpPr>
        <p:spPr>
          <a:xfrm>
            <a:off x="4386263" y="10287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N</a:t>
            </a:r>
            <a:endParaRPr lang="en-US" dirty="0"/>
          </a:p>
        </p:txBody>
      </p:sp>
      <p:sp>
        <p:nvSpPr>
          <p:cNvPr id="31" name="CuadroTexto 30"/>
          <p:cNvSpPr txBox="1"/>
          <p:nvPr/>
        </p:nvSpPr>
        <p:spPr>
          <a:xfrm>
            <a:off x="9829800" y="4120634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n-US" dirty="0"/>
          </a:p>
        </p:txBody>
      </p:sp>
      <p:sp>
        <p:nvSpPr>
          <p:cNvPr id="32" name="CuadroTexto 31"/>
          <p:cNvSpPr txBox="1"/>
          <p:nvPr/>
        </p:nvSpPr>
        <p:spPr>
          <a:xfrm>
            <a:off x="9772650" y="19050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N</a:t>
            </a:r>
            <a:endParaRPr lang="en-US" dirty="0"/>
          </a:p>
        </p:txBody>
      </p:sp>
      <p:sp>
        <p:nvSpPr>
          <p:cNvPr id="33" name="CuadroTexto 32"/>
          <p:cNvSpPr txBox="1"/>
          <p:nvPr/>
        </p:nvSpPr>
        <p:spPr>
          <a:xfrm>
            <a:off x="8499475" y="9779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N</a:t>
            </a:r>
            <a:endParaRPr lang="en-US" dirty="0"/>
          </a:p>
        </p:txBody>
      </p:sp>
      <p:sp>
        <p:nvSpPr>
          <p:cNvPr id="34" name="CuadroTexto 33"/>
          <p:cNvSpPr txBox="1"/>
          <p:nvPr/>
        </p:nvSpPr>
        <p:spPr>
          <a:xfrm>
            <a:off x="7096125" y="1021834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n-US" dirty="0"/>
          </a:p>
        </p:txBody>
      </p:sp>
      <p:sp>
        <p:nvSpPr>
          <p:cNvPr id="35" name="CuadroTexto 34"/>
          <p:cNvSpPr txBox="1"/>
          <p:nvPr/>
        </p:nvSpPr>
        <p:spPr>
          <a:xfrm>
            <a:off x="3309938" y="3923268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n-US" dirty="0"/>
          </a:p>
        </p:txBody>
      </p:sp>
      <p:sp>
        <p:nvSpPr>
          <p:cNvPr id="36" name="CuadroTexto 35"/>
          <p:cNvSpPr txBox="1"/>
          <p:nvPr/>
        </p:nvSpPr>
        <p:spPr>
          <a:xfrm>
            <a:off x="5702300" y="1999734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 smtClean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4159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:\Users\gabriel\AppData\Local\Packages\Microsoft.Windows.Photos_8wekyb3d8bbwe\TempState\ShareServiceTempFolder\EntidadesAtributoRelacion.jpe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204" y="721248"/>
            <a:ext cx="8426492" cy="4751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98156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C:\Users\gabriel\AppData\Local\Packages\Microsoft.Windows.Photos_8wekyb3d8bbwe\TempState\ShareServiceTempFolder\DiagramaBBDD.jpe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367" y="855042"/>
            <a:ext cx="8251024" cy="47241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93916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3898</TotalTime>
  <Words>2515</Words>
  <Application>Microsoft Office PowerPoint</Application>
  <PresentationFormat>Panorámica</PresentationFormat>
  <Paragraphs>215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Arial</vt:lpstr>
      <vt:lpstr>Arial Unicode MS</vt:lpstr>
      <vt:lpstr>Calibri</vt:lpstr>
      <vt:lpstr>Calibri Light</vt:lpstr>
      <vt:lpstr>Tema de Office</vt:lpstr>
      <vt:lpstr>BASE DE DATOS</vt:lpstr>
      <vt:lpstr>Ejercicio 2</vt:lpstr>
      <vt:lpstr>Presentación de PowerPoint</vt:lpstr>
      <vt:lpstr>Creamos nuevamente nuestras tablas e insertamos la data</vt:lpstr>
      <vt:lpstr>Presentación de PowerPoint</vt:lpstr>
      <vt:lpstr>Repaso</vt:lpstr>
      <vt:lpstr>¿Qué es un Join?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Practica</vt:lpstr>
      <vt:lpstr>Presentación de PowerPoint</vt:lpstr>
      <vt:lpstr>Ejemplo 1 -&gt; Join</vt:lpstr>
      <vt:lpstr>Uso de Joins</vt:lpstr>
      <vt:lpstr>Uso de Joins – parte 2</vt:lpstr>
      <vt:lpstr>Funciones de grupo</vt:lpstr>
      <vt:lpstr>Presentación de PowerPoint</vt:lpstr>
      <vt:lpstr>Presentación de PowerPoint</vt:lpstr>
      <vt:lpstr>Presentación de PowerPoint</vt:lpstr>
      <vt:lpstr>Funciones de grupo</vt:lpstr>
      <vt:lpstr>Uso de subconsultas para resolver consultas</vt:lpstr>
      <vt:lpstr>EJERCICIO 3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</dc:creator>
  <cp:lastModifiedBy>gabriel</cp:lastModifiedBy>
  <cp:revision>103</cp:revision>
  <dcterms:created xsi:type="dcterms:W3CDTF">2024-06-05T12:35:53Z</dcterms:created>
  <dcterms:modified xsi:type="dcterms:W3CDTF">2025-06-10T00:59:16Z</dcterms:modified>
</cp:coreProperties>
</file>