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341" r:id="rId3"/>
    <p:sldId id="342" r:id="rId4"/>
    <p:sldId id="343" r:id="rId5"/>
    <p:sldId id="344" r:id="rId6"/>
    <p:sldId id="345" r:id="rId7"/>
    <p:sldId id="351" r:id="rId8"/>
    <p:sldId id="348" r:id="rId9"/>
    <p:sldId id="352" r:id="rId10"/>
    <p:sldId id="353" r:id="rId11"/>
    <p:sldId id="354" r:id="rId12"/>
    <p:sldId id="355" r:id="rId13"/>
    <p:sldId id="356" r:id="rId14"/>
    <p:sldId id="350" r:id="rId15"/>
    <p:sldId id="288" r:id="rId16"/>
    <p:sldId id="286" r:id="rId17"/>
    <p:sldId id="287" r:id="rId18"/>
    <p:sldId id="289" r:id="rId19"/>
    <p:sldId id="290" r:id="rId20"/>
    <p:sldId id="291" r:id="rId21"/>
    <p:sldId id="292" r:id="rId22"/>
    <p:sldId id="357" r:id="rId23"/>
    <p:sldId id="317" r:id="rId24"/>
    <p:sldId id="318" r:id="rId25"/>
    <p:sldId id="358" r:id="rId26"/>
    <p:sldId id="361" r:id="rId27"/>
    <p:sldId id="319" r:id="rId28"/>
    <p:sldId id="359" r:id="rId29"/>
    <p:sldId id="360" r:id="rId30"/>
    <p:sldId id="362" r:id="rId31"/>
    <p:sldId id="363" r:id="rId32"/>
    <p:sldId id="364" r:id="rId33"/>
    <p:sldId id="366" r:id="rId34"/>
    <p:sldId id="36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90" d="100"/>
          <a:sy n="90" d="100"/>
        </p:scale>
        <p:origin x="66"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6/2/2025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182490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6/2/2025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91676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8510AFE-BF9C-436D-A741-2AC3A3A890A7}" type="datetimeFigureOut">
              <a:rPr lang="en-US" smtClean="0"/>
              <a:t>6/2/2025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660835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fecha 4"/>
          <p:cNvSpPr>
            <a:spLocks noGrp="1"/>
          </p:cNvSpPr>
          <p:nvPr>
            <p:ph type="dt" sz="half" idx="10"/>
          </p:nvPr>
        </p:nvSpPr>
        <p:spPr/>
        <p:txBody>
          <a:bodyPr/>
          <a:lstStyle/>
          <a:p>
            <a:fld id="{58510AFE-BF9C-436D-A741-2AC3A3A890A7}" type="datetimeFigureOut">
              <a:rPr lang="en-US" smtClean="0"/>
              <a:t>6/2/2025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3363849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Marcador de fecha 6"/>
          <p:cNvSpPr>
            <a:spLocks noGrp="1"/>
          </p:cNvSpPr>
          <p:nvPr>
            <p:ph type="dt" sz="half" idx="10"/>
          </p:nvPr>
        </p:nvSpPr>
        <p:spPr/>
        <p:txBody>
          <a:bodyPr/>
          <a:lstStyle/>
          <a:p>
            <a:fld id="{58510AFE-BF9C-436D-A741-2AC3A3A890A7}" type="datetimeFigureOut">
              <a:rPr lang="en-US" smtClean="0"/>
              <a:t>6/2/2025</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578956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fecha 2"/>
          <p:cNvSpPr>
            <a:spLocks noGrp="1"/>
          </p:cNvSpPr>
          <p:nvPr>
            <p:ph type="dt" sz="half" idx="10"/>
          </p:nvPr>
        </p:nvSpPr>
        <p:spPr/>
        <p:txBody>
          <a:bodyPr/>
          <a:lstStyle/>
          <a:p>
            <a:fld id="{58510AFE-BF9C-436D-A741-2AC3A3A890A7}" type="datetimeFigureOut">
              <a:rPr lang="en-US" smtClean="0"/>
              <a:t>6/2/2025</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308138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8510AFE-BF9C-436D-A741-2AC3A3A890A7}" type="datetimeFigureOut">
              <a:rPr lang="en-US" smtClean="0"/>
              <a:t>6/2/2025</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4040190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8510AFE-BF9C-436D-A741-2AC3A3A890A7}" type="datetimeFigureOut">
              <a:rPr lang="en-US" smtClean="0"/>
              <a:t>6/2/2025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913747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8510AFE-BF9C-436D-A741-2AC3A3A890A7}" type="datetimeFigureOut">
              <a:rPr lang="en-US" smtClean="0"/>
              <a:t>6/2/2025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3139192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6/2/2025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173958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58510AFE-BF9C-436D-A741-2AC3A3A890A7}" type="datetimeFigureOut">
              <a:rPr lang="en-US" smtClean="0"/>
              <a:t>6/2/2025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FAEABB1B-0571-493D-80EE-0D030A55ECE6}" type="slidenum">
              <a:rPr lang="en-US" smtClean="0"/>
              <a:t>‹Nº›</a:t>
            </a:fld>
            <a:endParaRPr lang="en-US"/>
          </a:p>
        </p:txBody>
      </p:sp>
    </p:spTree>
    <p:extLst>
      <p:ext uri="{BB962C8B-B14F-4D97-AF65-F5344CB8AC3E}">
        <p14:creationId xmlns:p14="http://schemas.microsoft.com/office/powerpoint/2010/main" val="2153345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510AFE-BF9C-436D-A741-2AC3A3A890A7}" type="datetimeFigureOut">
              <a:rPr lang="en-US" smtClean="0"/>
              <a:t>6/2/2025</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ABB1B-0571-493D-80EE-0D030A55ECE6}" type="slidenum">
              <a:rPr lang="en-US" smtClean="0"/>
              <a:t>‹Nº›</a:t>
            </a:fld>
            <a:endParaRPr lang="en-US"/>
          </a:p>
        </p:txBody>
      </p:sp>
    </p:spTree>
    <p:extLst>
      <p:ext uri="{BB962C8B-B14F-4D97-AF65-F5344CB8AC3E}">
        <p14:creationId xmlns:p14="http://schemas.microsoft.com/office/powerpoint/2010/main" val="4169608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99420" y="675861"/>
            <a:ext cx="7023652" cy="1098067"/>
          </a:xfrm>
        </p:spPr>
        <p:txBody>
          <a:bodyPr/>
          <a:lstStyle/>
          <a:p>
            <a:r>
              <a:rPr lang="es-PE" dirty="0" smtClean="0"/>
              <a:t>Patrones de Diseño</a:t>
            </a:r>
            <a:endParaRPr lang="en-US" dirty="0"/>
          </a:p>
        </p:txBody>
      </p:sp>
      <p:pic>
        <p:nvPicPr>
          <p:cNvPr id="8" name="Imagen 7"/>
          <p:cNvPicPr>
            <a:picLocks noChangeAspect="1"/>
          </p:cNvPicPr>
          <p:nvPr/>
        </p:nvPicPr>
        <p:blipFill>
          <a:blip r:embed="rId2"/>
          <a:stretch>
            <a:fillRect/>
          </a:stretch>
        </p:blipFill>
        <p:spPr>
          <a:xfrm>
            <a:off x="2099420" y="2020415"/>
            <a:ext cx="7807629" cy="4009324"/>
          </a:xfrm>
          <a:prstGeom prst="rect">
            <a:avLst/>
          </a:prstGeom>
        </p:spPr>
      </p:pic>
    </p:spTree>
    <p:extLst>
      <p:ext uri="{BB962C8B-B14F-4D97-AF65-F5344CB8AC3E}">
        <p14:creationId xmlns:p14="http://schemas.microsoft.com/office/powerpoint/2010/main" val="22461782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PROTOTYPE PATTERN</a:t>
            </a:r>
            <a:endParaRPr lang="en-US" b="1" dirty="0"/>
          </a:p>
        </p:txBody>
      </p:sp>
      <p:sp>
        <p:nvSpPr>
          <p:cNvPr id="3" name="Marcador de contenido 2"/>
          <p:cNvSpPr>
            <a:spLocks noGrp="1"/>
          </p:cNvSpPr>
          <p:nvPr>
            <p:ph idx="1"/>
          </p:nvPr>
        </p:nvSpPr>
        <p:spPr>
          <a:xfrm>
            <a:off x="838200" y="1690688"/>
            <a:ext cx="4687957" cy="4351338"/>
          </a:xfrm>
        </p:spPr>
        <p:txBody>
          <a:bodyPr>
            <a:normAutofit/>
          </a:bodyPr>
          <a:lstStyle/>
          <a:p>
            <a:pPr algn="just"/>
            <a:r>
              <a:rPr lang="es-MX" dirty="0" smtClean="0"/>
              <a:t>El </a:t>
            </a:r>
            <a:r>
              <a:rPr lang="es-MX" b="1" dirty="0"/>
              <a:t>Prototype </a:t>
            </a:r>
            <a:r>
              <a:rPr lang="es-MX" b="1" dirty="0" err="1"/>
              <a:t>Pattern</a:t>
            </a:r>
            <a:r>
              <a:rPr lang="es-MX" dirty="0"/>
              <a:t> es un patrón de diseño creacional que se utiliza cuando el costo de creación de una nueva instancia de una clase es alto o complejo. En lugar de crear un nuevo objeto desde cero, el Prototype </a:t>
            </a:r>
            <a:r>
              <a:rPr lang="es-MX" dirty="0" err="1"/>
              <a:t>Pattern</a:t>
            </a:r>
            <a:r>
              <a:rPr lang="es-MX" dirty="0"/>
              <a:t> crea nuevos objetos copiando una instancia existente (el prototipo).</a:t>
            </a:r>
          </a:p>
          <a:p>
            <a:endParaRPr lang="en-US" dirty="0"/>
          </a:p>
        </p:txBody>
      </p:sp>
      <p:pic>
        <p:nvPicPr>
          <p:cNvPr id="4" name="Imagen 3"/>
          <p:cNvPicPr>
            <a:picLocks noChangeAspect="1"/>
          </p:cNvPicPr>
          <p:nvPr/>
        </p:nvPicPr>
        <p:blipFill>
          <a:blip r:embed="rId2"/>
          <a:stretch>
            <a:fillRect/>
          </a:stretch>
        </p:blipFill>
        <p:spPr>
          <a:xfrm>
            <a:off x="5817705" y="2188169"/>
            <a:ext cx="5857400" cy="3669292"/>
          </a:xfrm>
          <a:prstGeom prst="rect">
            <a:avLst/>
          </a:prstGeom>
        </p:spPr>
      </p:pic>
    </p:spTree>
    <p:extLst>
      <p:ext uri="{BB962C8B-B14F-4D97-AF65-F5344CB8AC3E}">
        <p14:creationId xmlns:p14="http://schemas.microsoft.com/office/powerpoint/2010/main" val="2041143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Problema</a:t>
            </a:r>
            <a:endParaRPr lang="en-US" b="1" dirty="0"/>
          </a:p>
        </p:txBody>
      </p:sp>
      <p:sp>
        <p:nvSpPr>
          <p:cNvPr id="3" name="Marcador de contenido 2"/>
          <p:cNvSpPr>
            <a:spLocks noGrp="1"/>
          </p:cNvSpPr>
          <p:nvPr>
            <p:ph idx="1"/>
          </p:nvPr>
        </p:nvSpPr>
        <p:spPr>
          <a:xfrm>
            <a:off x="838201" y="1825625"/>
            <a:ext cx="5430078" cy="4351338"/>
          </a:xfrm>
        </p:spPr>
        <p:txBody>
          <a:bodyPr>
            <a:normAutofit fontScale="92500" lnSpcReduction="20000"/>
          </a:bodyPr>
          <a:lstStyle/>
          <a:p>
            <a:pPr algn="just"/>
            <a:r>
              <a:rPr lang="es-MX" dirty="0" smtClean="0"/>
              <a:t>Digamos </a:t>
            </a:r>
            <a:r>
              <a:rPr lang="es-MX" dirty="0"/>
              <a:t>que tienes un objeto y quieres crear una copia exacta de él. ¿Cómo lo harías? En primer lugar, debes crear un nuevo objeto de la misma clase. Después debes recorrer todos los campos del objeto original y copiar sus valores en el nuevo objeto.</a:t>
            </a:r>
          </a:p>
          <a:p>
            <a:pPr algn="just"/>
            <a:r>
              <a:rPr lang="es-MX" dirty="0"/>
              <a:t>¡Bien! Pero hay una trampa. No todos los objetos se pueden copiar de este modo, porque algunos de los campos del objeto pueden ser privados e invisibles desde fuera del propio objeto.</a:t>
            </a:r>
          </a:p>
          <a:p>
            <a:endParaRPr lang="en-US" dirty="0"/>
          </a:p>
        </p:txBody>
      </p:sp>
      <p:pic>
        <p:nvPicPr>
          <p:cNvPr id="4" name="Imagen 3"/>
          <p:cNvPicPr>
            <a:picLocks noChangeAspect="1"/>
          </p:cNvPicPr>
          <p:nvPr/>
        </p:nvPicPr>
        <p:blipFill>
          <a:blip r:embed="rId2"/>
          <a:stretch>
            <a:fillRect/>
          </a:stretch>
        </p:blipFill>
        <p:spPr>
          <a:xfrm>
            <a:off x="6268279" y="1825625"/>
            <a:ext cx="5849166" cy="3305636"/>
          </a:xfrm>
          <a:prstGeom prst="rect">
            <a:avLst/>
          </a:prstGeom>
        </p:spPr>
      </p:pic>
    </p:spTree>
    <p:extLst>
      <p:ext uri="{BB962C8B-B14F-4D97-AF65-F5344CB8AC3E}">
        <p14:creationId xmlns:p14="http://schemas.microsoft.com/office/powerpoint/2010/main" val="13306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Componentes</a:t>
            </a:r>
            <a:r>
              <a:rPr lang="en-US" b="1" dirty="0"/>
              <a:t> del Prototype Pattern</a:t>
            </a:r>
          </a:p>
        </p:txBody>
      </p:sp>
      <p:sp>
        <p:nvSpPr>
          <p:cNvPr id="4" name="Rectangle 1"/>
          <p:cNvSpPr>
            <a:spLocks noGrp="1" noChangeArrowheads="1"/>
          </p:cNvSpPr>
          <p:nvPr>
            <p:ph idx="1"/>
          </p:nvPr>
        </p:nvSpPr>
        <p:spPr bwMode="auto">
          <a:xfrm>
            <a:off x="838201" y="1846857"/>
            <a:ext cx="10515600"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0000"/>
                </a:solidFill>
                <a:effectLst/>
                <a:latin typeface="Arial" panose="020B0604020202020204" pitchFamily="34" charset="0"/>
              </a:rPr>
              <a:t>Prototype (</a:t>
            </a:r>
            <a:r>
              <a:rPr kumimoji="0" lang="en-US" altLang="en-US" b="1" i="0" u="none" strike="noStrike" cap="none" normalizeH="0" baseline="0" dirty="0" err="1" smtClean="0">
                <a:ln>
                  <a:noFill/>
                </a:ln>
                <a:solidFill>
                  <a:srgbClr val="FF0000"/>
                </a:solidFill>
                <a:effectLst/>
                <a:latin typeface="Arial" panose="020B0604020202020204" pitchFamily="34" charset="0"/>
              </a:rPr>
              <a:t>Prototipo</a:t>
            </a:r>
            <a:r>
              <a:rPr kumimoji="0" lang="en-US" altLang="en-US" b="1" i="0" u="none" strike="noStrike" cap="none" normalizeH="0" baseline="0" dirty="0" smtClean="0">
                <a:ln>
                  <a:noFill/>
                </a:ln>
                <a:solidFill>
                  <a:srgbClr val="FF0000"/>
                </a:solidFill>
                <a:effectLst/>
                <a:latin typeface="Arial" panose="020B0604020202020204" pitchFamily="34" charset="0"/>
              </a:rPr>
              <a:t>)</a:t>
            </a:r>
            <a:r>
              <a:rPr kumimoji="0" lang="en-US" altLang="en-US" b="0" i="0" u="none" strike="noStrike" cap="none" normalizeH="0" baseline="0" dirty="0" smtClean="0">
                <a:ln>
                  <a:noFill/>
                </a:ln>
                <a:solidFill>
                  <a:srgbClr val="FF0000"/>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Arial" panose="020B0604020202020204" pitchFamily="34" charset="0"/>
              </a:rPr>
              <a:t>Una </a:t>
            </a:r>
            <a:r>
              <a:rPr kumimoji="0" lang="en-US" altLang="en-US" b="0" i="0" u="none" strike="noStrike" cap="none" normalizeH="0" baseline="0" dirty="0" err="1" smtClean="0">
                <a:ln>
                  <a:noFill/>
                </a:ln>
                <a:solidFill>
                  <a:schemeClr val="tx1"/>
                </a:solidFill>
                <a:effectLst/>
                <a:latin typeface="Arial" panose="020B0604020202020204" pitchFamily="34" charset="0"/>
              </a:rPr>
              <a:t>interfaz</a:t>
            </a:r>
            <a:r>
              <a:rPr kumimoji="0" lang="en-US" altLang="en-US" b="0" i="0" u="none" strike="noStrike" cap="none" normalizeH="0" baseline="0" dirty="0" smtClean="0">
                <a:ln>
                  <a:noFill/>
                </a:ln>
                <a:solidFill>
                  <a:schemeClr val="tx1"/>
                </a:solidFill>
                <a:effectLst/>
                <a:latin typeface="Arial" panose="020B0604020202020204" pitchFamily="34" charset="0"/>
              </a:rPr>
              <a:t> que </a:t>
            </a:r>
            <a:r>
              <a:rPr kumimoji="0" lang="en-US" altLang="en-US" b="0" i="0" u="none" strike="noStrike" cap="none" normalizeH="0" baseline="0" dirty="0" err="1" smtClean="0">
                <a:ln>
                  <a:noFill/>
                </a:ln>
                <a:solidFill>
                  <a:schemeClr val="tx1"/>
                </a:solidFill>
                <a:effectLst/>
                <a:latin typeface="Arial" panose="020B0604020202020204" pitchFamily="34" charset="0"/>
              </a:rPr>
              <a:t>declara</a:t>
            </a:r>
            <a:r>
              <a:rPr kumimoji="0" lang="en-US" altLang="en-US" b="0" i="0" u="none" strike="noStrike" cap="none" normalizeH="0" baseline="0" dirty="0" smtClean="0">
                <a:ln>
                  <a:noFill/>
                </a:ln>
                <a:solidFill>
                  <a:schemeClr val="tx1"/>
                </a:solidFill>
                <a:effectLst/>
                <a:latin typeface="Arial" panose="020B0604020202020204" pitchFamily="34" charset="0"/>
              </a:rPr>
              <a:t> un </a:t>
            </a:r>
            <a:r>
              <a:rPr kumimoji="0" lang="en-US" altLang="en-US" b="0" i="0" u="none" strike="noStrike" cap="none" normalizeH="0" baseline="0" dirty="0" err="1" smtClean="0">
                <a:ln>
                  <a:noFill/>
                </a:ln>
                <a:solidFill>
                  <a:schemeClr val="tx1"/>
                </a:solidFill>
                <a:effectLst/>
                <a:latin typeface="Arial" panose="020B0604020202020204" pitchFamily="34" charset="0"/>
              </a:rPr>
              <a:t>método</a:t>
            </a:r>
            <a:r>
              <a:rPr kumimoji="0" lang="en-US" altLang="en-US" b="0" i="0" u="none" strike="noStrike" cap="none" normalizeH="0" baseline="0" dirty="0" smtClean="0">
                <a:ln>
                  <a:noFill/>
                </a:ln>
                <a:solidFill>
                  <a:schemeClr val="tx1"/>
                </a:solidFill>
                <a:effectLst/>
                <a:latin typeface="Arial" panose="020B0604020202020204" pitchFamily="34" charset="0"/>
              </a:rPr>
              <a:t> para </a:t>
            </a:r>
            <a:r>
              <a:rPr kumimoji="0" lang="en-US" altLang="en-US" b="0" i="0" u="none" strike="noStrike" cap="none" normalizeH="0" baseline="0" dirty="0" err="1" smtClean="0">
                <a:ln>
                  <a:noFill/>
                </a:ln>
                <a:solidFill>
                  <a:schemeClr val="tx1"/>
                </a:solidFill>
                <a:effectLst/>
                <a:latin typeface="Arial" panose="020B0604020202020204" pitchFamily="34" charset="0"/>
              </a:rPr>
              <a:t>clonar</a:t>
            </a:r>
            <a:r>
              <a:rPr kumimoji="0" lang="en-US" altLang="en-US" b="0" i="0" u="none" strike="noStrike" cap="none" normalizeH="0" baseline="0" dirty="0" smtClean="0">
                <a:ln>
                  <a:noFill/>
                </a:ln>
                <a:solidFill>
                  <a:schemeClr val="tx1"/>
                </a:solidFill>
                <a:effectLst/>
                <a:latin typeface="Arial" panose="020B0604020202020204" pitchFamily="34" charset="0"/>
              </a:rPr>
              <a:t> el </a:t>
            </a:r>
            <a:r>
              <a:rPr kumimoji="0" lang="en-US" altLang="en-US" b="0" i="0" u="none" strike="noStrike" cap="none" normalizeH="0" baseline="0" dirty="0" err="1" smtClean="0">
                <a:ln>
                  <a:noFill/>
                </a:ln>
                <a:solidFill>
                  <a:schemeClr val="tx1"/>
                </a:solidFill>
                <a:effectLst/>
                <a:latin typeface="Arial" panose="020B0604020202020204" pitchFamily="34" charset="0"/>
              </a:rPr>
              <a:t>objeto</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err="1" smtClean="0">
                <a:ln>
                  <a:noFill/>
                </a:ln>
                <a:solidFill>
                  <a:schemeClr val="tx1"/>
                </a:solidFill>
                <a:effectLst/>
                <a:latin typeface="Arial" panose="020B0604020202020204" pitchFamily="34" charset="0"/>
              </a:rPr>
              <a:t>Por</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ejemplo</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err="1" smtClean="0">
                <a:ln>
                  <a:noFill/>
                </a:ln>
                <a:solidFill>
                  <a:srgbClr val="FF0000"/>
                </a:solidFill>
                <a:effectLst/>
                <a:latin typeface="Arial Unicode MS"/>
              </a:rPr>
              <a:t>ICloneable</a:t>
            </a:r>
            <a:r>
              <a:rPr kumimoji="0" lang="en-US" altLang="en-US" b="1" i="0" u="none" strike="noStrike" cap="none" normalizeH="0" baseline="0" dirty="0" smtClean="0">
                <a:ln>
                  <a:noFill/>
                </a:ln>
                <a:solidFill>
                  <a:srgbClr val="FF0000"/>
                </a:solidFill>
                <a:effectLst/>
              </a:rPr>
              <a:t> </a:t>
            </a:r>
            <a:r>
              <a:rPr kumimoji="0" lang="en-US" altLang="en-US" b="1" i="0" u="none" strike="noStrike" cap="none" normalizeH="0" baseline="0" dirty="0" err="1" smtClean="0">
                <a:ln>
                  <a:noFill/>
                </a:ln>
                <a:solidFill>
                  <a:srgbClr val="FF0000"/>
                </a:solidFill>
                <a:effectLst/>
              </a:rPr>
              <a:t>en</a:t>
            </a:r>
            <a:r>
              <a:rPr kumimoji="0" lang="en-US" altLang="en-US" b="1" i="0" u="none" strike="noStrike" cap="none" normalizeH="0" baseline="0" dirty="0" smtClean="0">
                <a:ln>
                  <a:noFill/>
                </a:ln>
                <a:solidFill>
                  <a:srgbClr val="FF0000"/>
                </a:solidFill>
                <a:effectLst/>
              </a:rPr>
              <a:t> C#.</a:t>
            </a:r>
            <a:endParaRPr kumimoji="0" lang="en-US" altLang="en-US" b="1" i="0" u="none" strike="noStrike" cap="none" normalizeH="0" baseline="0" dirty="0" smtClean="0">
              <a:ln>
                <a:noFill/>
              </a:ln>
              <a:solidFill>
                <a:srgbClr val="FF0000"/>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0000"/>
                </a:solidFill>
                <a:effectLst/>
                <a:latin typeface="Arial" panose="020B0604020202020204" pitchFamily="34" charset="0"/>
              </a:rPr>
              <a:t>Concrete Prototype (</a:t>
            </a:r>
            <a:r>
              <a:rPr kumimoji="0" lang="en-US" altLang="en-US" b="1" i="0" u="none" strike="noStrike" cap="none" normalizeH="0" baseline="0" dirty="0" err="1" smtClean="0">
                <a:ln>
                  <a:noFill/>
                </a:ln>
                <a:solidFill>
                  <a:srgbClr val="FF0000"/>
                </a:solidFill>
                <a:effectLst/>
                <a:latin typeface="Arial" panose="020B0604020202020204" pitchFamily="34" charset="0"/>
              </a:rPr>
              <a:t>Prototipo</a:t>
            </a:r>
            <a:r>
              <a:rPr kumimoji="0" lang="en-US" altLang="en-US" b="1" i="0" u="none" strike="noStrike" cap="none" normalizeH="0" baseline="0" dirty="0" smtClean="0">
                <a:ln>
                  <a:noFill/>
                </a:ln>
                <a:solidFill>
                  <a:srgbClr val="FF0000"/>
                </a:solidFill>
                <a:effectLst/>
                <a:latin typeface="Arial" panose="020B0604020202020204" pitchFamily="34" charset="0"/>
              </a:rPr>
              <a:t> </a:t>
            </a:r>
            <a:r>
              <a:rPr kumimoji="0" lang="en-US" altLang="en-US" b="1" i="0" u="none" strike="noStrike" cap="none" normalizeH="0" baseline="0" dirty="0" err="1" smtClean="0">
                <a:ln>
                  <a:noFill/>
                </a:ln>
                <a:solidFill>
                  <a:srgbClr val="FF0000"/>
                </a:solidFill>
                <a:effectLst/>
                <a:latin typeface="Arial" panose="020B0604020202020204" pitchFamily="34" charset="0"/>
              </a:rPr>
              <a:t>Concreto</a:t>
            </a:r>
            <a:r>
              <a:rPr kumimoji="0" lang="en-US" altLang="en-US" b="1" i="0" u="none" strike="noStrike" cap="none" normalizeH="0" baseline="0" dirty="0" smtClean="0">
                <a:ln>
                  <a:noFill/>
                </a:ln>
                <a:solidFill>
                  <a:srgbClr val="FF0000"/>
                </a:solidFill>
                <a:effectLst/>
                <a:latin typeface="Arial" panose="020B0604020202020204" pitchFamily="34" charset="0"/>
              </a:rPr>
              <a:t>)</a:t>
            </a:r>
            <a:r>
              <a:rPr kumimoji="0" lang="en-US" altLang="en-US" b="0" i="0" u="none" strike="noStrike" cap="none" normalizeH="0" baseline="0" dirty="0" smtClean="0">
                <a:ln>
                  <a:noFill/>
                </a:ln>
                <a:solidFill>
                  <a:srgbClr val="FF0000"/>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Arial" panose="020B0604020202020204" pitchFamily="34" charset="0"/>
              </a:rPr>
              <a:t>Una clase que </a:t>
            </a:r>
            <a:r>
              <a:rPr kumimoji="0" lang="en-US" altLang="en-US" b="0" i="0" u="none" strike="noStrike" cap="none" normalizeH="0" baseline="0" dirty="0" err="1" smtClean="0">
                <a:ln>
                  <a:noFill/>
                </a:ln>
                <a:solidFill>
                  <a:schemeClr val="tx1"/>
                </a:solidFill>
                <a:effectLst/>
                <a:latin typeface="Arial" panose="020B0604020202020204" pitchFamily="34" charset="0"/>
              </a:rPr>
              <a:t>implementa</a:t>
            </a:r>
            <a:r>
              <a:rPr kumimoji="0" lang="en-US" altLang="en-US" b="0" i="0" u="none" strike="noStrike" cap="none" normalizeH="0" baseline="0" dirty="0" smtClean="0">
                <a:ln>
                  <a:noFill/>
                </a:ln>
                <a:solidFill>
                  <a:schemeClr val="tx1"/>
                </a:solidFill>
                <a:effectLst/>
                <a:latin typeface="Arial" panose="020B0604020202020204" pitchFamily="34" charset="0"/>
              </a:rPr>
              <a:t> la </a:t>
            </a:r>
            <a:r>
              <a:rPr kumimoji="0" lang="en-US" altLang="en-US" b="0" i="0" u="none" strike="noStrike" cap="none" normalizeH="0" baseline="0" dirty="0" err="1" smtClean="0">
                <a:ln>
                  <a:noFill/>
                </a:ln>
                <a:solidFill>
                  <a:schemeClr val="tx1"/>
                </a:solidFill>
                <a:effectLst/>
                <a:latin typeface="Arial" panose="020B0604020202020204" pitchFamily="34" charset="0"/>
              </a:rPr>
              <a:t>interfaz</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Prototype</a:t>
            </a:r>
            <a:r>
              <a:rPr kumimoji="0" lang="en-US" altLang="en-US" b="0" i="0" u="none" strike="noStrike" cap="none" normalizeH="0" baseline="0" dirty="0" smtClean="0">
                <a:ln>
                  <a:noFill/>
                </a:ln>
                <a:solidFill>
                  <a:schemeClr val="tx1"/>
                </a:solidFill>
                <a:effectLst/>
              </a:rPr>
              <a:t> y define </a:t>
            </a:r>
            <a:r>
              <a:rPr kumimoji="0" lang="en-US" altLang="en-US" b="0" i="0" u="none" strike="noStrike" cap="none" normalizeH="0" baseline="0" dirty="0" err="1" smtClean="0">
                <a:ln>
                  <a:noFill/>
                </a:ln>
                <a:solidFill>
                  <a:schemeClr val="tx1"/>
                </a:solidFill>
                <a:effectLst/>
              </a:rPr>
              <a:t>cómo</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clonarse</a:t>
            </a:r>
            <a:r>
              <a:rPr kumimoji="0" lang="en-US" altLang="en-US" b="0" i="0" u="none" strike="noStrike" cap="none" normalizeH="0" baseline="0" dirty="0" smtClean="0">
                <a:ln>
                  <a:noFill/>
                </a:ln>
                <a:solidFill>
                  <a:schemeClr val="tx1"/>
                </a:solidFill>
                <a:effectLst/>
              </a:rPr>
              <a:t> a </a:t>
            </a:r>
            <a:r>
              <a:rPr kumimoji="0" lang="en-US" altLang="en-US" b="0" i="0" u="none" strike="noStrike" cap="none" normalizeH="0" baseline="0" dirty="0" err="1" smtClean="0">
                <a:ln>
                  <a:noFill/>
                </a:ln>
                <a:solidFill>
                  <a:schemeClr val="tx1"/>
                </a:solidFill>
                <a:effectLst/>
              </a:rPr>
              <a:t>sí</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misma</a:t>
            </a:r>
            <a:r>
              <a:rPr kumimoji="0" lang="en-US" altLang="en-US" b="0" i="0" u="none" strike="noStrike" cap="none" normalizeH="0" baseline="0" dirty="0" smtClean="0">
                <a:ln>
                  <a:noFill/>
                </a:ln>
                <a:solidFill>
                  <a:schemeClr val="tx1"/>
                </a:solidFill>
                <a:effectLst/>
              </a:rPr>
              <a:t>.</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Arial" panose="020B0604020202020204" pitchFamily="34" charset="0"/>
              </a:rPr>
              <a:t>Este </a:t>
            </a:r>
            <a:r>
              <a:rPr kumimoji="0" lang="en-US" altLang="en-US" b="0" i="0" u="none" strike="noStrike" cap="none" normalizeH="0" baseline="0" dirty="0" err="1" smtClean="0">
                <a:ln>
                  <a:noFill/>
                </a:ln>
                <a:solidFill>
                  <a:schemeClr val="tx1"/>
                </a:solidFill>
                <a:effectLst/>
                <a:latin typeface="Arial" panose="020B0604020202020204" pitchFamily="34" charset="0"/>
              </a:rPr>
              <a:t>método</a:t>
            </a:r>
            <a:r>
              <a:rPr kumimoji="0" lang="en-US" altLang="en-US" b="0" i="0" u="none" strike="noStrike" cap="none" normalizeH="0" baseline="0" dirty="0" smtClean="0">
                <a:ln>
                  <a:noFill/>
                </a:ln>
                <a:solidFill>
                  <a:schemeClr val="tx1"/>
                </a:solidFill>
                <a:effectLst/>
                <a:latin typeface="Arial" panose="020B0604020202020204" pitchFamily="34" charset="0"/>
              </a:rPr>
              <a:t> de </a:t>
            </a:r>
            <a:r>
              <a:rPr kumimoji="0" lang="en-US" altLang="en-US" b="0" i="0" u="none" strike="noStrike" cap="none" normalizeH="0" baseline="0" dirty="0" err="1" smtClean="0">
                <a:ln>
                  <a:noFill/>
                </a:ln>
                <a:solidFill>
                  <a:schemeClr val="tx1"/>
                </a:solidFill>
                <a:effectLst/>
                <a:latin typeface="Arial" panose="020B0604020202020204" pitchFamily="34" charset="0"/>
              </a:rPr>
              <a:t>clonación</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puede</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ser</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una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copia</a:t>
            </a:r>
            <a:r>
              <a:rPr kumimoji="0" lang="en-US" altLang="en-US" b="0" i="0" u="none" strike="noStrike" cap="none" normalizeH="0" baseline="0" dirty="0" smtClean="0">
                <a:ln>
                  <a:noFill/>
                </a:ln>
                <a:solidFill>
                  <a:schemeClr val="tx1"/>
                </a:solidFill>
                <a:effectLst/>
                <a:latin typeface="Arial" panose="020B0604020202020204" pitchFamily="34" charset="0"/>
              </a:rPr>
              <a:t> superficial (shallow copy) o </a:t>
            </a:r>
            <a:r>
              <a:rPr kumimoji="0" lang="en-US" altLang="en-US" b="0" i="0" u="none" strike="noStrike" cap="none" normalizeH="0" baseline="0" dirty="0" err="1" smtClean="0">
                <a:ln>
                  <a:noFill/>
                </a:ln>
                <a:solidFill>
                  <a:schemeClr val="tx1"/>
                </a:solidFill>
                <a:effectLst/>
                <a:latin typeface="Arial" panose="020B0604020202020204" pitchFamily="34" charset="0"/>
              </a:rPr>
              <a:t>una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copia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profunda</a:t>
            </a:r>
            <a:r>
              <a:rPr kumimoji="0" lang="en-US" altLang="en-US" b="0" i="0" u="none" strike="noStrike" cap="none" normalizeH="0" baseline="0" dirty="0" smtClean="0">
                <a:ln>
                  <a:noFill/>
                </a:ln>
                <a:solidFill>
                  <a:schemeClr val="tx1"/>
                </a:solidFill>
                <a:effectLst/>
                <a:latin typeface="Arial" panose="020B0604020202020204" pitchFamily="34" charset="0"/>
              </a:rPr>
              <a:t> (deep copy).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FF0000"/>
                </a:solidFill>
                <a:effectLst/>
                <a:latin typeface="Arial" panose="020B0604020202020204" pitchFamily="34" charset="0"/>
              </a:rPr>
              <a:t>Client (</a:t>
            </a:r>
            <a:r>
              <a:rPr kumimoji="0" lang="en-US" altLang="en-US" b="1" i="0" u="none" strike="noStrike" cap="none" normalizeH="0" baseline="0" dirty="0" err="1" smtClean="0">
                <a:ln>
                  <a:noFill/>
                </a:ln>
                <a:solidFill>
                  <a:srgbClr val="FF0000"/>
                </a:solidFill>
                <a:effectLst/>
                <a:latin typeface="Arial" panose="020B0604020202020204" pitchFamily="34" charset="0"/>
              </a:rPr>
              <a:t>Cliente</a:t>
            </a:r>
            <a:r>
              <a:rPr kumimoji="0" lang="en-US" altLang="en-US" b="1" i="0" u="none" strike="noStrike" cap="none" normalizeH="0" baseline="0" dirty="0" smtClean="0">
                <a:ln>
                  <a:noFill/>
                </a:ln>
                <a:solidFill>
                  <a:srgbClr val="FF0000"/>
                </a:solidFill>
                <a:effectLst/>
                <a:latin typeface="Arial" panose="020B0604020202020204" pitchFamily="34" charset="0"/>
              </a:rPr>
              <a:t>)</a:t>
            </a:r>
            <a:r>
              <a:rPr kumimoji="0" lang="en-US" altLang="en-US" b="0" i="0" u="none" strike="noStrike" cap="none" normalizeH="0" baseline="0" dirty="0" smtClean="0">
                <a:ln>
                  <a:noFill/>
                </a:ln>
                <a:solidFill>
                  <a:srgbClr val="FF0000"/>
                </a:solidFill>
                <a:effectLst/>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Arial" panose="020B0604020202020204" pitchFamily="34" charset="0"/>
              </a:rPr>
              <a:t>La </a:t>
            </a:r>
            <a:r>
              <a:rPr kumimoji="0" lang="en-US" altLang="en-US" b="0" i="0" u="none" strike="noStrike" cap="none" normalizeH="0" baseline="0" dirty="0" err="1" smtClean="0">
                <a:ln>
                  <a:noFill/>
                </a:ln>
                <a:solidFill>
                  <a:schemeClr val="tx1"/>
                </a:solidFill>
                <a:effectLst/>
                <a:latin typeface="Arial" panose="020B0604020202020204" pitchFamily="34" charset="0"/>
              </a:rPr>
              <a:t>clase</a:t>
            </a:r>
            <a:r>
              <a:rPr kumimoji="0" lang="en-US" altLang="en-US" b="0" i="0" u="none" strike="noStrike" cap="none" normalizeH="0" baseline="0" dirty="0" smtClean="0">
                <a:ln>
                  <a:noFill/>
                </a:ln>
                <a:solidFill>
                  <a:schemeClr val="tx1"/>
                </a:solidFill>
                <a:effectLst/>
                <a:latin typeface="Arial" panose="020B0604020202020204" pitchFamily="34" charset="0"/>
              </a:rPr>
              <a:t> que </a:t>
            </a:r>
            <a:r>
              <a:rPr kumimoji="0" lang="en-US" altLang="en-US" b="0" i="0" u="none" strike="noStrike" cap="none" normalizeH="0" baseline="0" dirty="0" err="1" smtClean="0">
                <a:ln>
                  <a:noFill/>
                </a:ln>
                <a:solidFill>
                  <a:schemeClr val="tx1"/>
                </a:solidFill>
                <a:effectLst/>
                <a:latin typeface="Arial" panose="020B0604020202020204" pitchFamily="34" charset="0"/>
              </a:rPr>
              <a:t>utiliza</a:t>
            </a:r>
            <a:r>
              <a:rPr kumimoji="0" lang="en-US" altLang="en-US" b="0" i="0" u="none" strike="noStrike" cap="none" normalizeH="0" baseline="0" dirty="0" smtClean="0">
                <a:ln>
                  <a:noFill/>
                </a:ln>
                <a:solidFill>
                  <a:schemeClr val="tx1"/>
                </a:solidFill>
                <a:effectLst/>
                <a:latin typeface="Arial" panose="020B0604020202020204" pitchFamily="34" charset="0"/>
              </a:rPr>
              <a:t> el </a:t>
            </a:r>
            <a:r>
              <a:rPr kumimoji="0" lang="en-US" altLang="en-US" b="0" i="0" u="none" strike="noStrike" cap="none" normalizeH="0" baseline="0" dirty="0" err="1" smtClean="0">
                <a:ln>
                  <a:noFill/>
                </a:ln>
                <a:solidFill>
                  <a:schemeClr val="tx1"/>
                </a:solidFill>
                <a:effectLst/>
                <a:latin typeface="Arial" panose="020B0604020202020204" pitchFamily="34" charset="0"/>
              </a:rPr>
              <a:t>prototipo</a:t>
            </a:r>
            <a:r>
              <a:rPr kumimoji="0" lang="en-US" altLang="en-US" b="0" i="0" u="none" strike="noStrike" cap="none" normalizeH="0" baseline="0" dirty="0" smtClean="0">
                <a:ln>
                  <a:noFill/>
                </a:ln>
                <a:solidFill>
                  <a:schemeClr val="tx1"/>
                </a:solidFill>
                <a:effectLst/>
                <a:latin typeface="Arial" panose="020B0604020202020204" pitchFamily="34" charset="0"/>
              </a:rPr>
              <a:t> para </a:t>
            </a:r>
            <a:r>
              <a:rPr kumimoji="0" lang="en-US" altLang="en-US" b="0" i="0" u="none" strike="noStrike" cap="none" normalizeH="0" baseline="0" dirty="0" err="1" smtClean="0">
                <a:ln>
                  <a:noFill/>
                </a:ln>
                <a:solidFill>
                  <a:schemeClr val="tx1"/>
                </a:solidFill>
                <a:effectLst/>
                <a:latin typeface="Arial" panose="020B0604020202020204" pitchFamily="34" charset="0"/>
              </a:rPr>
              <a:t>crear</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nuevos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objetos</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225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just"/>
            <a:r>
              <a:rPr lang="en-US" sz="2000" b="1" dirty="0" smtClean="0"/>
              <a:t>Ejemplo</a:t>
            </a:r>
            <a:r>
              <a:rPr lang="en-US" sz="2000" dirty="0" smtClean="0"/>
              <a:t> -&gt;</a:t>
            </a:r>
            <a:r>
              <a:rPr lang="es-MX" sz="2000" dirty="0"/>
              <a:t>Supongamos que tenemos una fábrica de autos que produce diferentes modelos (</a:t>
            </a:r>
            <a:r>
              <a:rPr lang="es-MX" sz="2000" dirty="0" err="1"/>
              <a:t>CarModel</a:t>
            </a:r>
            <a:r>
              <a:rPr lang="es-MX" sz="2000" dirty="0"/>
              <a:t>). Queremos crear múltiples copias de un modelo base pero personalizarlas en algunos detalles (como el color</a:t>
            </a:r>
            <a:r>
              <a:rPr lang="es-MX" sz="2000" dirty="0" smtClean="0"/>
              <a:t>).</a:t>
            </a:r>
            <a:endParaRPr lang="en-US" sz="2000" dirty="0"/>
          </a:p>
        </p:txBody>
      </p:sp>
      <p:sp>
        <p:nvSpPr>
          <p:cNvPr id="5" name="Rectangle 1"/>
          <p:cNvSpPr>
            <a:spLocks noChangeArrowheads="1"/>
          </p:cNvSpPr>
          <p:nvPr/>
        </p:nvSpPr>
        <p:spPr bwMode="auto">
          <a:xfrm>
            <a:off x="838200" y="1999985"/>
            <a:ext cx="51579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1. </a:t>
            </a:r>
            <a:r>
              <a:rPr kumimoji="0" lang="en-US" altLang="en-US" i="0" u="none" strike="noStrike" cap="none" normalizeH="0" baseline="0" dirty="0" smtClean="0">
                <a:ln>
                  <a:noFill/>
                </a:ln>
                <a:solidFill>
                  <a:schemeClr val="tx1"/>
                </a:solidFill>
                <a:effectLst/>
                <a:latin typeface="Arial" panose="020B0604020202020204" pitchFamily="34" charset="0"/>
              </a:rPr>
              <a:t>Interfaz</a:t>
            </a:r>
            <a:r>
              <a:rPr kumimoji="0" lang="en-US" altLang="en-US" b="1"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err="1" smtClean="0">
                <a:ln>
                  <a:noFill/>
                </a:ln>
                <a:solidFill>
                  <a:schemeClr val="tx1"/>
                </a:solidFill>
                <a:effectLst/>
                <a:latin typeface="Arial Unicode MS"/>
              </a:rPr>
              <a:t>IPrototype</a:t>
            </a:r>
            <a:r>
              <a:rPr kumimoji="0" lang="en-US" altLang="en-US" b="1" i="0" u="none" strike="noStrike" cap="none" normalizeH="0" baseline="0" dirty="0" smtClean="0">
                <a:ln>
                  <a:noFill/>
                </a:ln>
                <a:solidFill>
                  <a:schemeClr val="tx1"/>
                </a:solidFill>
                <a:effectLst/>
              </a:rPr>
              <a:t> </a:t>
            </a:r>
            <a:r>
              <a:rPr kumimoji="0" lang="en-US" altLang="en-US" i="0" u="none" strike="noStrike" cap="none" normalizeH="0" baseline="0" dirty="0" smtClean="0">
                <a:ln>
                  <a:noFill/>
                </a:ln>
                <a:solidFill>
                  <a:schemeClr val="tx1"/>
                </a:solidFill>
                <a:effectLst/>
              </a:rPr>
              <a:t>que actúa como Prototype </a:t>
            </a:r>
            <a:endParaRPr kumimoji="0" lang="en-US" altLang="en-US" i="0" u="none" strike="noStrike" cap="none" normalizeH="0" baseline="0" dirty="0" smtClean="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2"/>
          <a:stretch>
            <a:fillRect/>
          </a:stretch>
        </p:blipFill>
        <p:spPr>
          <a:xfrm>
            <a:off x="1962978" y="2728801"/>
            <a:ext cx="4528930" cy="1111393"/>
          </a:xfrm>
          <a:prstGeom prst="rect">
            <a:avLst/>
          </a:prstGeom>
        </p:spPr>
      </p:pic>
    </p:spTree>
    <p:extLst>
      <p:ext uri="{BB962C8B-B14F-4D97-AF65-F5344CB8AC3E}">
        <p14:creationId xmlns:p14="http://schemas.microsoft.com/office/powerpoint/2010/main" val="684531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1987826" y="405633"/>
            <a:ext cx="70738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2. Clases </a:t>
            </a:r>
            <a:r>
              <a:rPr kumimoji="0" lang="en-US" altLang="en-US" b="1" i="0" u="none" strike="noStrike" cap="none" normalizeH="0" baseline="0" dirty="0" err="1" smtClean="0">
                <a:ln>
                  <a:noFill/>
                </a:ln>
                <a:solidFill>
                  <a:schemeClr val="tx1"/>
                </a:solidFill>
                <a:effectLst/>
                <a:latin typeface="Arial" panose="020B0604020202020204" pitchFamily="34" charset="0"/>
              </a:rPr>
              <a:t>Concretas</a:t>
            </a:r>
            <a:r>
              <a:rPr kumimoji="0" lang="en-US" altLang="en-US" b="1" i="0" u="none" strike="noStrike" cap="none" normalizeH="0" baseline="0" dirty="0" smtClean="0">
                <a:ln>
                  <a:noFill/>
                </a:ln>
                <a:solidFill>
                  <a:schemeClr val="tx1"/>
                </a:solidFill>
                <a:effectLst/>
                <a:latin typeface="Arial" panose="020B0604020202020204" pitchFamily="34" charset="0"/>
              </a:rPr>
              <a:t> que </a:t>
            </a:r>
            <a:r>
              <a:rPr kumimoji="0" lang="en-US" altLang="en-US" b="1" i="0" u="none" strike="noStrike" cap="none" normalizeH="0" baseline="0" dirty="0" err="1" smtClean="0">
                <a:ln>
                  <a:noFill/>
                </a:ln>
                <a:solidFill>
                  <a:schemeClr val="tx1"/>
                </a:solidFill>
                <a:effectLst/>
                <a:latin typeface="Arial" panose="020B0604020202020204" pitchFamily="34" charset="0"/>
              </a:rPr>
              <a:t>implementan</a:t>
            </a:r>
            <a:r>
              <a:rPr kumimoji="0" lang="en-US" altLang="en-US" b="1" i="0" u="none" strike="noStrike" cap="none" normalizeH="0" baseline="0" dirty="0" smtClean="0">
                <a:ln>
                  <a:noFill/>
                </a:ln>
                <a:solidFill>
                  <a:schemeClr val="tx1"/>
                </a:solidFill>
                <a:effectLst/>
                <a:latin typeface="Arial" panose="020B0604020202020204" pitchFamily="34" charset="0"/>
              </a:rPr>
              <a:t> la </a:t>
            </a:r>
            <a:r>
              <a:rPr kumimoji="0" lang="en-US" altLang="en-US" b="1" i="0" u="none" strike="noStrike" cap="none" normalizeH="0" baseline="0" dirty="0" err="1" smtClean="0">
                <a:ln>
                  <a:noFill/>
                </a:ln>
                <a:solidFill>
                  <a:schemeClr val="tx1"/>
                </a:solidFill>
                <a:effectLst/>
                <a:latin typeface="Arial" panose="020B0604020202020204" pitchFamily="34" charset="0"/>
              </a:rPr>
              <a:t>interfaz</a:t>
            </a:r>
            <a:r>
              <a:rPr kumimoji="0" lang="en-US" altLang="en-US" b="1"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err="1" smtClean="0">
                <a:ln>
                  <a:noFill/>
                </a:ln>
                <a:solidFill>
                  <a:schemeClr val="tx1"/>
                </a:solidFill>
                <a:effectLst/>
                <a:latin typeface="Arial Unicode MS"/>
              </a:rPr>
              <a:t>IPrototype</a:t>
            </a:r>
            <a:r>
              <a:rPr kumimoji="0" lang="en-US" altLang="en-US" b="1" i="0" u="none" strike="noStrike" cap="none" normalizeH="0" baseline="0" dirty="0" smtClean="0">
                <a:ln>
                  <a:noFill/>
                </a:ln>
                <a:solidFill>
                  <a:schemeClr val="tx1"/>
                </a:solidFill>
                <a:effectLst/>
              </a:rPr>
              <a:t> </a:t>
            </a:r>
            <a:endParaRPr kumimoji="0" lang="en-US" altLang="en-US" b="1" i="0" u="none" strike="noStrike" cap="none" normalizeH="0" baseline="0" dirty="0" smtClean="0">
              <a:ln>
                <a:noFill/>
              </a:ln>
              <a:solidFill>
                <a:schemeClr val="tx1"/>
              </a:solidFill>
              <a:effectLst/>
              <a:latin typeface="Arial" panose="020B0604020202020204" pitchFamily="34" charset="0"/>
            </a:endParaRPr>
          </a:p>
        </p:txBody>
      </p:sp>
      <p:pic>
        <p:nvPicPr>
          <p:cNvPr id="3" name="Marcador de contenido 2"/>
          <p:cNvPicPr>
            <a:picLocks noGrp="1" noChangeAspect="1"/>
          </p:cNvPicPr>
          <p:nvPr>
            <p:ph idx="1"/>
          </p:nvPr>
        </p:nvPicPr>
        <p:blipFill>
          <a:blip r:embed="rId2"/>
          <a:stretch>
            <a:fillRect/>
          </a:stretch>
        </p:blipFill>
        <p:spPr>
          <a:xfrm>
            <a:off x="1987826" y="897298"/>
            <a:ext cx="5611344" cy="5675401"/>
          </a:xfrm>
          <a:prstGeom prst="rect">
            <a:avLst/>
          </a:prstGeom>
        </p:spPr>
      </p:pic>
      <p:sp>
        <p:nvSpPr>
          <p:cNvPr id="5" name="Rectangle 1"/>
          <p:cNvSpPr>
            <a:spLocks noChangeArrowheads="1"/>
          </p:cNvSpPr>
          <p:nvPr/>
        </p:nvSpPr>
        <p:spPr bwMode="auto">
          <a:xfrm>
            <a:off x="8189844" y="1523979"/>
            <a:ext cx="30480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MemberwiseClone</a:t>
            </a:r>
            <a:r>
              <a:rPr kumimoji="0" lang="en-US" altLang="en-US" sz="2000" b="1" i="0" u="none" strike="noStrike" cap="none" normalizeH="0" baseline="0" dirty="0" smtClean="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latin typeface="Arial" panose="020B0604020202020204" pitchFamily="34" charset="0"/>
              </a:rPr>
              <a:t/>
            </a:r>
            <a:br>
              <a:rPr kumimoji="0" lang="en-US" altLang="en-US" sz="800" b="0" i="0" u="none" strike="noStrike" cap="none" normalizeH="0" baseline="0" dirty="0" smtClean="0">
                <a:ln>
                  <a:noFill/>
                </a:ln>
                <a:solidFill>
                  <a:schemeClr val="tx1"/>
                </a:solidFill>
                <a:effectLst/>
                <a:latin typeface="Arial" panose="020B0604020202020204" pitchFamily="34" charset="0"/>
              </a:rPr>
            </a:br>
            <a:r>
              <a:rPr kumimoji="0" lang="en-US" altLang="en-US" sz="2000" b="0" i="0" u="none" strike="noStrike" cap="none" normalizeH="0" baseline="0" dirty="0" smtClean="0">
                <a:ln>
                  <a:noFill/>
                </a:ln>
                <a:solidFill>
                  <a:schemeClr val="tx1"/>
                </a:solidFill>
                <a:effectLst/>
                <a:latin typeface="Arial" panose="020B0604020202020204" pitchFamily="34" charset="0"/>
              </a:rPr>
              <a:t>Este </a:t>
            </a:r>
            <a:r>
              <a:rPr kumimoji="0" lang="en-US" altLang="en-US" sz="2000" b="0" i="0" u="none" strike="noStrike" cap="none" normalizeH="0" baseline="0" dirty="0" err="1" smtClean="0">
                <a:ln>
                  <a:noFill/>
                </a:ln>
                <a:solidFill>
                  <a:schemeClr val="tx1"/>
                </a:solidFill>
                <a:effectLst/>
                <a:latin typeface="Arial" panose="020B0604020202020204" pitchFamily="34" charset="0"/>
              </a:rPr>
              <a:t>método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realiza</a:t>
            </a:r>
            <a:r>
              <a:rPr kumimoji="0" lang="en-US" altLang="en-US" sz="2000" b="0" i="0" u="none" strike="noStrike" cap="none" normalizeH="0" baseline="0" dirty="0" smtClean="0">
                <a:ln>
                  <a:noFill/>
                </a:ln>
                <a:solidFill>
                  <a:schemeClr val="tx1"/>
                </a:solidFill>
                <a:effectLst/>
                <a:latin typeface="Arial" panose="020B0604020202020204" pitchFamily="34" charset="0"/>
              </a:rPr>
              <a:t> una </a:t>
            </a:r>
            <a:r>
              <a:rPr kumimoji="0" lang="en-US" altLang="en-US" sz="2000" b="0" i="0" u="none" strike="noStrike" cap="none" normalizeH="0" baseline="0" dirty="0" err="1" smtClean="0">
                <a:ln>
                  <a:noFill/>
                </a:ln>
                <a:solidFill>
                  <a:schemeClr val="tx1"/>
                </a:solidFill>
                <a:effectLst/>
                <a:latin typeface="Arial" panose="020B0604020202020204" pitchFamily="34" charset="0"/>
              </a:rPr>
              <a:t>clonación</a:t>
            </a:r>
            <a:r>
              <a:rPr kumimoji="0" lang="en-US" altLang="en-US" sz="2000" b="0" i="0" u="none" strike="noStrike" cap="none" normalizeH="0" baseline="0" dirty="0" smtClean="0">
                <a:ln>
                  <a:noFill/>
                </a:ln>
                <a:solidFill>
                  <a:schemeClr val="tx1"/>
                </a:solidFill>
                <a:effectLst/>
                <a:latin typeface="Arial" panose="020B0604020202020204" pitchFamily="34" charset="0"/>
              </a:rPr>
              <a:t> superficial </a:t>
            </a:r>
            <a:r>
              <a:rPr kumimoji="0" lang="en-US" altLang="en-US" sz="2000" b="1" i="0" u="none" strike="noStrike" cap="none" normalizeH="0" baseline="0" dirty="0" smtClean="0">
                <a:ln>
                  <a:noFill/>
                </a:ln>
                <a:solidFill>
                  <a:schemeClr val="tx1"/>
                </a:solidFill>
                <a:effectLst/>
                <a:latin typeface="Arial" panose="020B0604020202020204" pitchFamily="34" charset="0"/>
              </a:rPr>
              <a:t>(shallow copy), </a:t>
            </a:r>
            <a:r>
              <a:rPr kumimoji="0" lang="en-US" altLang="en-US" sz="2000" b="0" i="0" u="none" strike="noStrike" cap="none" normalizeH="0" baseline="0" dirty="0" err="1" smtClean="0">
                <a:ln>
                  <a:noFill/>
                </a:ln>
                <a:solidFill>
                  <a:schemeClr val="tx1"/>
                </a:solidFill>
                <a:effectLst/>
                <a:latin typeface="Arial" panose="020B0604020202020204" pitchFamily="34" charset="0"/>
              </a:rPr>
              <a:t>es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decir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copia</a:t>
            </a:r>
            <a:r>
              <a:rPr kumimoji="0" lang="en-US" altLang="en-US" sz="2000" b="0" i="0" u="none" strike="noStrike" cap="none" normalizeH="0" baseline="0" dirty="0" smtClean="0">
                <a:ln>
                  <a:noFill/>
                </a:ln>
                <a:solidFill>
                  <a:schemeClr val="tx1"/>
                </a:solidFill>
                <a:effectLst/>
                <a:latin typeface="Arial" panose="020B0604020202020204" pitchFamily="34" charset="0"/>
              </a:rPr>
              <a:t> los </a:t>
            </a:r>
            <a:r>
              <a:rPr kumimoji="0" lang="en-US" altLang="en-US" sz="2000" b="0" i="0" u="none" strike="noStrike" cap="none" normalizeH="0" baseline="0" dirty="0" err="1" smtClean="0">
                <a:ln>
                  <a:noFill/>
                </a:ln>
                <a:solidFill>
                  <a:schemeClr val="tx1"/>
                </a:solidFill>
                <a:effectLst/>
                <a:latin typeface="Arial" panose="020B0604020202020204" pitchFamily="34" charset="0"/>
              </a:rPr>
              <a:t>valores</a:t>
            </a:r>
            <a:r>
              <a:rPr kumimoji="0" lang="en-US" altLang="en-US" sz="2000" b="0" i="0" u="none" strike="noStrike" cap="none" normalizeH="0" baseline="0" dirty="0" smtClean="0">
                <a:ln>
                  <a:noFill/>
                </a:ln>
                <a:solidFill>
                  <a:schemeClr val="tx1"/>
                </a:solidFill>
                <a:effectLst/>
                <a:latin typeface="Arial" panose="020B0604020202020204" pitchFamily="34" charset="0"/>
              </a:rPr>
              <a:t> de los </a:t>
            </a:r>
            <a:r>
              <a:rPr kumimoji="0" lang="en-US" altLang="en-US" sz="2000" b="0" i="0" u="none" strike="noStrike" cap="none" normalizeH="0" baseline="0" dirty="0" err="1" smtClean="0">
                <a:ln>
                  <a:noFill/>
                </a:ln>
                <a:solidFill>
                  <a:schemeClr val="tx1"/>
                </a:solidFill>
                <a:effectLst/>
                <a:latin typeface="Arial" panose="020B0604020202020204" pitchFamily="34" charset="0"/>
              </a:rPr>
              <a:t>campos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directamente</a:t>
            </a:r>
            <a:r>
              <a:rPr kumimoji="0" lang="en-US" altLang="en-US" sz="2000" b="0" i="0" u="none" strike="noStrike" cap="none" normalizeH="0" baseline="0" dirty="0" smtClean="0">
                <a:ln>
                  <a:noFill/>
                </a:ln>
                <a:solidFill>
                  <a:schemeClr val="tx1"/>
                </a:solidFill>
                <a:effectLst/>
                <a:latin typeface="Arial" panose="020B0604020202020204" pitchFamily="34" charset="0"/>
              </a:rPr>
              <a:t>. Si un campo </a:t>
            </a:r>
            <a:r>
              <a:rPr kumimoji="0" lang="en-US" altLang="en-US" sz="2000" b="0" i="0" u="none" strike="noStrike" cap="none" normalizeH="0" baseline="0" dirty="0" err="1" smtClean="0">
                <a:ln>
                  <a:noFill/>
                </a:ln>
                <a:solidFill>
                  <a:schemeClr val="tx1"/>
                </a:solidFill>
                <a:effectLst/>
                <a:latin typeface="Arial" panose="020B0604020202020204" pitchFamily="34" charset="0"/>
              </a:rPr>
              <a:t>es</a:t>
            </a:r>
            <a:r>
              <a:rPr kumimoji="0" lang="en-US" altLang="en-US" sz="2000" b="0" i="0" u="none" strike="noStrike" cap="none" normalizeH="0" baseline="0" dirty="0" smtClean="0">
                <a:ln>
                  <a:noFill/>
                </a:ln>
                <a:solidFill>
                  <a:schemeClr val="tx1"/>
                </a:solidFill>
                <a:effectLst/>
                <a:latin typeface="Arial" panose="020B0604020202020204" pitchFamily="34" charset="0"/>
              </a:rPr>
              <a:t> un </a:t>
            </a:r>
            <a:r>
              <a:rPr kumimoji="0" lang="en-US" altLang="en-US" sz="2000" b="0" i="0" u="none" strike="noStrike" cap="none" normalizeH="0" baseline="0" dirty="0" err="1" smtClean="0">
                <a:ln>
                  <a:noFill/>
                </a:ln>
                <a:solidFill>
                  <a:schemeClr val="tx1"/>
                </a:solidFill>
                <a:effectLst/>
                <a:latin typeface="Arial" panose="020B0604020202020204" pitchFamily="34" charset="0"/>
              </a:rPr>
              <a:t>objeto</a:t>
            </a:r>
            <a:r>
              <a:rPr kumimoji="0" lang="en-US" altLang="en-US" sz="2000" b="0" i="0" u="none" strike="noStrike" cap="none" normalizeH="0" baseline="0" dirty="0" smtClean="0">
                <a:ln>
                  <a:noFill/>
                </a:ln>
                <a:solidFill>
                  <a:schemeClr val="tx1"/>
                </a:solidFill>
                <a:effectLst/>
                <a:latin typeface="Arial" panose="020B0604020202020204" pitchFamily="34" charset="0"/>
              </a:rPr>
              <a:t>, solo se </a:t>
            </a:r>
            <a:r>
              <a:rPr kumimoji="0" lang="en-US" altLang="en-US" sz="2000" b="0" i="0" u="none" strike="noStrike" cap="none" normalizeH="0" baseline="0" dirty="0" err="1" smtClean="0">
                <a:ln>
                  <a:noFill/>
                </a:ln>
                <a:solidFill>
                  <a:schemeClr val="tx1"/>
                </a:solidFill>
                <a:effectLst/>
                <a:latin typeface="Arial" panose="020B0604020202020204" pitchFamily="34" charset="0"/>
              </a:rPr>
              <a:t>copia</a:t>
            </a:r>
            <a:r>
              <a:rPr kumimoji="0" lang="en-US" altLang="en-US" sz="2000" b="0" i="0" u="none" strike="noStrike" cap="none" normalizeH="0" baseline="0" dirty="0" smtClean="0">
                <a:ln>
                  <a:noFill/>
                </a:ln>
                <a:solidFill>
                  <a:schemeClr val="tx1"/>
                </a:solidFill>
                <a:effectLst/>
                <a:latin typeface="Arial" panose="020B0604020202020204" pitchFamily="34" charset="0"/>
              </a:rPr>
              <a:t> la </a:t>
            </a:r>
            <a:r>
              <a:rPr kumimoji="0" lang="en-US" altLang="en-US" sz="2000" b="0" i="0" u="none" strike="noStrike" cap="none" normalizeH="0" baseline="0" dirty="0" err="1" smtClean="0">
                <a:ln>
                  <a:noFill/>
                </a:ln>
                <a:solidFill>
                  <a:schemeClr val="tx1"/>
                </a:solidFill>
                <a:effectLst/>
                <a:latin typeface="Arial" panose="020B0604020202020204" pitchFamily="34" charset="0"/>
              </a:rPr>
              <a:t>referencia</a:t>
            </a:r>
            <a:r>
              <a:rPr kumimoji="0" lang="en-US" altLang="en-US" sz="2000" b="0" i="0" u="none" strike="noStrike" cap="none" normalizeH="0" baseline="0" dirty="0" smtClean="0">
                <a:ln>
                  <a:noFill/>
                </a:ln>
                <a:solidFill>
                  <a:schemeClr val="tx1"/>
                </a:solidFill>
                <a:effectLst/>
                <a:latin typeface="Arial" panose="020B0604020202020204" pitchFamily="34" charset="0"/>
              </a:rPr>
              <a:t>, no el </a:t>
            </a:r>
            <a:r>
              <a:rPr kumimoji="0" lang="en-US" altLang="en-US" sz="2000" b="0" i="0" u="none" strike="noStrike" cap="none" normalizeH="0" baseline="0" dirty="0" err="1" smtClean="0">
                <a:ln>
                  <a:noFill/>
                </a:ln>
                <a:solidFill>
                  <a:schemeClr val="tx1"/>
                </a:solidFill>
                <a:effectLst/>
                <a:latin typeface="Arial" panose="020B0604020202020204" pitchFamily="34" charset="0"/>
              </a:rPr>
              <a:t>contenido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3398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108778" y="675860"/>
            <a:ext cx="5060854" cy="5738192"/>
          </a:xfrm>
          <a:prstGeom prst="rect">
            <a:avLst/>
          </a:prstGeom>
        </p:spPr>
      </p:pic>
      <p:sp>
        <p:nvSpPr>
          <p:cNvPr id="5" name="Rectángulo 4"/>
          <p:cNvSpPr/>
          <p:nvPr/>
        </p:nvSpPr>
        <p:spPr>
          <a:xfrm>
            <a:off x="7129669" y="1920413"/>
            <a:ext cx="2822713" cy="2369880"/>
          </a:xfrm>
          <a:prstGeom prst="rect">
            <a:avLst/>
          </a:prstGeom>
        </p:spPr>
        <p:txBody>
          <a:bodyPr wrap="square">
            <a:spAutoFit/>
          </a:bodyPr>
          <a:lstStyle/>
          <a:p>
            <a:pPr algn="just"/>
            <a:r>
              <a:rPr lang="es-MX" sz="2000" b="1" dirty="0"/>
              <a:t>Client (Utiliza el prototipo para crear objetos</a:t>
            </a:r>
            <a:r>
              <a:rPr lang="es-MX" sz="2000" b="1" dirty="0" smtClean="0"/>
              <a:t>)</a:t>
            </a:r>
          </a:p>
          <a:p>
            <a:pPr algn="just"/>
            <a:endParaRPr lang="es-MX" sz="800" b="1" dirty="0"/>
          </a:p>
          <a:p>
            <a:pPr algn="just"/>
            <a:r>
              <a:rPr lang="es-MX" sz="2000" dirty="0"/>
              <a:t>El cliente trabaja con un objeto prototipo para generar copias y personalizarlas.</a:t>
            </a:r>
          </a:p>
        </p:txBody>
      </p:sp>
    </p:spTree>
    <p:extLst>
      <p:ext uri="{BB962C8B-B14F-4D97-AF65-F5344CB8AC3E}">
        <p14:creationId xmlns:p14="http://schemas.microsoft.com/office/powerpoint/2010/main" val="2722590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TIPOS DE CLONES</a:t>
            </a:r>
            <a:endParaRPr lang="en-US" b="1" dirty="0"/>
          </a:p>
        </p:txBody>
      </p:sp>
      <p:sp>
        <p:nvSpPr>
          <p:cNvPr id="4" name="Rectangle 1"/>
          <p:cNvSpPr>
            <a:spLocks noGrp="1" noChangeArrowheads="1"/>
          </p:cNvSpPr>
          <p:nvPr>
            <p:ph idx="1"/>
          </p:nvPr>
        </p:nvSpPr>
        <p:spPr bwMode="auto">
          <a:xfrm>
            <a:off x="838200" y="1559419"/>
            <a:ext cx="10515600"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Unicode MS"/>
              </a:rPr>
              <a:t>MemberwiseClone</a:t>
            </a:r>
            <a:endParaRPr kumimoji="0" lang="en-US" altLang="en-US" sz="2000" b="1" i="0" u="none" strike="noStrike" cap="none" normalizeH="0" baseline="0" dirty="0" smtClean="0">
              <a:ln>
                <a:noFill/>
              </a:ln>
              <a:solidFill>
                <a:schemeClr val="tx1"/>
              </a:solidFill>
              <a:effectLst/>
              <a:latin typeface="Arial Unicode MS"/>
            </a:endParaRPr>
          </a:p>
          <a:p>
            <a:pPr marL="457200" lvl="1" indent="0" algn="just" eaLnBrk="0" fontAlgn="base" hangingPunct="0">
              <a:lnSpc>
                <a:spcPct val="100000"/>
              </a:lnSpc>
              <a:spcBef>
                <a:spcPct val="0"/>
              </a:spcBef>
              <a:spcAft>
                <a:spcPct val="0"/>
              </a:spcAft>
              <a:buFontTx/>
              <a:buNone/>
            </a:pPr>
            <a:r>
              <a:rPr kumimoji="0" lang="en-US" altLang="en-US" sz="1800" b="0" i="0" u="none" strike="noStrike" cap="none" normalizeH="0" baseline="0" dirty="0" err="1" smtClean="0">
                <a:ln>
                  <a:noFill/>
                </a:ln>
                <a:solidFill>
                  <a:schemeClr val="tx1"/>
                </a:solidFill>
                <a:effectLst/>
              </a:rPr>
              <a:t>Es</a:t>
            </a:r>
            <a:r>
              <a:rPr kumimoji="0" lang="en-US" altLang="en-US" sz="1800" b="0" i="0" u="none" strike="noStrike" cap="none" normalizeH="0" baseline="0" dirty="0" smtClean="0">
                <a:ln>
                  <a:noFill/>
                </a:ln>
                <a:solidFill>
                  <a:schemeClr val="tx1"/>
                </a:solidFill>
                <a:effectLst/>
              </a:rPr>
              <a:t> un </a:t>
            </a:r>
            <a:r>
              <a:rPr kumimoji="0" lang="en-US" altLang="en-US" sz="1800" b="0" i="0" u="none" strike="noStrike" cap="none" normalizeH="0" baseline="0" dirty="0" err="1" smtClean="0">
                <a:ln>
                  <a:noFill/>
                </a:ln>
                <a:solidFill>
                  <a:schemeClr val="tx1"/>
                </a:solidFill>
                <a:effectLst/>
              </a:rPr>
              <a:t>método</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protegido</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en</a:t>
            </a:r>
            <a:r>
              <a:rPr kumimoji="0" lang="en-US" altLang="en-US" sz="1800" b="0" i="0" u="none" strike="noStrike" cap="none" normalizeH="0" baseline="0" dirty="0" smtClean="0">
                <a:ln>
                  <a:noFill/>
                </a:ln>
                <a:solidFill>
                  <a:schemeClr val="tx1"/>
                </a:solidFill>
                <a:effectLst/>
              </a:rPr>
              <a:t> la </a:t>
            </a:r>
            <a:r>
              <a:rPr kumimoji="0" lang="en-US" altLang="en-US" sz="1800" b="0" i="0" u="none" strike="noStrike" cap="none" normalizeH="0" baseline="0" dirty="0" err="1" smtClean="0">
                <a:ln>
                  <a:noFill/>
                </a:ln>
                <a:solidFill>
                  <a:schemeClr val="tx1"/>
                </a:solidFill>
                <a:effectLst/>
              </a:rPr>
              <a:t>clase</a:t>
            </a:r>
            <a:r>
              <a:rPr kumimoji="0" lang="en-US" altLang="en-US" sz="1800" b="0" i="0" u="none" strike="noStrike" cap="none" normalizeH="0" baseline="0" dirty="0" smtClean="0">
                <a:ln>
                  <a:noFill/>
                </a:ln>
                <a:solidFill>
                  <a:schemeClr val="tx1"/>
                </a:solidFill>
                <a:effectLst/>
              </a:rPr>
              <a:t> base </a:t>
            </a:r>
            <a:r>
              <a:rPr kumimoji="0" lang="en-US" altLang="en-US" sz="1800" b="0" i="0" u="none" strike="noStrike" cap="none" normalizeH="0" baseline="0" dirty="0" smtClean="0">
                <a:ln>
                  <a:noFill/>
                </a:ln>
                <a:solidFill>
                  <a:schemeClr val="tx1"/>
                </a:solidFill>
                <a:effectLst/>
                <a:latin typeface="Arial Unicode MS"/>
              </a:rPr>
              <a:t>Object</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en</a:t>
            </a:r>
            <a:r>
              <a:rPr kumimoji="0" lang="en-US" altLang="en-US" sz="1800" b="0" i="0" u="none" strike="noStrike" cap="none" normalizeH="0" baseline="0" dirty="0" smtClean="0">
                <a:ln>
                  <a:noFill/>
                </a:ln>
                <a:solidFill>
                  <a:schemeClr val="tx1"/>
                </a:solidFill>
                <a:effectLst/>
              </a:rPr>
              <a:t> .NET que </a:t>
            </a:r>
            <a:r>
              <a:rPr kumimoji="0" lang="en-US" altLang="en-US" sz="1800" b="0" i="0" u="none" strike="noStrike" cap="none" normalizeH="0" baseline="0" dirty="0" err="1" smtClean="0">
                <a:ln>
                  <a:noFill/>
                </a:ln>
                <a:solidFill>
                  <a:schemeClr val="tx1"/>
                </a:solidFill>
                <a:effectLst/>
              </a:rPr>
              <a:t>crea</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una</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copia</a:t>
            </a:r>
            <a:r>
              <a:rPr kumimoji="0" lang="en-US" altLang="en-US" sz="1800" b="0" i="0" u="none" strike="noStrike" cap="none" normalizeH="0" baseline="0" dirty="0" smtClean="0">
                <a:ln>
                  <a:noFill/>
                </a:ln>
                <a:solidFill>
                  <a:schemeClr val="tx1"/>
                </a:solidFill>
                <a:effectLst/>
              </a:rPr>
              <a:t> </a:t>
            </a:r>
            <a:r>
              <a:rPr kumimoji="0" lang="en-US" altLang="en-US" sz="1800" b="1" i="0" u="none" strike="noStrike" cap="none" normalizeH="0" baseline="0" dirty="0" smtClean="0">
                <a:ln>
                  <a:noFill/>
                </a:ln>
                <a:solidFill>
                  <a:srgbClr val="FF0000"/>
                </a:solidFill>
                <a:effectLst/>
              </a:rPr>
              <a:t>superficial del </a:t>
            </a:r>
            <a:r>
              <a:rPr kumimoji="0" lang="en-US" altLang="en-US" sz="1800" b="1" i="0" u="none" strike="noStrike" cap="none" normalizeH="0" baseline="0" dirty="0" err="1" smtClean="0">
                <a:ln>
                  <a:noFill/>
                </a:ln>
                <a:solidFill>
                  <a:srgbClr val="FF0000"/>
                </a:solidFill>
                <a:effectLst/>
              </a:rPr>
              <a:t>objeto</a:t>
            </a:r>
            <a:r>
              <a:rPr kumimoji="0" lang="en-US" altLang="en-US" sz="1800" b="1" i="0" u="none" strike="noStrike" cap="none" normalizeH="0" baseline="0" dirty="0" smtClean="0">
                <a:ln>
                  <a:noFill/>
                </a:ln>
                <a:solidFill>
                  <a:srgbClr val="FF0000"/>
                </a:solidFill>
                <a:effectLst/>
              </a:rPr>
              <a:t> actual</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Esto</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significa</a:t>
            </a:r>
            <a:r>
              <a:rPr kumimoji="0" lang="en-US" altLang="en-US" sz="1800" b="0" i="0" u="none" strike="noStrike" cap="none" normalizeH="0" baseline="0" dirty="0" smtClean="0">
                <a:ln>
                  <a:noFill/>
                </a:ln>
                <a:solidFill>
                  <a:schemeClr val="tx1"/>
                </a:solidFill>
                <a:effectLst/>
              </a:rPr>
              <a:t> que </a:t>
            </a:r>
            <a:r>
              <a:rPr kumimoji="0" lang="en-US" altLang="en-US" sz="1800" b="0" i="0" u="none" strike="noStrike" cap="none" normalizeH="0" baseline="0" dirty="0" err="1" smtClean="0">
                <a:ln>
                  <a:noFill/>
                </a:ln>
                <a:solidFill>
                  <a:schemeClr val="tx1"/>
                </a:solidFill>
                <a:effectLst/>
              </a:rPr>
              <a:t>copia</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los</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valores</a:t>
            </a:r>
            <a:r>
              <a:rPr kumimoji="0" lang="en-US" altLang="en-US" sz="1800" b="0" i="0" u="none" strike="noStrike" cap="none" normalizeH="0" baseline="0" dirty="0" smtClean="0">
                <a:ln>
                  <a:noFill/>
                </a:ln>
                <a:solidFill>
                  <a:schemeClr val="tx1"/>
                </a:solidFill>
                <a:effectLst/>
              </a:rPr>
              <a:t> de </a:t>
            </a:r>
            <a:r>
              <a:rPr kumimoji="0" lang="en-US" altLang="en-US" sz="1800" b="0" i="0" u="none" strike="noStrike" cap="none" normalizeH="0" baseline="0" dirty="0" err="1" smtClean="0">
                <a:ln>
                  <a:noFill/>
                </a:ln>
                <a:solidFill>
                  <a:schemeClr val="tx1"/>
                </a:solidFill>
                <a:effectLst/>
              </a:rPr>
              <a:t>los</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campos</a:t>
            </a:r>
            <a:r>
              <a:rPr kumimoji="0" lang="en-US" altLang="en-US" sz="1800" b="0" i="0" u="none" strike="noStrike" cap="none" normalizeH="0" baseline="0" dirty="0" smtClean="0">
                <a:ln>
                  <a:noFill/>
                </a:ln>
                <a:solidFill>
                  <a:schemeClr val="tx1"/>
                </a:solidFill>
                <a:effectLst/>
              </a:rPr>
              <a:t> de </a:t>
            </a:r>
            <a:r>
              <a:rPr kumimoji="0" lang="en-US" altLang="en-US" sz="1800" b="0" i="0" u="none" strike="noStrike" cap="none" normalizeH="0" baseline="0" dirty="0" err="1" smtClean="0">
                <a:ln>
                  <a:noFill/>
                </a:ln>
                <a:solidFill>
                  <a:schemeClr val="tx1"/>
                </a:solidFill>
                <a:effectLst/>
              </a:rPr>
              <a:t>datos</a:t>
            </a:r>
            <a:r>
              <a:rPr kumimoji="0" lang="en-US" altLang="en-US" sz="1800" b="0" i="0" u="none" strike="noStrike" cap="none" normalizeH="0" baseline="0" dirty="0" smtClean="0">
                <a:ln>
                  <a:noFill/>
                </a:ln>
                <a:solidFill>
                  <a:schemeClr val="tx1"/>
                </a:solidFill>
                <a:effectLst/>
              </a:rPr>
              <a:t> del </a:t>
            </a:r>
            <a:r>
              <a:rPr kumimoji="0" lang="en-US" altLang="en-US" sz="1800" b="0" i="0" u="none" strike="noStrike" cap="none" normalizeH="0" baseline="0" dirty="0" err="1" smtClean="0">
                <a:ln>
                  <a:noFill/>
                </a:ln>
                <a:solidFill>
                  <a:schemeClr val="tx1"/>
                </a:solidFill>
                <a:effectLst/>
              </a:rPr>
              <a:t>objeto</a:t>
            </a:r>
            <a:r>
              <a:rPr kumimoji="0" lang="en-US" altLang="en-US" sz="1800" b="0" i="0" u="none" strike="noStrike" cap="none" normalizeH="0" baseline="0" dirty="0" smtClean="0">
                <a:ln>
                  <a:noFill/>
                </a:ln>
                <a:solidFill>
                  <a:schemeClr val="tx1"/>
                </a:solidFill>
                <a:effectLst/>
              </a:rPr>
              <a:t> actual al </a:t>
            </a:r>
            <a:r>
              <a:rPr kumimoji="0" lang="en-US" altLang="en-US" sz="1800" b="0" i="0" u="none" strike="noStrike" cap="none" normalizeH="0" baseline="0" dirty="0" err="1" smtClean="0">
                <a:ln>
                  <a:noFill/>
                </a:ln>
                <a:solidFill>
                  <a:schemeClr val="tx1"/>
                </a:solidFill>
                <a:effectLst/>
              </a:rPr>
              <a:t>nuevo</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objeto</a:t>
            </a:r>
            <a:r>
              <a:rPr kumimoji="0" lang="en-US" altLang="en-US" sz="1800" b="0" i="0" u="none" strike="noStrike" cap="none" normalizeH="0" baseline="0" dirty="0" smtClean="0">
                <a:ln>
                  <a:noFill/>
                </a:ln>
                <a:solidFill>
                  <a:schemeClr val="tx1"/>
                </a:solidFill>
                <a:effectLst/>
              </a:rPr>
              <a:t>. Sin embargo, hay dos </a:t>
            </a:r>
            <a:r>
              <a:rPr kumimoji="0" lang="en-US" altLang="en-US" sz="1800" b="0" i="0" u="none" strike="noStrike" cap="none" normalizeH="0" baseline="0" dirty="0" err="1" smtClean="0">
                <a:ln>
                  <a:noFill/>
                </a:ln>
                <a:solidFill>
                  <a:schemeClr val="tx1"/>
                </a:solidFill>
                <a:effectLst/>
              </a:rPr>
              <a:t>tipos</a:t>
            </a:r>
            <a:r>
              <a:rPr kumimoji="0" lang="en-US" altLang="en-US" sz="1800" b="0" i="0" u="none" strike="noStrike" cap="none" normalizeH="0" baseline="0" dirty="0" smtClean="0">
                <a:ln>
                  <a:noFill/>
                </a:ln>
                <a:solidFill>
                  <a:schemeClr val="tx1"/>
                </a:solidFill>
                <a:effectLst/>
              </a:rPr>
              <a:t> de </a:t>
            </a:r>
            <a:r>
              <a:rPr kumimoji="0" lang="en-US" altLang="en-US" sz="1800" b="0" i="0" u="none" strike="noStrike" cap="none" normalizeH="0" baseline="0" dirty="0" err="1" smtClean="0">
                <a:ln>
                  <a:noFill/>
                </a:ln>
                <a:solidFill>
                  <a:schemeClr val="tx1"/>
                </a:solidFill>
                <a:effectLst/>
              </a:rPr>
              <a:t>copias</a:t>
            </a:r>
            <a:r>
              <a:rPr kumimoji="0" lang="en-US" altLang="en-US" sz="1800" b="0" i="0" u="none" strike="noStrike" cap="none" normalizeH="0" baseline="0" dirty="0" smtClean="0">
                <a:ln>
                  <a:noFill/>
                </a:ln>
                <a:solidFill>
                  <a:schemeClr val="tx1"/>
                </a:solidFill>
                <a:effectLst/>
              </a:rPr>
              <a:t> que se </a:t>
            </a:r>
            <a:r>
              <a:rPr kumimoji="0" lang="en-US" altLang="en-US" sz="1800" b="0" i="0" u="none" strike="noStrike" cap="none" normalizeH="0" baseline="0" dirty="0" err="1" smtClean="0">
                <a:ln>
                  <a:noFill/>
                </a:ln>
                <a:solidFill>
                  <a:schemeClr val="tx1"/>
                </a:solidFill>
                <a:effectLst/>
              </a:rPr>
              <a:t>pueden</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realizar</a:t>
            </a:r>
            <a:r>
              <a:rPr kumimoji="0" lang="en-US" altLang="en-US" sz="1800" b="0" i="0" u="none" strike="noStrike" cap="none" normalizeH="0" baseline="0" dirty="0" smtClean="0">
                <a:ln>
                  <a:noFill/>
                </a:ln>
                <a:solidFill>
                  <a:schemeClr val="tx1"/>
                </a:solidFill>
                <a:effectLst/>
              </a:rPr>
              <a:t>: una </a:t>
            </a:r>
            <a:r>
              <a:rPr kumimoji="0" lang="en-US" altLang="en-US" sz="1800" b="0" i="0" u="none" strike="noStrike" cap="none" normalizeH="0" baseline="0" dirty="0" err="1" smtClean="0">
                <a:ln>
                  <a:noFill/>
                </a:ln>
                <a:solidFill>
                  <a:schemeClr val="tx1"/>
                </a:solidFill>
                <a:effectLst/>
              </a:rPr>
              <a:t>copia</a:t>
            </a:r>
            <a:r>
              <a:rPr kumimoji="0" lang="en-US" altLang="en-US" sz="1800" b="0" i="0" u="none" strike="noStrike" cap="none" normalizeH="0" baseline="0" dirty="0" smtClean="0">
                <a:ln>
                  <a:noFill/>
                </a:ln>
                <a:solidFill>
                  <a:schemeClr val="tx1"/>
                </a:solidFill>
                <a:effectLst/>
              </a:rPr>
              <a:t> </a:t>
            </a:r>
            <a:r>
              <a:rPr kumimoji="0" lang="en-US" altLang="en-US" sz="1800" b="1" i="0" u="none" strike="noStrike" cap="none" normalizeH="0" baseline="0" dirty="0" smtClean="0">
                <a:ln>
                  <a:noFill/>
                </a:ln>
                <a:solidFill>
                  <a:srgbClr val="FF0000"/>
                </a:solidFill>
                <a:effectLst/>
              </a:rPr>
              <a:t>superficial y una </a:t>
            </a:r>
            <a:r>
              <a:rPr kumimoji="0" lang="en-US" altLang="en-US" sz="1800" b="1" i="0" u="none" strike="noStrike" cap="none" normalizeH="0" baseline="0" dirty="0" err="1" smtClean="0">
                <a:ln>
                  <a:noFill/>
                </a:ln>
                <a:solidFill>
                  <a:srgbClr val="FF0000"/>
                </a:solidFill>
                <a:effectLst/>
              </a:rPr>
              <a:t>copia</a:t>
            </a:r>
            <a:r>
              <a:rPr kumimoji="0" lang="en-US" altLang="en-US" sz="1800" b="1" i="0" u="none" strike="noStrike" cap="none" normalizeH="0" baseline="0" dirty="0" smtClean="0">
                <a:ln>
                  <a:noFill/>
                </a:ln>
                <a:solidFill>
                  <a:srgbClr val="FF0000"/>
                </a:solidFill>
                <a:effectLst/>
              </a:rPr>
              <a:t> </a:t>
            </a:r>
            <a:r>
              <a:rPr kumimoji="0" lang="en-US" altLang="en-US" sz="1800" b="1" i="0" u="none" strike="noStrike" cap="none" normalizeH="0" baseline="0" dirty="0" err="1" smtClean="0">
                <a:ln>
                  <a:noFill/>
                </a:ln>
                <a:solidFill>
                  <a:srgbClr val="FF0000"/>
                </a:solidFill>
                <a:effectLst/>
              </a:rPr>
              <a:t>profunda</a:t>
            </a:r>
            <a:r>
              <a:rPr lang="en-US" altLang="en-US" sz="1800" b="1" dirty="0" smtClean="0">
                <a:solidFill>
                  <a:srgbClr val="FF0000"/>
                </a:solidFill>
              </a:rPr>
              <a:t>:</a:t>
            </a:r>
          </a:p>
          <a:p>
            <a:pPr marL="457200" lvl="1" indent="0" algn="just" eaLnBrk="0" fontAlgn="base" hangingPunct="0">
              <a:lnSpc>
                <a:spcPct val="100000"/>
              </a:lnSpc>
              <a:spcBef>
                <a:spcPct val="0"/>
              </a:spcBef>
              <a:spcAft>
                <a:spcPct val="0"/>
              </a:spcAft>
              <a:buFontTx/>
              <a:buNone/>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Copia</a:t>
            </a:r>
            <a:r>
              <a:rPr kumimoji="0" lang="en-US" altLang="en-US" sz="2000" b="1" i="0" u="none" strike="noStrike" cap="none" normalizeH="0" baseline="0" dirty="0" smtClean="0">
                <a:ln>
                  <a:noFill/>
                </a:ln>
                <a:solidFill>
                  <a:schemeClr val="tx1"/>
                </a:solidFill>
                <a:effectLst/>
                <a:latin typeface="Arial" panose="020B0604020202020204" pitchFamily="34" charset="0"/>
              </a:rPr>
              <a:t> Superficial (Shallow Copy)</a:t>
            </a: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smtClean="0">
                <a:ln>
                  <a:noFill/>
                </a:ln>
                <a:solidFill>
                  <a:schemeClr val="tx1"/>
                </a:solidFill>
                <a:effectLst/>
                <a:latin typeface="Arial" panose="020B0604020202020204" pitchFamily="34" charset="0"/>
              </a:rPr>
              <a:t>Campos de valor</a:t>
            </a:r>
            <a:r>
              <a:rPr kumimoji="0" lang="en-US" altLang="en-US" sz="1600" b="0" i="0" u="none" strike="noStrike" cap="none" normalizeH="0" baseline="0" dirty="0" smtClean="0">
                <a:ln>
                  <a:noFill/>
                </a:ln>
                <a:solidFill>
                  <a:schemeClr val="tx1"/>
                </a:solidFill>
                <a:effectLst/>
                <a:latin typeface="Arial" panose="020B0604020202020204" pitchFamily="34" charset="0"/>
              </a:rPr>
              <a:t>: Los </a:t>
            </a:r>
            <a:r>
              <a:rPr kumimoji="0" lang="en-US" altLang="en-US" sz="1600" b="0" i="0" u="none" strike="noStrike" cap="none" normalizeH="0" baseline="0" dirty="0" err="1" smtClean="0">
                <a:ln>
                  <a:noFill/>
                </a:ln>
                <a:solidFill>
                  <a:schemeClr val="tx1"/>
                </a:solidFill>
                <a:effectLst/>
                <a:latin typeface="Arial" panose="020B0604020202020204" pitchFamily="34" charset="0"/>
              </a:rPr>
              <a:t>valores</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campos</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tipo</a:t>
            </a:r>
            <a:r>
              <a:rPr kumimoji="0" lang="en-US" altLang="en-US" sz="1600" b="0" i="0" u="none" strike="noStrike" cap="none" normalizeH="0" baseline="0" dirty="0" smtClean="0">
                <a:ln>
                  <a:noFill/>
                </a:ln>
                <a:solidFill>
                  <a:schemeClr val="tx1"/>
                </a:solidFill>
                <a:effectLst/>
                <a:latin typeface="Arial" panose="020B0604020202020204" pitchFamily="34" charset="0"/>
              </a:rPr>
              <a:t> valor (como </a:t>
            </a:r>
            <a:r>
              <a:rPr kumimoji="0" lang="en-US" altLang="en-US" sz="1600" b="0" i="0" u="none" strike="noStrike" cap="none" normalizeH="0" baseline="0" dirty="0" err="1" smtClean="0">
                <a:ln>
                  <a:noFill/>
                </a:ln>
                <a:solidFill>
                  <a:schemeClr val="tx1"/>
                </a:solidFill>
                <a:effectLst/>
                <a:latin typeface="Arial Unicode MS"/>
              </a:rPr>
              <a:t>int</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smtClean="0">
                <a:ln>
                  <a:noFill/>
                </a:ln>
                <a:solidFill>
                  <a:schemeClr val="tx1"/>
                </a:solidFill>
                <a:effectLst/>
                <a:latin typeface="Arial Unicode MS"/>
              </a:rPr>
              <a:t>float</a:t>
            </a:r>
            <a:r>
              <a:rPr kumimoji="0" lang="en-US" altLang="en-US" sz="1600" b="0" i="0" u="none" strike="noStrike" cap="none" normalizeH="0" baseline="0" dirty="0" smtClean="0">
                <a:ln>
                  <a:noFill/>
                </a:ln>
                <a:solidFill>
                  <a:schemeClr val="tx1"/>
                </a:solidFill>
                <a:effectLst/>
              </a:rPr>
              <a:t>, etc.) se </a:t>
            </a:r>
            <a:r>
              <a:rPr kumimoji="0" lang="en-US" altLang="en-US" sz="1600" b="0" i="0" u="none" strike="noStrike" cap="none" normalizeH="0" baseline="0" dirty="0" err="1" smtClean="0">
                <a:ln>
                  <a:noFill/>
                </a:ln>
                <a:solidFill>
                  <a:schemeClr val="tx1"/>
                </a:solidFill>
                <a:effectLst/>
              </a:rPr>
              <a:t>copian</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directamente</a:t>
            </a:r>
            <a:r>
              <a:rPr kumimoji="0" lang="en-US" altLang="en-US" sz="1600" b="0" i="0" u="none" strike="noStrike" cap="none" normalizeH="0" baseline="0" dirty="0" smtClean="0">
                <a:ln>
                  <a:noFill/>
                </a:ln>
                <a:solidFill>
                  <a:schemeClr val="tx1"/>
                </a:solidFill>
                <a:effectLst/>
              </a:rPr>
              <a: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457200" lvl="1" indent="0" algn="just" eaLnBrk="0" fontAlgn="base" hangingPunct="0">
              <a:lnSpc>
                <a:spcPct val="100000"/>
              </a:lnSpc>
              <a:spcBef>
                <a:spcPct val="0"/>
              </a:spcBef>
              <a:spcAft>
                <a:spcPct val="0"/>
              </a:spcAft>
              <a:buFontTx/>
              <a:buChar char="•"/>
            </a:pPr>
            <a:r>
              <a:rPr kumimoji="0" lang="en-US" altLang="en-US" sz="1600" b="1" i="0" u="none" strike="noStrike" cap="none" normalizeH="0" baseline="0" dirty="0" smtClean="0">
                <a:ln>
                  <a:noFill/>
                </a:ln>
                <a:solidFill>
                  <a:schemeClr val="tx1"/>
                </a:solidFill>
                <a:effectLst/>
                <a:latin typeface="Arial" panose="020B0604020202020204" pitchFamily="34" charset="0"/>
              </a:rPr>
              <a:t>Campos de </a:t>
            </a:r>
            <a:r>
              <a:rPr kumimoji="0" lang="en-US" altLang="en-US" sz="1600" b="1" i="0" u="none" strike="noStrike" cap="none" normalizeH="0" baseline="0" dirty="0" err="1" smtClean="0">
                <a:ln>
                  <a:noFill/>
                </a:ln>
                <a:solidFill>
                  <a:schemeClr val="tx1"/>
                </a:solidFill>
                <a:effectLst/>
                <a:latin typeface="Arial" panose="020B0604020202020204" pitchFamily="34" charset="0"/>
              </a:rPr>
              <a:t>referencia</a:t>
            </a:r>
            <a:r>
              <a:rPr kumimoji="0" lang="en-US" altLang="en-US" sz="1600" b="0" i="0" u="none" strike="noStrike" cap="none" normalizeH="0" baseline="0" dirty="0" smtClean="0">
                <a:ln>
                  <a:noFill/>
                </a:ln>
                <a:solidFill>
                  <a:schemeClr val="tx1"/>
                </a:solidFill>
                <a:effectLst/>
                <a:latin typeface="Arial" panose="020B0604020202020204" pitchFamily="34" charset="0"/>
              </a:rPr>
              <a:t>: Los </a:t>
            </a:r>
            <a:r>
              <a:rPr kumimoji="0" lang="en-US" altLang="en-US" sz="1600" b="0" i="0" u="none" strike="noStrike" cap="none" normalizeH="0" baseline="0" dirty="0" err="1" smtClean="0">
                <a:ln>
                  <a:noFill/>
                </a:ln>
                <a:solidFill>
                  <a:schemeClr val="tx1"/>
                </a:solidFill>
                <a:effectLst/>
                <a:latin typeface="Arial" panose="020B0604020202020204" pitchFamily="34" charset="0"/>
              </a:rPr>
              <a:t>valores</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campos</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tipo</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a:t>
            </a:r>
            <a:r>
              <a:rPr kumimoji="0" lang="en-US" altLang="en-US" sz="1600" b="0" i="0" u="none" strike="noStrike" cap="none" normalizeH="0" baseline="0" dirty="0" smtClean="0">
                <a:ln>
                  <a:noFill/>
                </a:ln>
                <a:solidFill>
                  <a:schemeClr val="tx1"/>
                </a:solidFill>
                <a:effectLst/>
                <a:latin typeface="Arial" panose="020B0604020202020204" pitchFamily="34" charset="0"/>
              </a:rPr>
              <a:t> (como </a:t>
            </a:r>
            <a:r>
              <a:rPr kumimoji="0" lang="en-US" altLang="en-US" sz="1600" b="0" i="0" u="none" strike="noStrike" cap="none" normalizeH="0" baseline="0" dirty="0" err="1" smtClean="0">
                <a:ln>
                  <a:noFill/>
                </a:ln>
                <a:solidFill>
                  <a:schemeClr val="tx1"/>
                </a:solidFill>
                <a:effectLst/>
                <a:latin typeface="Arial" panose="020B0604020202020204" pitchFamily="34" charset="0"/>
              </a:rPr>
              <a:t>objetos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cadenas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listas</a:t>
            </a:r>
            <a:r>
              <a:rPr kumimoji="0" lang="en-US" altLang="en-US" sz="1600" b="0" i="0" u="none" strike="noStrike" cap="none" normalizeH="0" baseline="0" dirty="0" smtClean="0">
                <a:ln>
                  <a:noFill/>
                </a:ln>
                <a:solidFill>
                  <a:schemeClr val="tx1"/>
                </a:solidFill>
                <a:effectLst/>
                <a:latin typeface="Arial" panose="020B0604020202020204" pitchFamily="34" charset="0"/>
              </a:rPr>
              <a:t>, etc.) son </a:t>
            </a:r>
            <a:r>
              <a:rPr kumimoji="0" lang="en-US" altLang="en-US" sz="1600" b="0" i="0" u="none" strike="noStrike" cap="none" normalizeH="0" baseline="0" dirty="0" err="1" smtClean="0">
                <a:ln>
                  <a:noFill/>
                </a:ln>
                <a:solidFill>
                  <a:schemeClr val="tx1"/>
                </a:solidFill>
                <a:effectLst/>
                <a:latin typeface="Arial" panose="020B0604020202020204" pitchFamily="34" charset="0"/>
              </a:rPr>
              <a:t>copiados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por</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Esto</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significa</a:t>
            </a:r>
            <a:r>
              <a:rPr kumimoji="0" lang="en-US" altLang="en-US" sz="1600" b="0" i="0" u="none" strike="noStrike" cap="none" normalizeH="0" baseline="0" dirty="0" smtClean="0">
                <a:ln>
                  <a:noFill/>
                </a:ln>
                <a:solidFill>
                  <a:schemeClr val="tx1"/>
                </a:solidFill>
                <a:effectLst/>
                <a:latin typeface="Arial" panose="020B0604020202020204" pitchFamily="34" charset="0"/>
              </a:rPr>
              <a:t> que </a:t>
            </a:r>
            <a:r>
              <a:rPr kumimoji="0" lang="en-US" altLang="en-US" sz="1600" b="0" i="0" u="none" strike="noStrike" cap="none" normalizeH="0" baseline="0" dirty="0" err="1" smtClean="0">
                <a:ln>
                  <a:noFill/>
                </a:ln>
                <a:solidFill>
                  <a:schemeClr val="tx1"/>
                </a:solidFill>
                <a:effectLst/>
                <a:latin typeface="Arial" panose="020B0604020202020204" pitchFamily="34" charset="0"/>
              </a:rPr>
              <a:t>tanto</a:t>
            </a:r>
            <a:r>
              <a:rPr kumimoji="0" lang="en-US" altLang="en-US" sz="1600" b="0" i="0" u="none" strike="noStrike" cap="none" normalizeH="0" baseline="0" dirty="0" smtClean="0">
                <a:ln>
                  <a:noFill/>
                </a:ln>
                <a:solidFill>
                  <a:schemeClr val="tx1"/>
                </a:solidFill>
                <a:effectLst/>
                <a:latin typeface="Arial" panose="020B0604020202020204" pitchFamily="34" charset="0"/>
              </a:rPr>
              <a:t> el </a:t>
            </a:r>
            <a:r>
              <a:rPr kumimoji="0" lang="en-US" altLang="en-US" sz="1600" b="0" i="0" u="none" strike="noStrike" cap="none" normalizeH="0" baseline="0" dirty="0" err="1" smtClean="0">
                <a:ln>
                  <a:noFill/>
                </a:ln>
                <a:solidFill>
                  <a:schemeClr val="tx1"/>
                </a:solidFill>
                <a:effectLst/>
                <a:latin typeface="Arial" panose="020B0604020202020204" pitchFamily="34" charset="0"/>
              </a:rPr>
              <a:t>objeto</a:t>
            </a:r>
            <a:r>
              <a:rPr kumimoji="0" lang="en-US" altLang="en-US" sz="1600" b="0" i="0" u="none" strike="noStrike" cap="none" normalizeH="0" baseline="0" dirty="0" smtClean="0">
                <a:ln>
                  <a:noFill/>
                </a:ln>
                <a:solidFill>
                  <a:schemeClr val="tx1"/>
                </a:solidFill>
                <a:effectLst/>
                <a:latin typeface="Arial" panose="020B0604020202020204" pitchFamily="34" charset="0"/>
              </a:rPr>
              <a:t> original como el </a:t>
            </a:r>
            <a:r>
              <a:rPr kumimoji="0" lang="en-US" altLang="en-US" sz="1600" b="0" i="0" u="none" strike="noStrike" cap="none" normalizeH="0" baseline="0" dirty="0" err="1" smtClean="0">
                <a:ln>
                  <a:noFill/>
                </a:ln>
                <a:solidFill>
                  <a:schemeClr val="tx1"/>
                </a:solidFill>
                <a:effectLst/>
                <a:latin typeface="Arial" panose="020B0604020202020204" pitchFamily="34" charset="0"/>
              </a:rPr>
              <a:t>clon</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referenciarán</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mismos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objetos</a:t>
            </a:r>
            <a:r>
              <a:rPr kumimoji="0" lang="en-US" altLang="en-US" sz="16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Copia</a:t>
            </a:r>
            <a:r>
              <a:rPr kumimoji="0" lang="en-US" altLang="en-US" sz="2000" b="1"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err="1" smtClean="0">
                <a:ln>
                  <a:noFill/>
                </a:ln>
                <a:solidFill>
                  <a:schemeClr val="tx1"/>
                </a:solidFill>
                <a:effectLst/>
                <a:latin typeface="Arial" panose="020B0604020202020204" pitchFamily="34" charset="0"/>
              </a:rPr>
              <a:t>Profunda</a:t>
            </a:r>
            <a:r>
              <a:rPr kumimoji="0" lang="en-US" altLang="en-US" sz="2000" b="1" i="0" u="none" strike="noStrike" cap="none" normalizeH="0" baseline="0" dirty="0" smtClean="0">
                <a:ln>
                  <a:noFill/>
                </a:ln>
                <a:solidFill>
                  <a:schemeClr val="tx1"/>
                </a:solidFill>
                <a:effectLst/>
                <a:latin typeface="Arial" panose="020B0604020202020204" pitchFamily="34" charset="0"/>
              </a:rPr>
              <a:t> (Deep Copy)</a:t>
            </a:r>
          </a:p>
          <a:p>
            <a:pPr marL="457200" lvl="1" indent="0" algn="just" eaLnBrk="0" fontAlgn="base" hangingPunct="0">
              <a:lnSpc>
                <a:spcPct val="100000"/>
              </a:lnSpc>
              <a:spcBef>
                <a:spcPct val="0"/>
              </a:spcBef>
              <a:spcAft>
                <a:spcPct val="0"/>
              </a:spcAft>
              <a:buFontTx/>
              <a:buChar char="•"/>
            </a:pPr>
            <a:r>
              <a:rPr kumimoji="0" lang="en-US" altLang="en-US" sz="1600" b="0" i="0" u="none" strike="noStrike" cap="none" normalizeH="0" baseline="0" dirty="0" smtClean="0">
                <a:ln>
                  <a:noFill/>
                </a:ln>
                <a:solidFill>
                  <a:schemeClr val="tx1"/>
                </a:solidFill>
                <a:effectLst/>
                <a:latin typeface="Arial" panose="020B0604020202020204" pitchFamily="34" charset="0"/>
              </a:rPr>
              <a:t>En una </a:t>
            </a:r>
            <a:r>
              <a:rPr kumimoji="0" lang="en-US" altLang="en-US" sz="1600" b="0" i="0" u="none" strike="noStrike" cap="none" normalizeH="0" baseline="0" dirty="0" err="1" smtClean="0">
                <a:ln>
                  <a:noFill/>
                </a:ln>
                <a:solidFill>
                  <a:schemeClr val="tx1"/>
                </a:solidFill>
                <a:effectLst/>
                <a:latin typeface="Arial" panose="020B0604020202020204" pitchFamily="34" charset="0"/>
              </a:rPr>
              <a:t>copia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profunda</a:t>
            </a:r>
            <a:r>
              <a:rPr kumimoji="0" lang="en-US" altLang="en-US" sz="1600" b="0" i="0" u="none" strike="noStrike" cap="none" normalizeH="0" baseline="0" dirty="0" smtClean="0">
                <a:ln>
                  <a:noFill/>
                </a:ln>
                <a:solidFill>
                  <a:schemeClr val="tx1"/>
                </a:solidFill>
                <a:effectLst/>
                <a:latin typeface="Arial" panose="020B0604020202020204" pitchFamily="34" charset="0"/>
              </a:rPr>
              <a:t>, se </a:t>
            </a:r>
            <a:r>
              <a:rPr kumimoji="0" lang="en-US" altLang="en-US" sz="1600" b="0" i="0" u="none" strike="noStrike" cap="none" normalizeH="0" baseline="0" dirty="0" err="1" smtClean="0">
                <a:ln>
                  <a:noFill/>
                </a:ln>
                <a:solidFill>
                  <a:schemeClr val="tx1"/>
                </a:solidFill>
                <a:effectLst/>
                <a:latin typeface="Arial" panose="020B0604020202020204" pitchFamily="34" charset="0"/>
              </a:rPr>
              <a:t>copian</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tanto</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campos</a:t>
            </a:r>
            <a:r>
              <a:rPr kumimoji="0" lang="en-US" altLang="en-US" sz="1600" b="0" i="0" u="none" strike="noStrike" cap="none" normalizeH="0" baseline="0" dirty="0" smtClean="0">
                <a:ln>
                  <a:noFill/>
                </a:ln>
                <a:solidFill>
                  <a:schemeClr val="tx1"/>
                </a:solidFill>
                <a:effectLst/>
                <a:latin typeface="Arial" panose="020B0604020202020204" pitchFamily="34" charset="0"/>
              </a:rPr>
              <a:t> de valor como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campos</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a:t>
            </a:r>
            <a:r>
              <a:rPr kumimoji="0" lang="en-US" altLang="en-US" sz="1600" b="0" i="0" u="none" strike="noStrike" cap="none" normalizeH="0" baseline="0" dirty="0" smtClean="0">
                <a:ln>
                  <a:noFill/>
                </a:ln>
                <a:solidFill>
                  <a:schemeClr val="tx1"/>
                </a:solidFill>
                <a:effectLst/>
                <a:latin typeface="Arial" panose="020B0604020202020204" pitchFamily="34" charset="0"/>
              </a:rPr>
              <a:t>. Para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campos</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a:t>
            </a:r>
            <a:r>
              <a:rPr kumimoji="0" lang="en-US" altLang="en-US" sz="1600" b="0" i="0" u="none" strike="noStrike" cap="none" normalizeH="0" baseline="0" dirty="0" smtClean="0">
                <a:ln>
                  <a:noFill/>
                </a:ln>
                <a:solidFill>
                  <a:schemeClr val="tx1"/>
                </a:solidFill>
                <a:effectLst/>
                <a:latin typeface="Arial" panose="020B0604020202020204" pitchFamily="34" charset="0"/>
              </a:rPr>
              <a:t>, se </a:t>
            </a:r>
            <a:r>
              <a:rPr kumimoji="0" lang="en-US" altLang="en-US" sz="1600" b="0" i="0" u="none" strike="noStrike" cap="none" normalizeH="0" baseline="0" dirty="0" err="1" smtClean="0">
                <a:ln>
                  <a:noFill/>
                </a:ln>
                <a:solidFill>
                  <a:schemeClr val="tx1"/>
                </a:solidFill>
                <a:effectLst/>
                <a:latin typeface="Arial" panose="020B0604020202020204" pitchFamily="34" charset="0"/>
              </a:rPr>
              <a:t>crean</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nuevos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objetos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duplicando</a:t>
            </a:r>
            <a:r>
              <a:rPr kumimoji="0" lang="en-US" altLang="en-US" sz="1600" b="0" i="0" u="none" strike="noStrike" cap="none" normalizeH="0" baseline="0" dirty="0" smtClean="0">
                <a:ln>
                  <a:noFill/>
                </a:ln>
                <a:solidFill>
                  <a:schemeClr val="tx1"/>
                </a:solidFill>
                <a:effectLst/>
                <a:latin typeface="Arial" panose="020B0604020202020204" pitchFamily="34" charset="0"/>
              </a:rPr>
              <a:t> el </a:t>
            </a:r>
            <a:r>
              <a:rPr kumimoji="0" lang="en-US" altLang="en-US" sz="1600" b="0" i="0" u="none" strike="noStrike" cap="none" normalizeH="0" baseline="0" dirty="0" err="1" smtClean="0">
                <a:ln>
                  <a:noFill/>
                </a:ln>
                <a:solidFill>
                  <a:schemeClr val="tx1"/>
                </a:solidFill>
                <a:effectLst/>
                <a:latin typeface="Arial" panose="020B0604020202020204" pitchFamily="34" charset="0"/>
              </a:rPr>
              <a:t>contenido</a:t>
            </a:r>
            <a:r>
              <a:rPr kumimoji="0" lang="en-US" altLang="en-US" sz="1600" b="0" i="0" u="none" strike="noStrike" cap="none" normalizeH="0" baseline="0" dirty="0" smtClean="0">
                <a:ln>
                  <a:noFill/>
                </a:ln>
                <a:solidFill>
                  <a:schemeClr val="tx1"/>
                </a:solidFill>
                <a:effectLst/>
                <a:latin typeface="Arial" panose="020B0604020202020204" pitchFamily="34" charset="0"/>
              </a:rPr>
              <a:t> de </a:t>
            </a:r>
            <a:r>
              <a:rPr kumimoji="0" lang="en-US" altLang="en-US" sz="1600" b="0" i="0" u="none" strike="noStrike" cap="none" normalizeH="0" baseline="0" dirty="0" err="1" smtClean="0">
                <a:ln>
                  <a:noFill/>
                </a:ln>
                <a:solidFill>
                  <a:schemeClr val="tx1"/>
                </a:solidFill>
                <a:effectLst/>
                <a:latin typeface="Arial" panose="020B0604020202020204" pitchFamily="34" charset="0"/>
              </a:rPr>
              <a:t>los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objetos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referenciados</a:t>
            </a:r>
            <a:r>
              <a:rPr kumimoji="0" lang="en-US" altLang="en-US" sz="1600" b="0" i="0" u="none" strike="noStrike" cap="none" normalizeH="0" baseline="0" dirty="0" smtClean="0">
                <a:ln>
                  <a:noFill/>
                </a:ln>
                <a:solidFill>
                  <a:schemeClr val="tx1"/>
                </a:solidFill>
                <a:effectLst/>
                <a:latin typeface="Arial" panose="020B0604020202020204" pitchFamily="34" charset="0"/>
              </a:rPr>
              <a:t>, no solo las </a:t>
            </a:r>
            <a:r>
              <a:rPr kumimoji="0" lang="en-US" altLang="en-US" sz="1600" b="0" i="0" u="none" strike="noStrike" cap="none" normalizeH="0" baseline="0" dirty="0" err="1" smtClean="0">
                <a:ln>
                  <a:noFill/>
                </a:ln>
                <a:solidFill>
                  <a:schemeClr val="tx1"/>
                </a:solidFill>
                <a:effectLst/>
                <a:latin typeface="Arial" panose="020B0604020202020204" pitchFamily="34" charset="0"/>
              </a:rPr>
              <a:t>referencias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Esto</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significa</a:t>
            </a:r>
            <a:r>
              <a:rPr kumimoji="0" lang="en-US" altLang="en-US" sz="1600" b="0" i="0" u="none" strike="noStrike" cap="none" normalizeH="0" baseline="0" dirty="0" smtClean="0">
                <a:ln>
                  <a:noFill/>
                </a:ln>
                <a:solidFill>
                  <a:schemeClr val="tx1"/>
                </a:solidFill>
                <a:effectLst/>
                <a:latin typeface="Arial" panose="020B0604020202020204" pitchFamily="34" charset="0"/>
              </a:rPr>
              <a:t> que el </a:t>
            </a:r>
            <a:r>
              <a:rPr kumimoji="0" lang="en-US" altLang="en-US" sz="1600" b="0" i="0" u="none" strike="noStrike" cap="none" normalizeH="0" baseline="0" dirty="0" err="1" smtClean="0">
                <a:ln>
                  <a:noFill/>
                </a:ln>
                <a:solidFill>
                  <a:schemeClr val="tx1"/>
                </a:solidFill>
                <a:effectLst/>
                <a:latin typeface="Arial" panose="020B0604020202020204" pitchFamily="34" charset="0"/>
              </a:rPr>
              <a:t>clon</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es</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completamente</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independiente</a:t>
            </a:r>
            <a:r>
              <a:rPr kumimoji="0" lang="en-US" altLang="en-US" sz="1600" b="0" i="0" u="none" strike="noStrike" cap="none" normalizeH="0" baseline="0" dirty="0" smtClean="0">
                <a:ln>
                  <a:noFill/>
                </a:ln>
                <a:solidFill>
                  <a:schemeClr val="tx1"/>
                </a:solidFill>
                <a:effectLst/>
                <a:latin typeface="Arial" panose="020B0604020202020204" pitchFamily="34" charset="0"/>
              </a:rPr>
              <a:t> del </a:t>
            </a:r>
            <a:r>
              <a:rPr kumimoji="0" lang="en-US" altLang="en-US" sz="1600" b="0" i="0" u="none" strike="noStrike" cap="none" normalizeH="0" baseline="0" dirty="0" err="1" smtClean="0">
                <a:ln>
                  <a:noFill/>
                </a:ln>
                <a:solidFill>
                  <a:schemeClr val="tx1"/>
                </a:solidFill>
                <a:effectLst/>
                <a:latin typeface="Arial" panose="020B0604020202020204" pitchFamily="34" charset="0"/>
              </a:rPr>
              <a:t>objeto</a:t>
            </a:r>
            <a:r>
              <a:rPr kumimoji="0" lang="en-US" altLang="en-US" sz="1600" b="0" i="0" u="none" strike="noStrike" cap="none" normalizeH="0" baseline="0" dirty="0" smtClean="0">
                <a:ln>
                  <a:noFill/>
                </a:ln>
                <a:solidFill>
                  <a:schemeClr val="tx1"/>
                </a:solidFill>
                <a:effectLst/>
                <a:latin typeface="Arial" panose="020B0604020202020204" pitchFamily="34" charset="0"/>
              </a:rPr>
              <a:t> original.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1497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36105"/>
            <a:ext cx="10515600" cy="1948070"/>
          </a:xfrm>
        </p:spPr>
        <p:txBody>
          <a:bodyPr>
            <a:normAutofit lnSpcReduction="10000"/>
          </a:bodyPr>
          <a:lstStyle/>
          <a:p>
            <a:pPr marL="0" indent="0">
              <a:buNone/>
            </a:pPr>
            <a:r>
              <a:rPr lang="es-PE" dirty="0" smtClean="0"/>
              <a:t>Ejercicio 1:</a:t>
            </a:r>
          </a:p>
          <a:p>
            <a:r>
              <a:rPr lang="es-PE" sz="2000" dirty="0" smtClean="0"/>
              <a:t>Creamos una clase </a:t>
            </a:r>
            <a:r>
              <a:rPr lang="es-PE" sz="2000" b="1" dirty="0" err="1" smtClean="0"/>
              <a:t>Category</a:t>
            </a:r>
            <a:r>
              <a:rPr lang="es-PE" sz="2000" dirty="0" smtClean="0"/>
              <a:t> con su propiedad </a:t>
            </a:r>
            <a:r>
              <a:rPr lang="es-PE" sz="2000" b="1" dirty="0" err="1" smtClean="0"/>
              <a:t>Name</a:t>
            </a:r>
            <a:r>
              <a:rPr lang="es-PE" sz="2000" dirty="0" smtClean="0"/>
              <a:t> y su constructor</a:t>
            </a:r>
          </a:p>
          <a:p>
            <a:r>
              <a:rPr lang="es-PE" sz="2000" dirty="0" smtClean="0"/>
              <a:t>Luego creamos una clase </a:t>
            </a:r>
            <a:r>
              <a:rPr lang="es-PE" sz="2000" b="1" dirty="0" err="1" smtClean="0"/>
              <a:t>Product</a:t>
            </a:r>
            <a:r>
              <a:rPr lang="es-PE" sz="2000" dirty="0" smtClean="0"/>
              <a:t> con la propiedad </a:t>
            </a:r>
            <a:r>
              <a:rPr lang="es-PE" sz="2000" b="1" dirty="0" err="1" smtClean="0"/>
              <a:t>Name</a:t>
            </a:r>
            <a:r>
              <a:rPr lang="es-PE" sz="2000" dirty="0"/>
              <a:t>,</a:t>
            </a:r>
            <a:r>
              <a:rPr lang="es-PE" sz="2000" dirty="0" smtClean="0"/>
              <a:t> su propiedad de </a:t>
            </a:r>
            <a:r>
              <a:rPr lang="es-PE" sz="2000" dirty="0" err="1" smtClean="0"/>
              <a:t>navegacion</a:t>
            </a:r>
            <a:r>
              <a:rPr lang="es-PE" sz="2000" dirty="0" smtClean="0"/>
              <a:t> </a:t>
            </a:r>
            <a:r>
              <a:rPr lang="es-PE" sz="2000" b="1" dirty="0" err="1" smtClean="0"/>
              <a:t>Category</a:t>
            </a:r>
            <a:r>
              <a:rPr lang="es-PE" sz="2000" b="1" dirty="0" smtClean="0"/>
              <a:t>,</a:t>
            </a:r>
            <a:r>
              <a:rPr lang="es-PE" sz="2000" dirty="0" smtClean="0"/>
              <a:t> su respectivo constructor y su método </a:t>
            </a:r>
            <a:r>
              <a:rPr lang="es-PE" sz="2000" b="1" dirty="0" smtClean="0"/>
              <a:t>ToString().</a:t>
            </a:r>
            <a:endParaRPr lang="es-PE" sz="2000" dirty="0" smtClean="0"/>
          </a:p>
          <a:p>
            <a:r>
              <a:rPr lang="es-PE" sz="2000" dirty="0" smtClean="0"/>
              <a:t>En nuestro </a:t>
            </a:r>
            <a:r>
              <a:rPr lang="es-PE" sz="2000" b="1" dirty="0" err="1" smtClean="0"/>
              <a:t>Program</a:t>
            </a:r>
            <a:r>
              <a:rPr lang="es-PE" sz="2000" b="1" dirty="0" smtClean="0"/>
              <a:t> </a:t>
            </a:r>
            <a:r>
              <a:rPr lang="es-PE" sz="2000" dirty="0" smtClean="0"/>
              <a:t>crearemos una instancia de </a:t>
            </a:r>
            <a:r>
              <a:rPr lang="es-PE" sz="2000" b="1" dirty="0" err="1" smtClean="0"/>
              <a:t>Product</a:t>
            </a:r>
            <a:r>
              <a:rPr lang="es-PE" sz="2000" dirty="0" smtClean="0"/>
              <a:t> y crearemos una copia de esa instancia.</a:t>
            </a:r>
            <a:endParaRPr lang="en-US" sz="2000" dirty="0"/>
          </a:p>
          <a:p>
            <a:endParaRPr lang="en-US" sz="2000" dirty="0"/>
          </a:p>
        </p:txBody>
      </p:sp>
      <p:pic>
        <p:nvPicPr>
          <p:cNvPr id="4" name="Imagen 3"/>
          <p:cNvPicPr/>
          <p:nvPr/>
        </p:nvPicPr>
        <p:blipFill>
          <a:blip r:embed="rId2"/>
          <a:stretch>
            <a:fillRect/>
          </a:stretch>
        </p:blipFill>
        <p:spPr>
          <a:xfrm>
            <a:off x="838200" y="2584175"/>
            <a:ext cx="5612130" cy="2167255"/>
          </a:xfrm>
          <a:prstGeom prst="rect">
            <a:avLst/>
          </a:prstGeom>
        </p:spPr>
      </p:pic>
      <p:sp>
        <p:nvSpPr>
          <p:cNvPr id="5" name="Flecha derecha 4"/>
          <p:cNvSpPr/>
          <p:nvPr/>
        </p:nvSpPr>
        <p:spPr>
          <a:xfrm>
            <a:off x="6665845" y="3411510"/>
            <a:ext cx="808382" cy="265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p:cNvSpPr/>
          <p:nvPr/>
        </p:nvSpPr>
        <p:spPr>
          <a:xfrm>
            <a:off x="7638263" y="2584175"/>
            <a:ext cx="3644265" cy="2166875"/>
          </a:xfrm>
          <a:prstGeom prst="rect">
            <a:avLst/>
          </a:prstGeom>
        </p:spPr>
        <p:txBody>
          <a:bodyPr wrap="square">
            <a:spAutoFit/>
          </a:bodyPr>
          <a:lstStyle/>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Vemos que </a:t>
            </a:r>
            <a:r>
              <a:rPr lang="es-PE" dirty="0" smtClean="0">
                <a:latin typeface="Calibri" panose="020F0502020204030204" pitchFamily="34" charset="0"/>
                <a:ea typeface="Calibri" panose="020F0502020204030204" pitchFamily="34" charset="0"/>
                <a:cs typeface="Times New Roman" panose="02020603050405020304" pitchFamily="18" charset="0"/>
              </a:rPr>
              <a:t>tanto </a:t>
            </a:r>
            <a:r>
              <a:rPr lang="es-PE" b="1" dirty="0">
                <a:latin typeface="Calibri" panose="020F0502020204030204" pitchFamily="34" charset="0"/>
                <a:ea typeface="Calibri" panose="020F0502020204030204" pitchFamily="34" charset="0"/>
                <a:cs typeface="Times New Roman" panose="02020603050405020304" pitchFamily="18" charset="0"/>
              </a:rPr>
              <a:t>notebook</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smtClean="0">
                <a:latin typeface="Calibri" panose="020F0502020204030204" pitchFamily="34" charset="0"/>
                <a:ea typeface="Calibri" panose="020F0502020204030204" pitchFamily="34" charset="0"/>
                <a:cs typeface="Times New Roman" panose="02020603050405020304" pitchFamily="18" charset="0"/>
              </a:rPr>
              <a:t>como </a:t>
            </a:r>
            <a:r>
              <a:rPr lang="es-PE" b="1" dirty="0" err="1">
                <a:latin typeface="Calibri" panose="020F0502020204030204" pitchFamily="34" charset="0"/>
                <a:ea typeface="Calibri" panose="020F0502020204030204" pitchFamily="34" charset="0"/>
                <a:cs typeface="Times New Roman" panose="02020603050405020304" pitchFamily="18" charset="0"/>
              </a:rPr>
              <a:t>iphone</a:t>
            </a:r>
            <a:r>
              <a:rPr lang="es-PE" dirty="0">
                <a:latin typeface="Calibri" panose="020F0502020204030204" pitchFamily="34" charset="0"/>
                <a:ea typeface="Calibri" panose="020F0502020204030204" pitchFamily="34" charset="0"/>
                <a:cs typeface="Times New Roman" panose="02020603050405020304" pitchFamily="18" charset="0"/>
              </a:rPr>
              <a:t> han cambiado sus valores porque lo que nosotros estamos haciendo es asignarle la referencia, ya que la variable </a:t>
            </a:r>
            <a:r>
              <a:rPr lang="es-PE" dirty="0" err="1">
                <a:latin typeface="Calibri" panose="020F0502020204030204" pitchFamily="34" charset="0"/>
                <a:ea typeface="Calibri" panose="020F0502020204030204" pitchFamily="34" charset="0"/>
                <a:cs typeface="Times New Roman" panose="02020603050405020304" pitchFamily="18" charset="0"/>
              </a:rPr>
              <a:t>iphone</a:t>
            </a:r>
            <a:r>
              <a:rPr lang="es-PE" dirty="0">
                <a:latin typeface="Calibri" panose="020F0502020204030204" pitchFamily="34" charset="0"/>
                <a:ea typeface="Calibri" panose="020F0502020204030204" pitchFamily="34" charset="0"/>
                <a:cs typeface="Times New Roman" panose="02020603050405020304" pitchFamily="18" charset="0"/>
              </a:rPr>
              <a:t> básicamente es solo pointer a la variable notebook.</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ángulo 6"/>
          <p:cNvSpPr/>
          <p:nvPr/>
        </p:nvSpPr>
        <p:spPr>
          <a:xfrm>
            <a:off x="838200" y="4978600"/>
            <a:ext cx="10444328" cy="646331"/>
          </a:xfrm>
          <a:prstGeom prst="rect">
            <a:avLst/>
          </a:prstGeom>
        </p:spPr>
        <p:txBody>
          <a:bodyPr wrap="square">
            <a:spAutoFit/>
          </a:bodyPr>
          <a:lstStyle/>
          <a:p>
            <a:pPr algn="just"/>
            <a:r>
              <a:rPr lang="es-PE" dirty="0"/>
              <a:t>Ahora utilizaremos la interfaz de .Net</a:t>
            </a:r>
            <a:r>
              <a:rPr lang="es-PE" b="1" dirty="0"/>
              <a:t> -&gt; </a:t>
            </a:r>
            <a:r>
              <a:rPr lang="es-PE" b="1" dirty="0" err="1"/>
              <a:t>IClonable</a:t>
            </a:r>
            <a:r>
              <a:rPr lang="es-PE" dirty="0"/>
              <a:t> la cual proporciona un método llamado </a:t>
            </a:r>
            <a:r>
              <a:rPr lang="es-PE" b="1" dirty="0"/>
              <a:t>Clon</a:t>
            </a:r>
            <a:r>
              <a:rPr lang="es-PE" dirty="0"/>
              <a:t> la función de este método es que podamos copiar un objeto y crear una instancia de todos los valores que tiene ese objeto.</a:t>
            </a:r>
          </a:p>
        </p:txBody>
      </p:sp>
      <p:sp>
        <p:nvSpPr>
          <p:cNvPr id="8" name="Rectángulo 7"/>
          <p:cNvSpPr/>
          <p:nvPr/>
        </p:nvSpPr>
        <p:spPr>
          <a:xfrm>
            <a:off x="838200" y="5624931"/>
            <a:ext cx="10444328" cy="787652"/>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Pero el problema de usar </a:t>
            </a:r>
            <a:r>
              <a:rPr lang="es-PE" b="1" dirty="0" err="1">
                <a:latin typeface="Calibri" panose="020F0502020204030204" pitchFamily="34" charset="0"/>
                <a:ea typeface="Calibri" panose="020F0502020204030204" pitchFamily="34" charset="0"/>
                <a:cs typeface="Times New Roman" panose="02020603050405020304" pitchFamily="18" charset="0"/>
              </a:rPr>
              <a:t>IClonable</a:t>
            </a:r>
            <a:r>
              <a:rPr lang="es-PE" dirty="0">
                <a:latin typeface="Calibri" panose="020F0502020204030204" pitchFamily="34" charset="0"/>
                <a:ea typeface="Calibri" panose="020F0502020204030204" pitchFamily="34" charset="0"/>
                <a:cs typeface="Times New Roman" panose="02020603050405020304" pitchFamily="18" charset="0"/>
              </a:rPr>
              <a:t> es que no sabemos si se esta haciendo un </a:t>
            </a:r>
            <a:r>
              <a:rPr lang="es-PE" b="1" dirty="0" err="1">
                <a:latin typeface="Calibri" panose="020F0502020204030204" pitchFamily="34" charset="0"/>
                <a:ea typeface="Calibri" panose="020F0502020204030204" pitchFamily="34" charset="0"/>
                <a:cs typeface="Times New Roman" panose="02020603050405020304" pitchFamily="18" charset="0"/>
              </a:rPr>
              <a:t>deepCopy</a:t>
            </a:r>
            <a:r>
              <a:rPr lang="es-PE" b="1" dirty="0">
                <a:latin typeface="Calibri" panose="020F0502020204030204" pitchFamily="34" charset="0"/>
                <a:ea typeface="Calibri" panose="020F0502020204030204" pitchFamily="34" charset="0"/>
                <a:cs typeface="Times New Roman" panose="02020603050405020304" pitchFamily="18" charset="0"/>
              </a:rPr>
              <a:t> </a:t>
            </a:r>
            <a:r>
              <a:rPr lang="es-PE" dirty="0">
                <a:latin typeface="Calibri" panose="020F0502020204030204" pitchFamily="34" charset="0"/>
                <a:ea typeface="Calibri" panose="020F0502020204030204" pitchFamily="34" charset="0"/>
                <a:cs typeface="Times New Roman" panose="02020603050405020304" pitchFamily="18" charset="0"/>
              </a:rPr>
              <a:t>o un </a:t>
            </a:r>
            <a:r>
              <a:rPr lang="es-PE" b="1" dirty="0" err="1">
                <a:latin typeface="Calibri" panose="020F0502020204030204" pitchFamily="34" charset="0"/>
                <a:ea typeface="Calibri" panose="020F0502020204030204" pitchFamily="34" charset="0"/>
                <a:cs typeface="Times New Roman" panose="02020603050405020304" pitchFamily="18" charset="0"/>
              </a:rPr>
              <a:t>shallowCopy</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Probamos haciendo un cambio en el nombre de la categoría:</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9837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30087"/>
            <a:ext cx="10515600" cy="450574"/>
          </a:xfrm>
        </p:spPr>
        <p:txBody>
          <a:bodyPr>
            <a:normAutofit lnSpcReduction="10000"/>
          </a:bodyPr>
          <a:lstStyle/>
          <a:p>
            <a:r>
              <a:rPr lang="es-PE" dirty="0"/>
              <a:t>Probamos haciendo un cambio en el nombre de la categoría:</a:t>
            </a:r>
            <a:endParaRPr lang="en-US" dirty="0"/>
          </a:p>
          <a:p>
            <a:pPr marL="0" indent="0">
              <a:buNone/>
            </a:pPr>
            <a:endParaRPr lang="en-US" dirty="0"/>
          </a:p>
        </p:txBody>
      </p:sp>
      <p:pic>
        <p:nvPicPr>
          <p:cNvPr id="4" name="Imagen 3"/>
          <p:cNvPicPr/>
          <p:nvPr/>
        </p:nvPicPr>
        <p:blipFill>
          <a:blip r:embed="rId2"/>
          <a:stretch>
            <a:fillRect/>
          </a:stretch>
        </p:blipFill>
        <p:spPr>
          <a:xfrm>
            <a:off x="2637817" y="1108774"/>
            <a:ext cx="6384235" cy="2590372"/>
          </a:xfrm>
          <a:prstGeom prst="rect">
            <a:avLst/>
          </a:prstGeom>
        </p:spPr>
      </p:pic>
      <p:sp>
        <p:nvSpPr>
          <p:cNvPr id="5" name="Rectángulo 4"/>
          <p:cNvSpPr/>
          <p:nvPr/>
        </p:nvSpPr>
        <p:spPr>
          <a:xfrm>
            <a:off x="838200" y="3890804"/>
            <a:ext cx="3411896" cy="388696"/>
          </a:xfrm>
          <a:prstGeom prst="rect">
            <a:avLst/>
          </a:prstGeom>
        </p:spPr>
        <p:txBody>
          <a:bodyPr wrap="non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Y vemos que no está funcionando:</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p:cNvPicPr/>
          <p:nvPr/>
        </p:nvPicPr>
        <p:blipFill>
          <a:blip r:embed="rId3"/>
          <a:stretch>
            <a:fillRect/>
          </a:stretch>
        </p:blipFill>
        <p:spPr>
          <a:xfrm>
            <a:off x="3170583" y="4471159"/>
            <a:ext cx="4991735" cy="1228725"/>
          </a:xfrm>
          <a:prstGeom prst="rect">
            <a:avLst/>
          </a:prstGeom>
        </p:spPr>
      </p:pic>
    </p:spTree>
    <p:extLst>
      <p:ext uri="{BB962C8B-B14F-4D97-AF65-F5344CB8AC3E}">
        <p14:creationId xmlns:p14="http://schemas.microsoft.com/office/powerpoint/2010/main" val="269881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09600"/>
            <a:ext cx="10515600" cy="1603513"/>
          </a:xfrm>
        </p:spPr>
        <p:txBody>
          <a:bodyPr/>
          <a:lstStyle/>
          <a:p>
            <a:pPr algn="just"/>
            <a:r>
              <a:rPr lang="es-PE" sz="2000" dirty="0"/>
              <a:t>Ya que se está haciendo un </a:t>
            </a:r>
            <a:r>
              <a:rPr lang="es-PE" sz="2000" b="1" dirty="0" err="1"/>
              <a:t>shallowCopy</a:t>
            </a:r>
            <a:r>
              <a:rPr lang="es-PE" sz="2000" b="1" dirty="0"/>
              <a:t>,</a:t>
            </a:r>
            <a:r>
              <a:rPr lang="es-PE" sz="2000" dirty="0"/>
              <a:t> solo nos estamos quedando con la referencia de </a:t>
            </a:r>
            <a:r>
              <a:rPr lang="es-PE" sz="2000" b="1" dirty="0" err="1"/>
              <a:t>category</a:t>
            </a:r>
            <a:r>
              <a:rPr lang="es-PE" sz="2000" b="1" dirty="0"/>
              <a:t>,</a:t>
            </a:r>
            <a:r>
              <a:rPr lang="es-PE" sz="2000" dirty="0"/>
              <a:t> no estamos haciendo una nueva </a:t>
            </a:r>
            <a:r>
              <a:rPr lang="es-PE" sz="2000" dirty="0" smtClean="0"/>
              <a:t>copia, </a:t>
            </a:r>
            <a:r>
              <a:rPr lang="es-PE" sz="2000" dirty="0"/>
              <a:t>si no que solo </a:t>
            </a:r>
            <a:r>
              <a:rPr lang="es-PE" sz="2000" dirty="0" smtClean="0"/>
              <a:t>lo que tenemos </a:t>
            </a:r>
            <a:r>
              <a:rPr lang="es-PE" sz="2000" dirty="0"/>
              <a:t>es la referencia a ese objeto a esa propiedad</a:t>
            </a:r>
            <a:endParaRPr lang="en-US" sz="2000" dirty="0"/>
          </a:p>
          <a:p>
            <a:pPr algn="just"/>
            <a:r>
              <a:rPr lang="es-PE" sz="2000" dirty="0"/>
              <a:t>Para resolver ese problema tendríamos que también en nuestra clase </a:t>
            </a:r>
            <a:r>
              <a:rPr lang="es-PE" sz="2000" b="1" dirty="0" err="1"/>
              <a:t>Categoria</a:t>
            </a:r>
            <a:r>
              <a:rPr lang="es-PE" sz="2000" dirty="0"/>
              <a:t> también heredemos de </a:t>
            </a:r>
            <a:r>
              <a:rPr lang="es-PE" sz="2000" b="1" dirty="0" err="1"/>
              <a:t>IClonable</a:t>
            </a:r>
            <a:r>
              <a:rPr lang="es-PE" sz="2000" b="1" dirty="0"/>
              <a:t>:</a:t>
            </a:r>
            <a:endParaRPr lang="en-US" sz="2000" dirty="0"/>
          </a:p>
          <a:p>
            <a:endParaRPr lang="en-US" dirty="0"/>
          </a:p>
        </p:txBody>
      </p:sp>
      <p:pic>
        <p:nvPicPr>
          <p:cNvPr id="4" name="Imagen 3"/>
          <p:cNvPicPr/>
          <p:nvPr/>
        </p:nvPicPr>
        <p:blipFill>
          <a:blip r:embed="rId2"/>
          <a:stretch>
            <a:fillRect/>
          </a:stretch>
        </p:blipFill>
        <p:spPr>
          <a:xfrm>
            <a:off x="438180" y="2733874"/>
            <a:ext cx="4744085" cy="2647950"/>
          </a:xfrm>
          <a:prstGeom prst="rect">
            <a:avLst/>
          </a:prstGeom>
        </p:spPr>
      </p:pic>
      <p:sp>
        <p:nvSpPr>
          <p:cNvPr id="5" name="Flecha derecha 4"/>
          <p:cNvSpPr/>
          <p:nvPr/>
        </p:nvSpPr>
        <p:spPr>
          <a:xfrm>
            <a:off x="5336363" y="3923985"/>
            <a:ext cx="793555" cy="2677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p:cNvSpPr/>
          <p:nvPr/>
        </p:nvSpPr>
        <p:spPr>
          <a:xfrm>
            <a:off x="6774575" y="2067338"/>
            <a:ext cx="4076244" cy="388696"/>
          </a:xfrm>
          <a:prstGeom prst="rect">
            <a:avLst/>
          </a:prstGeom>
        </p:spPr>
        <p:txBody>
          <a:bodyPr wrap="non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Y haríamos esta modificación en </a:t>
            </a:r>
            <a:r>
              <a:rPr lang="es-PE" b="1" dirty="0" err="1">
                <a:latin typeface="Calibri" panose="020F0502020204030204" pitchFamily="34" charset="0"/>
                <a:ea typeface="Calibri" panose="020F0502020204030204" pitchFamily="34" charset="0"/>
                <a:cs typeface="Times New Roman" panose="02020603050405020304" pitchFamily="18" charset="0"/>
              </a:rPr>
              <a:t>Product</a:t>
            </a:r>
            <a:r>
              <a:rPr lang="es-PE" b="1"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p:cNvPicPr/>
          <p:nvPr/>
        </p:nvPicPr>
        <p:blipFill>
          <a:blip r:embed="rId3"/>
          <a:stretch>
            <a:fillRect/>
          </a:stretch>
        </p:blipFill>
        <p:spPr>
          <a:xfrm>
            <a:off x="6284017" y="2654817"/>
            <a:ext cx="5612130" cy="2806065"/>
          </a:xfrm>
          <a:prstGeom prst="rect">
            <a:avLst/>
          </a:prstGeom>
        </p:spPr>
      </p:pic>
      <p:sp>
        <p:nvSpPr>
          <p:cNvPr id="8" name="Rectángulo 7"/>
          <p:cNvSpPr/>
          <p:nvPr/>
        </p:nvSpPr>
        <p:spPr>
          <a:xfrm>
            <a:off x="872118" y="5659665"/>
            <a:ext cx="10515600" cy="685059"/>
          </a:xfrm>
          <a:prstGeom prst="rect">
            <a:avLst/>
          </a:prstGeom>
        </p:spPr>
        <p:txBody>
          <a:bodyPr wrap="square">
            <a:spAutoFit/>
          </a:bodyPr>
          <a:lstStyle/>
          <a:p>
            <a:pPr algn="just">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En resumen esta interfaz </a:t>
            </a:r>
            <a:r>
              <a:rPr lang="es-PE" b="1" dirty="0" err="1">
                <a:latin typeface="Calibri" panose="020F0502020204030204" pitchFamily="34" charset="0"/>
                <a:ea typeface="Calibri" panose="020F0502020204030204" pitchFamily="34" charset="0"/>
                <a:cs typeface="Times New Roman" panose="02020603050405020304" pitchFamily="18" charset="0"/>
              </a:rPr>
              <a:t>IClonable</a:t>
            </a:r>
            <a:r>
              <a:rPr lang="es-PE" dirty="0">
                <a:latin typeface="Calibri" panose="020F0502020204030204" pitchFamily="34" charset="0"/>
                <a:ea typeface="Calibri" panose="020F0502020204030204" pitchFamily="34" charset="0"/>
                <a:cs typeface="Times New Roman" panose="02020603050405020304" pitchFamily="18" charset="0"/>
              </a:rPr>
              <a:t> no nos da la información necesaria sobre si se está haciendo un </a:t>
            </a:r>
            <a:r>
              <a:rPr lang="es-PE" b="1" dirty="0" err="1">
                <a:latin typeface="Calibri" panose="020F0502020204030204" pitchFamily="34" charset="0"/>
                <a:ea typeface="Calibri" panose="020F0502020204030204" pitchFamily="34" charset="0"/>
                <a:cs typeface="Times New Roman" panose="02020603050405020304" pitchFamily="18" charset="0"/>
              </a:rPr>
              <a:t>shallowCopy</a:t>
            </a:r>
            <a:r>
              <a:rPr lang="es-PE" dirty="0">
                <a:latin typeface="Calibri" panose="020F0502020204030204" pitchFamily="34" charset="0"/>
                <a:ea typeface="Calibri" panose="020F0502020204030204" pitchFamily="34" charset="0"/>
                <a:cs typeface="Times New Roman" panose="02020603050405020304" pitchFamily="18" charset="0"/>
              </a:rPr>
              <a:t> o un </a:t>
            </a:r>
            <a:r>
              <a:rPr lang="es-PE" b="1" dirty="0" err="1">
                <a:latin typeface="Calibri" panose="020F0502020204030204" pitchFamily="34" charset="0"/>
                <a:ea typeface="Calibri" panose="020F0502020204030204" pitchFamily="34" charset="0"/>
                <a:cs typeface="Times New Roman" panose="02020603050405020304" pitchFamily="18" charset="0"/>
              </a:rPr>
              <a:t>deepCopy</a:t>
            </a:r>
            <a:r>
              <a:rPr lang="es-PE" dirty="0">
                <a:latin typeface="Calibri" panose="020F0502020204030204" pitchFamily="34" charset="0"/>
                <a:ea typeface="Calibri" panose="020F0502020204030204" pitchFamily="34" charset="0"/>
                <a:cs typeface="Times New Roman" panose="02020603050405020304" pitchFamily="18" charset="0"/>
              </a:rPr>
              <a:t> por lo que se lo deja a la implementación determinar dicho aspecto.</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3810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424070"/>
            <a:ext cx="10515600" cy="1298713"/>
          </a:xfrm>
        </p:spPr>
        <p:txBody>
          <a:bodyPr/>
          <a:lstStyle/>
          <a:p>
            <a:pPr marL="0" indent="0" algn="ctr">
              <a:buNone/>
            </a:pPr>
            <a:r>
              <a:rPr lang="es-PE" b="1" dirty="0" smtClean="0"/>
              <a:t>Ahora </a:t>
            </a:r>
            <a:r>
              <a:rPr lang="es-PE" b="1" dirty="0"/>
              <a:t>vamos a realizar la implementacion de PROTOTYPE pero ya ahora sin usar </a:t>
            </a:r>
            <a:r>
              <a:rPr lang="es-PE" b="1" dirty="0" err="1" smtClean="0"/>
              <a:t>IClONABLE</a:t>
            </a:r>
            <a:endParaRPr lang="es-PE" b="1" dirty="0" smtClean="0"/>
          </a:p>
          <a:p>
            <a:r>
              <a:rPr lang="es-PE" sz="2000" dirty="0"/>
              <a:t>Ahora </a:t>
            </a:r>
            <a:r>
              <a:rPr lang="es-PE" sz="2000" dirty="0" err="1"/>
              <a:t>implementamo</a:t>
            </a:r>
            <a:r>
              <a:rPr lang="es-PE" sz="2000" dirty="0"/>
              <a:t> la interfaz </a:t>
            </a:r>
            <a:r>
              <a:rPr lang="es-PE" sz="2000" b="1" dirty="0" err="1"/>
              <a:t>IPrototipe</a:t>
            </a:r>
            <a:r>
              <a:rPr lang="es-PE" sz="2000" b="1" dirty="0"/>
              <a:t>&lt;T&gt;</a:t>
            </a:r>
            <a:r>
              <a:rPr lang="es-PE" sz="2000" dirty="0"/>
              <a:t> y hacemos la modificación en </a:t>
            </a:r>
            <a:r>
              <a:rPr lang="es-PE" sz="2000" b="1" dirty="0" err="1"/>
              <a:t>Product</a:t>
            </a:r>
            <a:r>
              <a:rPr lang="es-PE" sz="2000" b="1" dirty="0"/>
              <a:t>:</a:t>
            </a:r>
            <a:endParaRPr lang="en-US" sz="2000" dirty="0"/>
          </a:p>
          <a:p>
            <a:pPr marL="0" indent="0">
              <a:buNone/>
            </a:pPr>
            <a:endParaRPr lang="en-US" dirty="0"/>
          </a:p>
          <a:p>
            <a:endParaRPr lang="en-US" dirty="0"/>
          </a:p>
        </p:txBody>
      </p:sp>
      <p:pic>
        <p:nvPicPr>
          <p:cNvPr id="4" name="Imagen 3"/>
          <p:cNvPicPr/>
          <p:nvPr/>
        </p:nvPicPr>
        <p:blipFill>
          <a:blip r:embed="rId2"/>
          <a:stretch>
            <a:fillRect/>
          </a:stretch>
        </p:blipFill>
        <p:spPr>
          <a:xfrm>
            <a:off x="3467141" y="1905524"/>
            <a:ext cx="5257717" cy="3644514"/>
          </a:xfrm>
          <a:prstGeom prst="rect">
            <a:avLst/>
          </a:prstGeom>
        </p:spPr>
      </p:pic>
      <p:sp>
        <p:nvSpPr>
          <p:cNvPr id="5" name="Rectángulo 4"/>
          <p:cNvSpPr/>
          <p:nvPr/>
        </p:nvSpPr>
        <p:spPr>
          <a:xfrm>
            <a:off x="838200" y="5732780"/>
            <a:ext cx="10515600" cy="685059"/>
          </a:xfrm>
          <a:prstGeom prst="rect">
            <a:avLst/>
          </a:prstGeom>
        </p:spPr>
        <p:txBody>
          <a:bodyPr wrap="square">
            <a:spAutoFit/>
          </a:bodyPr>
          <a:lstStyle/>
          <a:p>
            <a:pPr>
              <a:lnSpc>
                <a:spcPct val="107000"/>
              </a:lnSpc>
              <a:spcAft>
                <a:spcPts val="800"/>
              </a:spcAft>
            </a:pPr>
            <a:r>
              <a:rPr lang="es-PE" dirty="0">
                <a:latin typeface="Calibri" panose="020F0502020204030204" pitchFamily="34" charset="0"/>
                <a:ea typeface="Calibri" panose="020F0502020204030204" pitchFamily="34" charset="0"/>
                <a:cs typeface="Times New Roman" panose="02020603050405020304" pitchFamily="18" charset="0"/>
              </a:rPr>
              <a:t>El problema es que esta implementación la tendríamos que realizar en cada propiedad de navegación que pertenece a </a:t>
            </a:r>
            <a:r>
              <a:rPr lang="es-PE" b="1" dirty="0">
                <a:latin typeface="Calibri" panose="020F0502020204030204" pitchFamily="34" charset="0"/>
                <a:ea typeface="Calibri" panose="020F0502020204030204" pitchFamily="34" charset="0"/>
                <a:cs typeface="Times New Roman" panose="02020603050405020304" pitchFamily="18" charset="0"/>
              </a:rPr>
              <a:t>Producto</a:t>
            </a:r>
            <a:r>
              <a:rPr lang="es-PE" dirty="0">
                <a:latin typeface="Calibri" panose="020F0502020204030204" pitchFamily="34" charset="0"/>
                <a:ea typeface="Calibri" panose="020F0502020204030204" pitchFamily="34" charset="0"/>
                <a:cs typeface="Times New Roman" panose="02020603050405020304" pitchFamily="18" charset="0"/>
              </a:rPr>
              <a:t> y se complica más si nuestra clase </a:t>
            </a:r>
            <a:r>
              <a:rPr lang="es-PE" b="1" dirty="0">
                <a:latin typeface="Calibri" panose="020F0502020204030204" pitchFamily="34" charset="0"/>
                <a:ea typeface="Calibri" panose="020F0502020204030204" pitchFamily="34" charset="0"/>
                <a:cs typeface="Times New Roman" panose="02020603050405020304" pitchFamily="18" charset="0"/>
              </a:rPr>
              <a:t>Producto es bastante compleja.</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1568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30087"/>
            <a:ext cx="10515600" cy="5646876"/>
          </a:xfrm>
        </p:spPr>
        <p:txBody>
          <a:bodyPr/>
          <a:lstStyle/>
          <a:p>
            <a:pPr marL="0" indent="0">
              <a:buNone/>
            </a:pPr>
            <a:r>
              <a:rPr lang="es-PE" b="1" dirty="0"/>
              <a:t>Para solucionar esto -&gt; </a:t>
            </a:r>
            <a:endParaRPr lang="es-PE" b="1" dirty="0" smtClean="0"/>
          </a:p>
          <a:p>
            <a:pPr marL="0" indent="0">
              <a:buNone/>
            </a:pPr>
            <a:r>
              <a:rPr lang="es-PE" sz="2000" dirty="0" smtClean="0"/>
              <a:t>Aquí </a:t>
            </a:r>
            <a:r>
              <a:rPr lang="es-PE" sz="2000" dirty="0"/>
              <a:t>vamos a usar la</a:t>
            </a:r>
            <a:r>
              <a:rPr lang="es-PE" sz="2000" b="1" dirty="0"/>
              <a:t> SERIALIZACION</a:t>
            </a:r>
            <a:r>
              <a:rPr lang="es-PE" sz="2000" dirty="0"/>
              <a:t> ya que se realiza la serializacion de todas las propiedades presentes en nuestra clase y además de todos las propiedades que contienen los mismos objetos dentro de nuestra clase</a:t>
            </a:r>
            <a:endParaRPr lang="en-US" sz="2000" dirty="0"/>
          </a:p>
          <a:p>
            <a:pPr lvl="0"/>
            <a:r>
              <a:rPr lang="es-PE" sz="2000" dirty="0"/>
              <a:t>Vamos a realizar una serializacion a binario:</a:t>
            </a:r>
            <a:endParaRPr lang="en-US" sz="2000" dirty="0"/>
          </a:p>
          <a:p>
            <a:endParaRPr lang="en-US" dirty="0"/>
          </a:p>
        </p:txBody>
      </p:sp>
      <p:pic>
        <p:nvPicPr>
          <p:cNvPr id="4" name="Imagen 3"/>
          <p:cNvPicPr/>
          <p:nvPr/>
        </p:nvPicPr>
        <p:blipFill>
          <a:blip r:embed="rId2"/>
          <a:stretch>
            <a:fillRect/>
          </a:stretch>
        </p:blipFill>
        <p:spPr>
          <a:xfrm>
            <a:off x="2725019" y="2427522"/>
            <a:ext cx="6741961" cy="3270912"/>
          </a:xfrm>
          <a:prstGeom prst="rect">
            <a:avLst/>
          </a:prstGeom>
        </p:spPr>
      </p:pic>
    </p:spTree>
    <p:extLst>
      <p:ext uri="{BB962C8B-B14F-4D97-AF65-F5344CB8AC3E}">
        <p14:creationId xmlns:p14="http://schemas.microsoft.com/office/powerpoint/2010/main" val="384573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Beneficios del Prototype </a:t>
            </a:r>
            <a:r>
              <a:rPr lang="es-MX" b="1" dirty="0" err="1" smtClean="0"/>
              <a:t>Pattern</a:t>
            </a:r>
            <a:endParaRPr lang="en-US" dirty="0"/>
          </a:p>
        </p:txBody>
      </p:sp>
      <p:sp>
        <p:nvSpPr>
          <p:cNvPr id="3" name="Marcador de contenido 2"/>
          <p:cNvSpPr>
            <a:spLocks noGrp="1"/>
          </p:cNvSpPr>
          <p:nvPr>
            <p:ph idx="1"/>
          </p:nvPr>
        </p:nvSpPr>
        <p:spPr/>
        <p:txBody>
          <a:bodyPr/>
          <a:lstStyle/>
          <a:p>
            <a:pPr algn="just"/>
            <a:r>
              <a:rPr lang="es-MX" b="1" dirty="0" smtClean="0"/>
              <a:t>Reducción </a:t>
            </a:r>
            <a:r>
              <a:rPr lang="es-MX" b="1" dirty="0"/>
              <a:t>de costos</a:t>
            </a:r>
            <a:r>
              <a:rPr lang="es-MX" dirty="0"/>
              <a:t>: Al clonar objetos existentes en lugar de crear nuevos desde cero.</a:t>
            </a:r>
          </a:p>
          <a:p>
            <a:pPr algn="just"/>
            <a:r>
              <a:rPr lang="es-MX" b="1" dirty="0"/>
              <a:t>Simplificación de la creación</a:t>
            </a:r>
            <a:r>
              <a:rPr lang="es-MX" dirty="0"/>
              <a:t>: Útil cuando los objetos tienen </a:t>
            </a:r>
            <a:r>
              <a:rPr lang="es-MX" b="1" dirty="0">
                <a:solidFill>
                  <a:srgbClr val="FF0000"/>
                </a:solidFill>
              </a:rPr>
              <a:t>configuraciones complejas </a:t>
            </a:r>
            <a:r>
              <a:rPr lang="es-MX" dirty="0"/>
              <a:t>o son costosos de crear.</a:t>
            </a:r>
          </a:p>
          <a:p>
            <a:pPr algn="just"/>
            <a:r>
              <a:rPr lang="es-MX" b="1" dirty="0"/>
              <a:t>Evita el uso de jerarquías de clase extensas</a:t>
            </a:r>
            <a:r>
              <a:rPr lang="es-MX" dirty="0"/>
              <a:t>: Permite la creación de nuevos objetos dinámicamente en tiempo de ejecución.</a:t>
            </a:r>
          </a:p>
          <a:p>
            <a:pPr marL="0" indent="0" algn="just">
              <a:buNone/>
            </a:pPr>
            <a:r>
              <a:rPr lang="es-MX" dirty="0"/>
              <a:t>En resumen, el </a:t>
            </a:r>
            <a:r>
              <a:rPr lang="es-MX" b="1" dirty="0">
                <a:solidFill>
                  <a:srgbClr val="FF0000"/>
                </a:solidFill>
              </a:rPr>
              <a:t>Prototype </a:t>
            </a:r>
            <a:r>
              <a:rPr lang="es-MX" b="1" dirty="0" err="1">
                <a:solidFill>
                  <a:srgbClr val="FF0000"/>
                </a:solidFill>
              </a:rPr>
              <a:t>Pattern</a:t>
            </a:r>
            <a:r>
              <a:rPr lang="es-MX" b="1" dirty="0">
                <a:solidFill>
                  <a:srgbClr val="FF0000"/>
                </a:solidFill>
              </a:rPr>
              <a:t> </a:t>
            </a:r>
            <a:r>
              <a:rPr lang="es-MX" dirty="0"/>
              <a:t>es útil en situaciones donde crear objetos nuevos desde cero es costoso o complicado, y permite clonar objetos existentes para reutilizar su configuración y estado.</a:t>
            </a:r>
            <a:endParaRPr lang="en-US" dirty="0"/>
          </a:p>
        </p:txBody>
      </p:sp>
    </p:spTree>
    <p:extLst>
      <p:ext uri="{BB962C8B-B14F-4D97-AF65-F5344CB8AC3E}">
        <p14:creationId xmlns:p14="http://schemas.microsoft.com/office/powerpoint/2010/main" val="1079332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BUILDER</a:t>
            </a:r>
            <a:endParaRPr lang="en-US" dirty="0"/>
          </a:p>
        </p:txBody>
      </p:sp>
      <p:sp>
        <p:nvSpPr>
          <p:cNvPr id="3" name="Marcador de contenido 2"/>
          <p:cNvSpPr>
            <a:spLocks noGrp="1"/>
          </p:cNvSpPr>
          <p:nvPr>
            <p:ph idx="1"/>
          </p:nvPr>
        </p:nvSpPr>
        <p:spPr>
          <a:xfrm>
            <a:off x="838200" y="1825625"/>
            <a:ext cx="10515600" cy="1686201"/>
          </a:xfrm>
        </p:spPr>
        <p:txBody>
          <a:bodyPr/>
          <a:lstStyle/>
          <a:p>
            <a:pPr algn="just"/>
            <a:r>
              <a:rPr lang="es-MX" b="1" dirty="0" err="1"/>
              <a:t>Builder</a:t>
            </a:r>
            <a:r>
              <a:rPr lang="es-MX" dirty="0"/>
              <a:t> es un patrón de diseño creacional que nos permite construir </a:t>
            </a:r>
            <a:r>
              <a:rPr lang="es-MX" b="1" dirty="0"/>
              <a:t>objetos complejos </a:t>
            </a:r>
            <a:r>
              <a:rPr lang="es-MX" dirty="0"/>
              <a:t>paso a paso. El patrón nos permite producir distintos tipos y representaciones de un objeto empleando el mismo código de construcción.</a:t>
            </a:r>
            <a:endParaRPr lang="en-US" dirty="0"/>
          </a:p>
        </p:txBody>
      </p:sp>
      <p:pic>
        <p:nvPicPr>
          <p:cNvPr id="4" name="Imagen 3"/>
          <p:cNvPicPr>
            <a:picLocks noChangeAspect="1"/>
          </p:cNvPicPr>
          <p:nvPr/>
        </p:nvPicPr>
        <p:blipFill>
          <a:blip r:embed="rId2"/>
          <a:stretch>
            <a:fillRect/>
          </a:stretch>
        </p:blipFill>
        <p:spPr>
          <a:xfrm>
            <a:off x="3366052" y="3511826"/>
            <a:ext cx="5099252" cy="3116209"/>
          </a:xfrm>
          <a:prstGeom prst="rect">
            <a:avLst/>
          </a:prstGeom>
        </p:spPr>
      </p:pic>
    </p:spTree>
    <p:extLst>
      <p:ext uri="{BB962C8B-B14F-4D97-AF65-F5344CB8AC3E}">
        <p14:creationId xmlns:p14="http://schemas.microsoft.com/office/powerpoint/2010/main" val="3689885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¿Cuál es el problema?</a:t>
            </a:r>
            <a:endParaRPr lang="en-US" b="1" dirty="0"/>
          </a:p>
        </p:txBody>
      </p:sp>
      <p:sp>
        <p:nvSpPr>
          <p:cNvPr id="3" name="Marcador de contenido 2"/>
          <p:cNvSpPr>
            <a:spLocks noGrp="1"/>
          </p:cNvSpPr>
          <p:nvPr>
            <p:ph idx="1"/>
          </p:nvPr>
        </p:nvSpPr>
        <p:spPr>
          <a:xfrm>
            <a:off x="838200" y="1825625"/>
            <a:ext cx="4648200" cy="2083766"/>
          </a:xfrm>
        </p:spPr>
        <p:txBody>
          <a:bodyPr>
            <a:normAutofit fontScale="70000" lnSpcReduction="20000"/>
          </a:bodyPr>
          <a:lstStyle/>
          <a:p>
            <a:pPr algn="just"/>
            <a:r>
              <a:rPr lang="es-MX" dirty="0"/>
              <a:t>Imagina un objeto complejo que requiere una inicialización laboriosa, paso a paso, de muchos campos y objetos anidados. Normalmente, este código de inicialización está sepultado </a:t>
            </a:r>
            <a:r>
              <a:rPr lang="es-MX" b="1" dirty="0">
                <a:solidFill>
                  <a:srgbClr val="FF0000"/>
                </a:solidFill>
              </a:rPr>
              <a:t>dentro de un monstruoso constructor </a:t>
            </a:r>
            <a:r>
              <a:rPr lang="es-MX" dirty="0"/>
              <a:t>con una gran cantidad de parámetros. O, peor aún: disperso por todo el código cliente.</a:t>
            </a:r>
            <a:endParaRPr lang="en-US" dirty="0"/>
          </a:p>
        </p:txBody>
      </p:sp>
      <p:pic>
        <p:nvPicPr>
          <p:cNvPr id="4" name="Imagen 3"/>
          <p:cNvPicPr>
            <a:picLocks noChangeAspect="1"/>
          </p:cNvPicPr>
          <p:nvPr/>
        </p:nvPicPr>
        <p:blipFill>
          <a:blip r:embed="rId2"/>
          <a:stretch>
            <a:fillRect/>
          </a:stretch>
        </p:blipFill>
        <p:spPr>
          <a:xfrm>
            <a:off x="6241774" y="1509367"/>
            <a:ext cx="5230504" cy="2885263"/>
          </a:xfrm>
          <a:prstGeom prst="rect">
            <a:avLst/>
          </a:prstGeom>
        </p:spPr>
      </p:pic>
      <p:sp>
        <p:nvSpPr>
          <p:cNvPr id="5" name="Rectángulo 4"/>
          <p:cNvSpPr/>
          <p:nvPr/>
        </p:nvSpPr>
        <p:spPr>
          <a:xfrm>
            <a:off x="838200" y="4213309"/>
            <a:ext cx="4671390" cy="923330"/>
          </a:xfrm>
          <a:prstGeom prst="rect">
            <a:avLst/>
          </a:prstGeom>
        </p:spPr>
        <p:txBody>
          <a:bodyPr wrap="square">
            <a:spAutoFit/>
          </a:bodyPr>
          <a:lstStyle/>
          <a:p>
            <a:pPr algn="just"/>
            <a:r>
              <a:rPr lang="es-MX" i="1" dirty="0">
                <a:solidFill>
                  <a:srgbClr val="999999"/>
                </a:solidFill>
                <a:latin typeface="PT Sans"/>
              </a:rPr>
              <a:t>Crear una subclase por cada configuración posible de un objeto puede complicar demasiado el programa.</a:t>
            </a:r>
            <a:endParaRPr lang="en-US" dirty="0"/>
          </a:p>
        </p:txBody>
      </p:sp>
    </p:spTree>
    <p:extLst>
      <p:ext uri="{BB962C8B-B14F-4D97-AF65-F5344CB8AC3E}">
        <p14:creationId xmlns:p14="http://schemas.microsoft.com/office/powerpoint/2010/main" val="1196080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smtClean="0"/>
              <a:t>Solución</a:t>
            </a:r>
            <a:endParaRPr lang="en-US" dirty="0"/>
          </a:p>
        </p:txBody>
      </p:sp>
      <p:sp>
        <p:nvSpPr>
          <p:cNvPr id="3" name="Marcador de contenido 2"/>
          <p:cNvSpPr>
            <a:spLocks noGrp="1"/>
          </p:cNvSpPr>
          <p:nvPr>
            <p:ph idx="1"/>
          </p:nvPr>
        </p:nvSpPr>
        <p:spPr/>
        <p:txBody>
          <a:bodyPr/>
          <a:lstStyle/>
          <a:p>
            <a:pPr algn="just"/>
            <a:r>
              <a:rPr lang="es-MX" dirty="0"/>
              <a:t>El patrón </a:t>
            </a:r>
            <a:r>
              <a:rPr lang="es-MX" dirty="0" err="1"/>
              <a:t>Builder</a:t>
            </a:r>
            <a:r>
              <a:rPr lang="es-MX" dirty="0"/>
              <a:t> sugiere que saques el código de </a:t>
            </a:r>
            <a:r>
              <a:rPr lang="es-MX" b="1" dirty="0">
                <a:solidFill>
                  <a:srgbClr val="FF0000"/>
                </a:solidFill>
              </a:rPr>
              <a:t>construcción del objeto de su propia clase</a:t>
            </a:r>
            <a:r>
              <a:rPr lang="es-MX" dirty="0"/>
              <a:t> y lo </a:t>
            </a:r>
            <a:r>
              <a:rPr lang="es-MX" b="1" dirty="0">
                <a:solidFill>
                  <a:srgbClr val="FF0000"/>
                </a:solidFill>
              </a:rPr>
              <a:t>coloques dentro de objetos independientes llamados </a:t>
            </a:r>
            <a:r>
              <a:rPr lang="es-MX" b="1" i="1" dirty="0">
                <a:solidFill>
                  <a:srgbClr val="FF0000"/>
                </a:solidFill>
              </a:rPr>
              <a:t>constructores</a:t>
            </a:r>
            <a:r>
              <a:rPr lang="es-MX" dirty="0" smtClean="0"/>
              <a:t>.</a:t>
            </a:r>
          </a:p>
          <a:p>
            <a:pPr algn="just"/>
            <a:r>
              <a:rPr lang="es-PE" dirty="0"/>
              <a:t>El patrón organiza la construcción de objetos en una serie de pasos (</a:t>
            </a:r>
            <a:r>
              <a:rPr lang="es-PE" dirty="0" err="1"/>
              <a:t>construirParedes</a:t>
            </a:r>
            <a:r>
              <a:rPr lang="es-PE" dirty="0"/>
              <a:t>, </a:t>
            </a:r>
            <a:r>
              <a:rPr lang="es-PE" dirty="0" err="1"/>
              <a:t>construirPuerta</a:t>
            </a:r>
            <a:r>
              <a:rPr lang="es-PE" dirty="0"/>
              <a:t>, etc.). Para crear un objeto, se ejecuta una serie de estos pasos en un objeto </a:t>
            </a:r>
            <a:r>
              <a:rPr lang="es-PE" b="1" dirty="0">
                <a:solidFill>
                  <a:srgbClr val="FF0000"/>
                </a:solidFill>
              </a:rPr>
              <a:t>constructor</a:t>
            </a:r>
            <a:r>
              <a:rPr lang="es-PE" dirty="0"/>
              <a:t>. Lo importante es que no necesitas invocar </a:t>
            </a:r>
            <a:r>
              <a:rPr lang="es-PE" b="1" dirty="0">
                <a:solidFill>
                  <a:srgbClr val="FF0000"/>
                </a:solidFill>
              </a:rPr>
              <a:t>todos los pasos</a:t>
            </a:r>
            <a:r>
              <a:rPr lang="es-PE" dirty="0"/>
              <a:t>. Puedes invocar sólo aquellos que sean necesarios para producir una configuración particular de un objeto.</a:t>
            </a:r>
            <a:endParaRPr lang="en-US" dirty="0"/>
          </a:p>
          <a:p>
            <a:pPr algn="just"/>
            <a:endParaRPr lang="en-US" dirty="0"/>
          </a:p>
        </p:txBody>
      </p:sp>
    </p:spTree>
    <p:extLst>
      <p:ext uri="{BB962C8B-B14F-4D97-AF65-F5344CB8AC3E}">
        <p14:creationId xmlns:p14="http://schemas.microsoft.com/office/powerpoint/2010/main" val="3715375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Componentes</a:t>
            </a:r>
            <a:r>
              <a:rPr lang="en-US" b="1" dirty="0"/>
              <a:t> del </a:t>
            </a:r>
            <a:r>
              <a:rPr lang="en-US" b="1" dirty="0" err="1"/>
              <a:t>Patrón</a:t>
            </a:r>
            <a:r>
              <a:rPr lang="en-US" b="1" dirty="0"/>
              <a:t> Builder</a:t>
            </a:r>
          </a:p>
        </p:txBody>
      </p:sp>
      <p:sp>
        <p:nvSpPr>
          <p:cNvPr id="3" name="Marcador de contenido 2"/>
          <p:cNvSpPr>
            <a:spLocks noGrp="1"/>
          </p:cNvSpPr>
          <p:nvPr>
            <p:ph idx="1"/>
          </p:nvPr>
        </p:nvSpPr>
        <p:spPr/>
        <p:txBody>
          <a:bodyPr>
            <a:normAutofit/>
          </a:bodyPr>
          <a:lstStyle/>
          <a:p>
            <a:pPr algn="just"/>
            <a:r>
              <a:rPr lang="es-MX" sz="2400" dirty="0" smtClean="0"/>
              <a:t>A </a:t>
            </a:r>
            <a:r>
              <a:rPr lang="es-MX" sz="2400" dirty="0"/>
              <a:t>diferencia de otros patrones de creación, el </a:t>
            </a:r>
            <a:r>
              <a:rPr lang="es-MX" sz="2400" b="1" dirty="0" err="1">
                <a:solidFill>
                  <a:srgbClr val="FF0000"/>
                </a:solidFill>
              </a:rPr>
              <a:t>Builder</a:t>
            </a:r>
            <a:r>
              <a:rPr lang="es-MX" sz="2400" dirty="0"/>
              <a:t> permite que el proceso de construcción sea más controlado y flexible, facilitando la creación de diferentes representaciones de un objeto complejo sin necesidad de que los clientes </a:t>
            </a:r>
            <a:r>
              <a:rPr lang="es-MX" sz="2400" dirty="0" smtClean="0"/>
              <a:t>conozcan </a:t>
            </a:r>
            <a:r>
              <a:rPr lang="es-MX" sz="2400" dirty="0"/>
              <a:t>todos los detalles internos del objeto</a:t>
            </a:r>
            <a:r>
              <a:rPr lang="es-MX" sz="2400" dirty="0" smtClean="0"/>
              <a:t>.</a:t>
            </a:r>
          </a:p>
          <a:p>
            <a:pPr marL="514350" indent="-514350">
              <a:buFont typeface="+mj-lt"/>
              <a:buAutoNum type="arabicPeriod"/>
            </a:pPr>
            <a:r>
              <a:rPr lang="es-PE" sz="2400" b="1" dirty="0" err="1">
                <a:solidFill>
                  <a:srgbClr val="FF0000"/>
                </a:solidFill>
              </a:rPr>
              <a:t>Builder</a:t>
            </a:r>
            <a:r>
              <a:rPr lang="es-PE" sz="2400" b="1" dirty="0">
                <a:solidFill>
                  <a:srgbClr val="FF0000"/>
                </a:solidFill>
              </a:rPr>
              <a:t>: Define una interfaz </a:t>
            </a:r>
            <a:r>
              <a:rPr lang="es-PE" sz="2400" dirty="0"/>
              <a:t>para la creación de las partes del objeto.</a:t>
            </a:r>
            <a:endParaRPr lang="en-US" sz="2400" dirty="0"/>
          </a:p>
          <a:p>
            <a:pPr marL="514350" indent="-514350">
              <a:buFont typeface="+mj-lt"/>
              <a:buAutoNum type="arabicPeriod"/>
            </a:pPr>
            <a:r>
              <a:rPr lang="es-PE" sz="2400" b="1" dirty="0" err="1">
                <a:solidFill>
                  <a:srgbClr val="FF0000"/>
                </a:solidFill>
              </a:rPr>
              <a:t>ConcreteBuilder</a:t>
            </a:r>
            <a:r>
              <a:rPr lang="es-PE" sz="2400" b="1" dirty="0">
                <a:solidFill>
                  <a:srgbClr val="FF0000"/>
                </a:solidFill>
              </a:rPr>
              <a:t>: </a:t>
            </a:r>
            <a:r>
              <a:rPr lang="es-PE" sz="2400" dirty="0"/>
              <a:t>Implementa la </a:t>
            </a:r>
            <a:r>
              <a:rPr lang="es-PE" sz="2400" b="1" dirty="0">
                <a:solidFill>
                  <a:srgbClr val="FF0000"/>
                </a:solidFill>
              </a:rPr>
              <a:t>interfaz</a:t>
            </a:r>
            <a:r>
              <a:rPr lang="es-PE" sz="2400" dirty="0"/>
              <a:t> de </a:t>
            </a:r>
            <a:r>
              <a:rPr lang="es-PE" sz="2400" dirty="0" err="1"/>
              <a:t>Builder</a:t>
            </a:r>
            <a:r>
              <a:rPr lang="es-PE" sz="2400" dirty="0"/>
              <a:t> y construye y ensambla las partes del objeto.</a:t>
            </a:r>
            <a:endParaRPr lang="en-US" sz="2400" dirty="0"/>
          </a:p>
          <a:p>
            <a:pPr marL="514350" indent="-514350">
              <a:buFont typeface="+mj-lt"/>
              <a:buAutoNum type="arabicPeriod"/>
            </a:pPr>
            <a:r>
              <a:rPr lang="es-PE" sz="2400" b="1" dirty="0" err="1">
                <a:solidFill>
                  <a:srgbClr val="FF0000"/>
                </a:solidFill>
              </a:rPr>
              <a:t>Product</a:t>
            </a:r>
            <a:r>
              <a:rPr lang="es-PE" sz="2400" b="1" dirty="0">
                <a:solidFill>
                  <a:srgbClr val="FF0000"/>
                </a:solidFill>
              </a:rPr>
              <a:t>: </a:t>
            </a:r>
            <a:r>
              <a:rPr lang="es-PE" sz="2400" dirty="0"/>
              <a:t>Representa el objeto complejo que se está construyendo.</a:t>
            </a:r>
            <a:endParaRPr lang="en-US" sz="2400" dirty="0"/>
          </a:p>
          <a:p>
            <a:pPr marL="514350" indent="-514350">
              <a:buFont typeface="+mj-lt"/>
              <a:buAutoNum type="arabicPeriod"/>
            </a:pPr>
            <a:r>
              <a:rPr lang="es-PE" sz="2400" b="1" dirty="0">
                <a:solidFill>
                  <a:srgbClr val="FF0000"/>
                </a:solidFill>
              </a:rPr>
              <a:t>Director: </a:t>
            </a:r>
            <a:r>
              <a:rPr lang="es-PE" sz="2400" dirty="0"/>
              <a:t>Construye un objeto utilizando la interfaz de </a:t>
            </a:r>
            <a:r>
              <a:rPr lang="es-PE" sz="2400" b="1" dirty="0" err="1" smtClean="0">
                <a:solidFill>
                  <a:srgbClr val="FF0000"/>
                </a:solidFill>
              </a:rPr>
              <a:t>Builder</a:t>
            </a:r>
            <a:r>
              <a:rPr lang="es-PE" sz="2400" dirty="0" smtClean="0"/>
              <a:t>.</a:t>
            </a:r>
          </a:p>
          <a:p>
            <a:pPr marL="514350" indent="-514350">
              <a:buFont typeface="+mj-lt"/>
              <a:buAutoNum type="arabicPeriod"/>
            </a:pPr>
            <a:r>
              <a:rPr lang="en-US" altLang="en-US" sz="2400" b="1" dirty="0" smtClean="0">
                <a:solidFill>
                  <a:srgbClr val="FF0000"/>
                </a:solidFill>
                <a:latin typeface="Arial" panose="020B0604020202020204" pitchFamily="34" charset="0"/>
              </a:rPr>
              <a:t>Client </a:t>
            </a:r>
            <a:r>
              <a:rPr lang="en-US" altLang="en-US" sz="2400" b="1" dirty="0">
                <a:solidFill>
                  <a:srgbClr val="FF0000"/>
                </a:solidFill>
                <a:latin typeface="Arial" panose="020B0604020202020204" pitchFamily="34" charset="0"/>
              </a:rPr>
              <a:t>(</a:t>
            </a:r>
            <a:r>
              <a:rPr lang="en-US" altLang="en-US" sz="2400" b="1" dirty="0" err="1">
                <a:solidFill>
                  <a:srgbClr val="FF0000"/>
                </a:solidFill>
                <a:latin typeface="Arial" panose="020B0604020202020204" pitchFamily="34" charset="0"/>
              </a:rPr>
              <a:t>Cliente</a:t>
            </a:r>
            <a:r>
              <a:rPr lang="en-US" altLang="en-US" sz="2400" b="1" dirty="0" smtClean="0">
                <a:solidFill>
                  <a:srgbClr val="FF0000"/>
                </a:solidFill>
                <a:latin typeface="Arial" panose="020B0604020202020204" pitchFamily="34" charset="0"/>
              </a:rPr>
              <a:t>)</a:t>
            </a:r>
            <a:r>
              <a:rPr lang="en-US" altLang="en-US" sz="2400" dirty="0" smtClean="0">
                <a:solidFill>
                  <a:srgbClr val="FF0000"/>
                </a:solidFill>
                <a:latin typeface="Arial" panose="020B0604020202020204" pitchFamily="34" charset="0"/>
              </a:rPr>
              <a:t>: </a:t>
            </a:r>
            <a:r>
              <a:rPr lang="en-US" altLang="en-US" sz="2400" dirty="0" smtClean="0"/>
              <a:t>La </a:t>
            </a:r>
            <a:r>
              <a:rPr lang="en-US" altLang="en-US" sz="2400" dirty="0"/>
              <a:t>parte que usa el Builder para </a:t>
            </a:r>
            <a:r>
              <a:rPr lang="en-US" altLang="en-US" sz="2400" dirty="0" err="1"/>
              <a:t>crear</a:t>
            </a:r>
            <a:r>
              <a:rPr lang="en-US" altLang="en-US" sz="2400" dirty="0"/>
              <a:t> un </a:t>
            </a:r>
            <a:r>
              <a:rPr lang="en-US" altLang="en-US" sz="2400" dirty="0" err="1" smtClean="0"/>
              <a:t>objeto</a:t>
            </a:r>
            <a:r>
              <a:rPr lang="en-US" altLang="en-US" sz="2400" dirty="0"/>
              <a:t>.</a:t>
            </a:r>
            <a:endParaRPr lang="es-PE" sz="2400" dirty="0" smtClean="0"/>
          </a:p>
        </p:txBody>
      </p:sp>
    </p:spTree>
    <p:extLst>
      <p:ext uri="{BB962C8B-B14F-4D97-AF65-F5344CB8AC3E}">
        <p14:creationId xmlns:p14="http://schemas.microsoft.com/office/powerpoint/2010/main" val="91460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bwMode="auto">
          <a:xfrm>
            <a:off x="786431" y="1274151"/>
            <a:ext cx="103201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Aft>
                <a:spcPct val="0"/>
              </a:spcAft>
            </a:pPr>
            <a:r>
              <a:rPr kumimoji="0" lang="en-US" altLang="en-US" sz="2400" b="1" i="0" u="none" strike="noStrike" cap="none" normalizeH="0" baseline="0" dirty="0" smtClean="0">
                <a:ln>
                  <a:noFill/>
                </a:ln>
                <a:solidFill>
                  <a:schemeClr val="tx1"/>
                </a:solidFill>
                <a:effectLst/>
                <a:latin typeface="Arial" panose="020B0604020202020204" pitchFamily="34" charset="0"/>
              </a:rPr>
              <a:t>Ejemplo</a:t>
            </a:r>
            <a:r>
              <a:rPr kumimoji="0" lang="en-US" altLang="en-US" sz="2400" b="1" i="0" u="none" strike="noStrike" cap="none" normalizeH="0" dirty="0" smtClean="0">
                <a:ln>
                  <a:noFill/>
                </a:ln>
                <a:solidFill>
                  <a:schemeClr val="tx1"/>
                </a:solidFill>
                <a:effectLst/>
                <a:latin typeface="Arial" panose="020B0604020202020204" pitchFamily="34" charset="0"/>
              </a:rPr>
              <a:t> -&gt; </a:t>
            </a:r>
            <a:r>
              <a:rPr lang="en-US" sz="2400" dirty="0"/>
              <a:t>Construcción de una Pizza</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
        <p:nvSpPr>
          <p:cNvPr id="6" name="Rectángulo 5"/>
          <p:cNvSpPr/>
          <p:nvPr/>
        </p:nvSpPr>
        <p:spPr>
          <a:xfrm>
            <a:off x="1991446" y="2500190"/>
            <a:ext cx="2717411" cy="369332"/>
          </a:xfrm>
          <a:prstGeom prst="rect">
            <a:avLst/>
          </a:prstGeom>
        </p:spPr>
        <p:txBody>
          <a:bodyPr wrap="none">
            <a:spAutoFit/>
          </a:bodyPr>
          <a:lstStyle/>
          <a:p>
            <a:r>
              <a:rPr lang="es-MX" b="1" dirty="0"/>
              <a:t>Paso 1: Definir el Producto</a:t>
            </a:r>
            <a:endParaRPr lang="en-US" b="1" dirty="0"/>
          </a:p>
        </p:txBody>
      </p:sp>
      <p:sp>
        <p:nvSpPr>
          <p:cNvPr id="8" name="Rectángulo 7"/>
          <p:cNvSpPr/>
          <p:nvPr/>
        </p:nvSpPr>
        <p:spPr>
          <a:xfrm>
            <a:off x="7152484" y="2500190"/>
            <a:ext cx="3649076" cy="369332"/>
          </a:xfrm>
          <a:prstGeom prst="rect">
            <a:avLst/>
          </a:prstGeom>
        </p:spPr>
        <p:txBody>
          <a:bodyPr wrap="none">
            <a:spAutoFit/>
          </a:bodyPr>
          <a:lstStyle/>
          <a:p>
            <a:r>
              <a:rPr lang="es-MX" b="1" dirty="0"/>
              <a:t>Paso 2: Crear la Interfaz del </a:t>
            </a:r>
            <a:r>
              <a:rPr lang="es-MX" b="1" dirty="0" err="1" smtClean="0"/>
              <a:t>Builder</a:t>
            </a:r>
            <a:endParaRPr lang="en-US" b="1" dirty="0"/>
          </a:p>
        </p:txBody>
      </p:sp>
      <p:pic>
        <p:nvPicPr>
          <p:cNvPr id="2" name="Imagen 1"/>
          <p:cNvPicPr>
            <a:picLocks noChangeAspect="1"/>
          </p:cNvPicPr>
          <p:nvPr/>
        </p:nvPicPr>
        <p:blipFill>
          <a:blip r:embed="rId2"/>
          <a:stretch>
            <a:fillRect/>
          </a:stretch>
        </p:blipFill>
        <p:spPr>
          <a:xfrm>
            <a:off x="1226587" y="2869522"/>
            <a:ext cx="4564600" cy="2232565"/>
          </a:xfrm>
          <a:prstGeom prst="rect">
            <a:avLst/>
          </a:prstGeom>
        </p:spPr>
      </p:pic>
      <p:pic>
        <p:nvPicPr>
          <p:cNvPr id="9" name="Imagen 8"/>
          <p:cNvPicPr>
            <a:picLocks noChangeAspect="1"/>
          </p:cNvPicPr>
          <p:nvPr/>
        </p:nvPicPr>
        <p:blipFill>
          <a:blip r:embed="rId3"/>
          <a:stretch>
            <a:fillRect/>
          </a:stretch>
        </p:blipFill>
        <p:spPr>
          <a:xfrm>
            <a:off x="7152484" y="2869522"/>
            <a:ext cx="3565808" cy="2236734"/>
          </a:xfrm>
          <a:prstGeom prst="rect">
            <a:avLst/>
          </a:prstGeom>
        </p:spPr>
      </p:pic>
    </p:spTree>
    <p:extLst>
      <p:ext uri="{BB962C8B-B14F-4D97-AF65-F5344CB8AC3E}">
        <p14:creationId xmlns:p14="http://schemas.microsoft.com/office/powerpoint/2010/main" val="4202511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936816" y="279343"/>
            <a:ext cx="5279126" cy="954107"/>
          </a:xfrm>
          <a:prstGeom prst="rect">
            <a:avLst/>
          </a:prstGeom>
        </p:spPr>
        <p:txBody>
          <a:bodyPr wrap="square">
            <a:spAutoFit/>
          </a:bodyPr>
          <a:lstStyle/>
          <a:p>
            <a:pPr lvl="0" eaLnBrk="0" fontAlgn="base" hangingPunct="0">
              <a:spcBef>
                <a:spcPct val="0"/>
              </a:spcBef>
              <a:spcAft>
                <a:spcPct val="0"/>
              </a:spcAft>
            </a:pPr>
            <a:r>
              <a:rPr lang="es-MX" sz="2400" b="1" dirty="0"/>
              <a:t>Paso 3</a:t>
            </a:r>
            <a:r>
              <a:rPr lang="es-MX" sz="2400" b="1" dirty="0" smtClean="0"/>
              <a:t>: </a:t>
            </a:r>
            <a:r>
              <a:rPr lang="en-US" altLang="en-US" sz="1600" b="1" dirty="0" err="1">
                <a:latin typeface="Arial" panose="020B0604020202020204" pitchFamily="34" charset="0"/>
              </a:rPr>
              <a:t>ConcreteBuilder</a:t>
            </a:r>
            <a:r>
              <a:rPr lang="en-US" altLang="en-US" sz="1600" b="1" dirty="0">
                <a:latin typeface="Arial" panose="020B0604020202020204" pitchFamily="34" charset="0"/>
              </a:rPr>
              <a:t> (Constructor </a:t>
            </a:r>
            <a:r>
              <a:rPr lang="en-US" altLang="en-US" sz="1600" b="1" dirty="0" err="1">
                <a:latin typeface="Arial" panose="020B0604020202020204" pitchFamily="34" charset="0"/>
              </a:rPr>
              <a:t>Concreto</a:t>
            </a:r>
            <a:r>
              <a:rPr lang="en-US" altLang="en-US" sz="1600" b="1" dirty="0">
                <a:latin typeface="Arial" panose="020B0604020202020204" pitchFamily="34" charset="0"/>
              </a:rPr>
              <a:t>)</a:t>
            </a:r>
          </a:p>
          <a:p>
            <a:pPr lvl="0" eaLnBrk="0" fontAlgn="base" hangingPunct="0">
              <a:spcBef>
                <a:spcPct val="0"/>
              </a:spcBef>
              <a:spcAft>
                <a:spcPct val="0"/>
              </a:spcAft>
            </a:pPr>
            <a:r>
              <a:rPr lang="en-US" altLang="en-US" sz="1600" dirty="0" err="1">
                <a:latin typeface="Arial" panose="020B0604020202020204" pitchFamily="34" charset="0"/>
              </a:rPr>
              <a:t>Implementamos</a:t>
            </a:r>
            <a:r>
              <a:rPr lang="en-US" altLang="en-US" sz="1600" dirty="0">
                <a:latin typeface="Arial" panose="020B0604020202020204" pitchFamily="34" charset="0"/>
              </a:rPr>
              <a:t> la </a:t>
            </a:r>
            <a:r>
              <a:rPr lang="en-US" altLang="en-US" sz="1600" dirty="0" err="1">
                <a:latin typeface="Arial" panose="020B0604020202020204" pitchFamily="34" charset="0"/>
              </a:rPr>
              <a:t>interfaz</a:t>
            </a:r>
            <a:r>
              <a:rPr lang="en-US" altLang="en-US" sz="1600" dirty="0">
                <a:latin typeface="Arial" panose="020B0604020202020204" pitchFamily="34" charset="0"/>
              </a:rPr>
              <a:t> </a:t>
            </a:r>
            <a:r>
              <a:rPr lang="en-US" altLang="en-US" sz="1600" b="1" dirty="0" err="1">
                <a:latin typeface="Arial Unicode MS"/>
              </a:rPr>
              <a:t>IPizzaBuilder</a:t>
            </a:r>
            <a:r>
              <a:rPr lang="en-US" altLang="en-US" sz="1600" dirty="0"/>
              <a:t> para </a:t>
            </a:r>
            <a:r>
              <a:rPr lang="en-US" altLang="en-US" sz="1600" dirty="0" err="1"/>
              <a:t>construir</a:t>
            </a:r>
            <a:r>
              <a:rPr lang="en-US" altLang="en-US" sz="1600" dirty="0"/>
              <a:t> una pizza </a:t>
            </a:r>
            <a:r>
              <a:rPr lang="en-US" altLang="en-US" sz="1600" dirty="0" err="1"/>
              <a:t>específica</a:t>
            </a:r>
            <a:endParaRPr lang="en-US" sz="1600" b="1" dirty="0"/>
          </a:p>
        </p:txBody>
      </p:sp>
      <p:sp>
        <p:nvSpPr>
          <p:cNvPr id="6" name="Rectángulo 5"/>
          <p:cNvSpPr/>
          <p:nvPr/>
        </p:nvSpPr>
        <p:spPr>
          <a:xfrm>
            <a:off x="6404558" y="279343"/>
            <a:ext cx="5008649" cy="954107"/>
          </a:xfrm>
          <a:prstGeom prst="rect">
            <a:avLst/>
          </a:prstGeom>
        </p:spPr>
        <p:txBody>
          <a:bodyPr wrap="square">
            <a:spAutoFit/>
          </a:bodyPr>
          <a:lstStyle/>
          <a:p>
            <a:pPr lvl="0" eaLnBrk="0" fontAlgn="base" hangingPunct="0">
              <a:spcBef>
                <a:spcPct val="0"/>
              </a:spcBef>
              <a:spcAft>
                <a:spcPct val="0"/>
              </a:spcAft>
            </a:pPr>
            <a:r>
              <a:rPr lang="es-MX" sz="2400" b="1" dirty="0"/>
              <a:t>Paso 4</a:t>
            </a:r>
            <a:r>
              <a:rPr lang="es-MX" sz="2400" b="1" dirty="0" smtClean="0"/>
              <a:t>:</a:t>
            </a:r>
            <a:r>
              <a:rPr lang="es-MX" sz="1600" b="1" dirty="0" smtClean="0"/>
              <a:t> </a:t>
            </a:r>
            <a:r>
              <a:rPr lang="en-US" altLang="en-US" sz="1600" b="1" dirty="0">
                <a:latin typeface="Arial" panose="020B0604020202020204" pitchFamily="34" charset="0"/>
              </a:rPr>
              <a:t>Director (Director)</a:t>
            </a:r>
          </a:p>
          <a:p>
            <a:pPr lvl="0" eaLnBrk="0" fontAlgn="base" hangingPunct="0">
              <a:spcBef>
                <a:spcPct val="0"/>
              </a:spcBef>
              <a:spcAft>
                <a:spcPct val="0"/>
              </a:spcAft>
            </a:pPr>
            <a:r>
              <a:rPr lang="en-US" altLang="en-US" sz="1600" dirty="0">
                <a:latin typeface="Arial" panose="020B0604020202020204" pitchFamily="34" charset="0"/>
              </a:rPr>
              <a:t>El </a:t>
            </a:r>
            <a:r>
              <a:rPr lang="en-US" altLang="en-US" sz="1600" dirty="0">
                <a:latin typeface="Arial Unicode MS"/>
              </a:rPr>
              <a:t>Director</a:t>
            </a:r>
            <a:r>
              <a:rPr lang="en-US" altLang="en-US" sz="1600" dirty="0"/>
              <a:t> se </a:t>
            </a:r>
            <a:r>
              <a:rPr lang="en-US" altLang="en-US" sz="1600" dirty="0" err="1"/>
              <a:t>encarga</a:t>
            </a:r>
            <a:r>
              <a:rPr lang="en-US" altLang="en-US" sz="1600" dirty="0"/>
              <a:t> de </a:t>
            </a:r>
            <a:r>
              <a:rPr lang="en-US" altLang="en-US" sz="1600" dirty="0" err="1"/>
              <a:t>usar</a:t>
            </a:r>
            <a:r>
              <a:rPr lang="en-US" altLang="en-US" sz="1600" dirty="0"/>
              <a:t> un </a:t>
            </a:r>
            <a:r>
              <a:rPr lang="en-US" altLang="en-US" sz="1600" b="1" dirty="0">
                <a:latin typeface="Arial Unicode MS"/>
              </a:rPr>
              <a:t>Builder</a:t>
            </a:r>
            <a:r>
              <a:rPr lang="en-US" altLang="en-US" sz="1600" dirty="0"/>
              <a:t> para </a:t>
            </a:r>
            <a:r>
              <a:rPr lang="en-US" altLang="en-US" sz="1600" dirty="0" err="1"/>
              <a:t>construir</a:t>
            </a:r>
            <a:r>
              <a:rPr lang="en-US" altLang="en-US" sz="1600" dirty="0"/>
              <a:t> el </a:t>
            </a:r>
            <a:r>
              <a:rPr lang="en-US" altLang="en-US" sz="1600" dirty="0" err="1"/>
              <a:t>producto</a:t>
            </a:r>
            <a:r>
              <a:rPr lang="en-US" altLang="en-US" sz="1600" dirty="0"/>
              <a:t> </a:t>
            </a:r>
            <a:r>
              <a:rPr lang="en-US" altLang="en-US" sz="1600" dirty="0" err="1"/>
              <a:t>siguiendo</a:t>
            </a:r>
            <a:r>
              <a:rPr lang="en-US" altLang="en-US" sz="1600" dirty="0"/>
              <a:t> un </a:t>
            </a:r>
            <a:r>
              <a:rPr lang="en-US" altLang="en-US" sz="1600" dirty="0" err="1"/>
              <a:t>orden</a:t>
            </a:r>
            <a:r>
              <a:rPr lang="en-US" altLang="en-US" sz="1600" dirty="0"/>
              <a:t> </a:t>
            </a:r>
            <a:r>
              <a:rPr lang="en-US" altLang="en-US" sz="1600" dirty="0" err="1"/>
              <a:t>predefinido</a:t>
            </a:r>
            <a:r>
              <a:rPr lang="en-US" altLang="en-US" sz="1600" dirty="0" smtClean="0"/>
              <a:t>.</a:t>
            </a:r>
            <a:endParaRPr lang="en-US" altLang="en-US" sz="1600" dirty="0">
              <a:latin typeface="Arial" panose="020B0604020202020204" pitchFamily="34" charset="0"/>
            </a:endParaRPr>
          </a:p>
        </p:txBody>
      </p:sp>
      <p:pic>
        <p:nvPicPr>
          <p:cNvPr id="3" name="Imagen 2"/>
          <p:cNvPicPr>
            <a:picLocks noChangeAspect="1"/>
          </p:cNvPicPr>
          <p:nvPr/>
        </p:nvPicPr>
        <p:blipFill>
          <a:blip r:embed="rId2"/>
          <a:stretch>
            <a:fillRect/>
          </a:stretch>
        </p:blipFill>
        <p:spPr>
          <a:xfrm>
            <a:off x="1629015" y="1229610"/>
            <a:ext cx="3894728" cy="5318739"/>
          </a:xfrm>
          <a:prstGeom prst="rect">
            <a:avLst/>
          </a:prstGeom>
        </p:spPr>
      </p:pic>
      <p:pic>
        <p:nvPicPr>
          <p:cNvPr id="10" name="Imagen 9"/>
          <p:cNvPicPr>
            <a:picLocks noChangeAspect="1"/>
          </p:cNvPicPr>
          <p:nvPr/>
        </p:nvPicPr>
        <p:blipFill>
          <a:blip r:embed="rId3"/>
          <a:stretch>
            <a:fillRect/>
          </a:stretch>
        </p:blipFill>
        <p:spPr>
          <a:xfrm>
            <a:off x="6908141" y="1229611"/>
            <a:ext cx="4014736" cy="4589982"/>
          </a:xfrm>
          <a:prstGeom prst="rect">
            <a:avLst/>
          </a:prstGeom>
        </p:spPr>
      </p:pic>
    </p:spTree>
    <p:extLst>
      <p:ext uri="{BB962C8B-B14F-4D97-AF65-F5344CB8AC3E}">
        <p14:creationId xmlns:p14="http://schemas.microsoft.com/office/powerpoint/2010/main" val="2498705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394607" y="334617"/>
            <a:ext cx="7056868" cy="738664"/>
          </a:xfrm>
          <a:prstGeom prst="rect">
            <a:avLst/>
          </a:prstGeom>
        </p:spPr>
        <p:txBody>
          <a:bodyPr wrap="none">
            <a:spAutoFit/>
          </a:bodyPr>
          <a:lstStyle/>
          <a:p>
            <a:pPr lvl="0" eaLnBrk="0" fontAlgn="base" hangingPunct="0">
              <a:spcBef>
                <a:spcPct val="0"/>
              </a:spcBef>
              <a:spcAft>
                <a:spcPct val="0"/>
              </a:spcAft>
            </a:pPr>
            <a:r>
              <a:rPr lang="es-MX" sz="2400" b="1" dirty="0"/>
              <a:t>Paso 5</a:t>
            </a:r>
            <a:r>
              <a:rPr lang="es-MX" sz="2400" b="1" dirty="0" smtClean="0"/>
              <a:t>:</a:t>
            </a:r>
            <a:r>
              <a:rPr lang="es-MX" b="1" dirty="0" smtClean="0"/>
              <a:t> </a:t>
            </a:r>
            <a:r>
              <a:rPr lang="en-US" altLang="en-US" b="1" dirty="0">
                <a:latin typeface="Arial" panose="020B0604020202020204" pitchFamily="34" charset="0"/>
              </a:rPr>
              <a:t>Client (</a:t>
            </a:r>
            <a:r>
              <a:rPr lang="en-US" altLang="en-US" b="1" dirty="0" err="1">
                <a:latin typeface="Arial" panose="020B0604020202020204" pitchFamily="34" charset="0"/>
              </a:rPr>
              <a:t>Cliente</a:t>
            </a:r>
            <a:r>
              <a:rPr lang="en-US" altLang="en-US" b="1" dirty="0">
                <a:latin typeface="Arial" panose="020B0604020202020204" pitchFamily="34" charset="0"/>
              </a:rPr>
              <a:t>)</a:t>
            </a:r>
          </a:p>
          <a:p>
            <a:pPr lvl="0" eaLnBrk="0" fontAlgn="base" hangingPunct="0">
              <a:spcBef>
                <a:spcPct val="0"/>
              </a:spcBef>
              <a:spcAft>
                <a:spcPct val="0"/>
              </a:spcAft>
            </a:pPr>
            <a:r>
              <a:rPr lang="en-US" altLang="en-US" dirty="0">
                <a:latin typeface="Arial" panose="020B0604020202020204" pitchFamily="34" charset="0"/>
              </a:rPr>
              <a:t>El </a:t>
            </a:r>
            <a:r>
              <a:rPr lang="en-US" altLang="en-US" dirty="0" err="1">
                <a:latin typeface="Arial" panose="020B0604020202020204" pitchFamily="34" charset="0"/>
              </a:rPr>
              <a:t>cliente</a:t>
            </a:r>
            <a:r>
              <a:rPr lang="en-US" altLang="en-US" dirty="0">
                <a:latin typeface="Arial" panose="020B0604020202020204" pitchFamily="34" charset="0"/>
              </a:rPr>
              <a:t> </a:t>
            </a:r>
            <a:r>
              <a:rPr lang="en-US" altLang="en-US" dirty="0" err="1">
                <a:latin typeface="Arial" panose="020B0604020202020204" pitchFamily="34" charset="0"/>
              </a:rPr>
              <a:t>utiliza</a:t>
            </a:r>
            <a:r>
              <a:rPr lang="en-US" altLang="en-US" dirty="0">
                <a:latin typeface="Arial" panose="020B0604020202020204" pitchFamily="34" charset="0"/>
              </a:rPr>
              <a:t> el </a:t>
            </a:r>
            <a:r>
              <a:rPr lang="en-US" altLang="en-US" b="1" dirty="0">
                <a:latin typeface="Arial Unicode MS"/>
              </a:rPr>
              <a:t>Director</a:t>
            </a:r>
            <a:r>
              <a:rPr lang="en-US" altLang="en-US" dirty="0"/>
              <a:t> y el </a:t>
            </a:r>
            <a:r>
              <a:rPr lang="en-US" altLang="en-US" b="1" dirty="0">
                <a:latin typeface="Arial Unicode MS"/>
              </a:rPr>
              <a:t>Builder</a:t>
            </a:r>
            <a:r>
              <a:rPr lang="en-US" altLang="en-US" dirty="0"/>
              <a:t> para </a:t>
            </a:r>
            <a:r>
              <a:rPr lang="en-US" altLang="en-US" dirty="0" err="1"/>
              <a:t>construir</a:t>
            </a:r>
            <a:r>
              <a:rPr lang="en-US" altLang="en-US" dirty="0"/>
              <a:t> el </a:t>
            </a:r>
            <a:r>
              <a:rPr lang="en-US" altLang="en-US" dirty="0" err="1"/>
              <a:t>objeto</a:t>
            </a:r>
            <a:r>
              <a:rPr lang="en-US" altLang="en-US" dirty="0"/>
              <a:t> </a:t>
            </a:r>
            <a:r>
              <a:rPr lang="en-US" altLang="en-US" dirty="0" smtClean="0">
                <a:latin typeface="Arial Unicode MS"/>
              </a:rPr>
              <a:t>Pizza</a:t>
            </a:r>
            <a:endParaRPr lang="en-US" altLang="en-US" dirty="0">
              <a:latin typeface="Arial" panose="020B0604020202020204" pitchFamily="34" charset="0"/>
            </a:endParaRPr>
          </a:p>
        </p:txBody>
      </p:sp>
      <p:pic>
        <p:nvPicPr>
          <p:cNvPr id="6" name="Imagen 5"/>
          <p:cNvPicPr>
            <a:picLocks noChangeAspect="1"/>
          </p:cNvPicPr>
          <p:nvPr/>
        </p:nvPicPr>
        <p:blipFill>
          <a:blip r:embed="rId2"/>
          <a:stretch>
            <a:fillRect/>
          </a:stretch>
        </p:blipFill>
        <p:spPr>
          <a:xfrm>
            <a:off x="844905" y="1126722"/>
            <a:ext cx="5463932" cy="5514879"/>
          </a:xfrm>
          <a:prstGeom prst="rect">
            <a:avLst/>
          </a:prstGeom>
        </p:spPr>
      </p:pic>
      <p:sp>
        <p:nvSpPr>
          <p:cNvPr id="8" name="Rectángulo 7"/>
          <p:cNvSpPr/>
          <p:nvPr/>
        </p:nvSpPr>
        <p:spPr>
          <a:xfrm>
            <a:off x="7063408" y="1345004"/>
            <a:ext cx="4187687" cy="5078313"/>
          </a:xfrm>
          <a:prstGeom prst="rect">
            <a:avLst/>
          </a:prstGeom>
          <a:ln w="19050">
            <a:solidFill>
              <a:schemeClr val="tx1"/>
            </a:solidFill>
          </a:ln>
        </p:spPr>
        <p:txBody>
          <a:bodyPr wrap="square">
            <a:spAutoFit/>
          </a:bodyPr>
          <a:lstStyle/>
          <a:p>
            <a:pPr lvl="0" eaLnBrk="0" fontAlgn="base" hangingPunct="0">
              <a:spcBef>
                <a:spcPct val="0"/>
              </a:spcBef>
              <a:spcAft>
                <a:spcPct val="0"/>
              </a:spcAft>
            </a:pPr>
            <a:r>
              <a:rPr lang="en-US" altLang="en-US" b="1" dirty="0" err="1">
                <a:latin typeface="Arial" panose="020B0604020202020204" pitchFamily="34" charset="0"/>
              </a:rPr>
              <a:t>Flujo</a:t>
            </a:r>
            <a:r>
              <a:rPr lang="en-US" altLang="en-US" b="1" dirty="0">
                <a:latin typeface="Arial" panose="020B0604020202020204" pitchFamily="34" charset="0"/>
              </a:rPr>
              <a:t> de </a:t>
            </a:r>
            <a:r>
              <a:rPr lang="en-US" altLang="en-US" b="1" dirty="0" err="1" smtClean="0">
                <a:latin typeface="Arial" panose="020B0604020202020204" pitchFamily="34" charset="0"/>
              </a:rPr>
              <a:t>funcionamiento</a:t>
            </a:r>
            <a:endParaRPr lang="en-US" altLang="en-US" b="1" dirty="0" smtClean="0">
              <a:latin typeface="Arial" panose="020B0604020202020204" pitchFamily="34" charset="0"/>
            </a:endParaRPr>
          </a:p>
          <a:p>
            <a:pPr lvl="0" eaLnBrk="0" fontAlgn="base" hangingPunct="0">
              <a:spcBef>
                <a:spcPct val="0"/>
              </a:spcBef>
              <a:spcAft>
                <a:spcPct val="0"/>
              </a:spcAft>
            </a:pPr>
            <a:endParaRPr lang="en-US" altLang="en-US" b="1" dirty="0">
              <a:latin typeface="Arial" panose="020B0604020202020204" pitchFamily="34" charset="0"/>
            </a:endParaRPr>
          </a:p>
          <a:p>
            <a:pPr lvl="0" algn="just" eaLnBrk="0" fontAlgn="base" hangingPunct="0">
              <a:spcBef>
                <a:spcPct val="0"/>
              </a:spcBef>
              <a:spcAft>
                <a:spcPct val="0"/>
              </a:spcAft>
              <a:buFontTx/>
              <a:buAutoNum type="arabicPeriod"/>
            </a:pPr>
            <a:r>
              <a:rPr lang="en-US" altLang="en-US" b="1" dirty="0">
                <a:latin typeface="Arial" panose="020B0604020202020204" pitchFamily="34" charset="0"/>
              </a:rPr>
              <a:t>Director</a:t>
            </a:r>
            <a:r>
              <a:rPr lang="en-US" altLang="en-US" dirty="0">
                <a:latin typeface="Arial" panose="020B0604020202020204" pitchFamily="34" charset="0"/>
              </a:rPr>
              <a:t> se </a:t>
            </a:r>
            <a:r>
              <a:rPr lang="en-US" altLang="en-US" dirty="0" err="1">
                <a:latin typeface="Arial" panose="020B0604020202020204" pitchFamily="34" charset="0"/>
              </a:rPr>
              <a:t>configura</a:t>
            </a:r>
            <a:r>
              <a:rPr lang="en-US" altLang="en-US" dirty="0">
                <a:latin typeface="Arial" panose="020B0604020202020204" pitchFamily="34" charset="0"/>
              </a:rPr>
              <a:t> con un </a:t>
            </a:r>
            <a:r>
              <a:rPr lang="en-US" altLang="en-US" dirty="0">
                <a:latin typeface="Arial Unicode MS"/>
              </a:rPr>
              <a:t>Builder</a:t>
            </a:r>
            <a:r>
              <a:rPr lang="en-US" altLang="en-US" dirty="0"/>
              <a:t> </a:t>
            </a:r>
            <a:r>
              <a:rPr lang="en-US" altLang="en-US" dirty="0" err="1"/>
              <a:t>concreto</a:t>
            </a:r>
            <a:r>
              <a:rPr lang="en-US" altLang="en-US" dirty="0"/>
              <a:t> (en este </a:t>
            </a:r>
            <a:r>
              <a:rPr lang="en-US" altLang="en-US" dirty="0" err="1"/>
              <a:t>caso</a:t>
            </a:r>
            <a:r>
              <a:rPr lang="en-US" altLang="en-US" dirty="0"/>
              <a:t>, </a:t>
            </a:r>
            <a:r>
              <a:rPr lang="en-US" altLang="en-US" dirty="0" err="1">
                <a:latin typeface="Arial Unicode MS"/>
              </a:rPr>
              <a:t>HawaiianPizzaBuilder</a:t>
            </a:r>
            <a:r>
              <a:rPr lang="en-US" altLang="en-US" dirty="0" smtClean="0"/>
              <a:t>).</a:t>
            </a:r>
          </a:p>
          <a:p>
            <a:pPr lvl="0" algn="just" eaLnBrk="0" fontAlgn="base" hangingPunct="0">
              <a:spcBef>
                <a:spcPct val="0"/>
              </a:spcBef>
              <a:spcAft>
                <a:spcPct val="0"/>
              </a:spcAft>
              <a:buFontTx/>
              <a:buAutoNum type="arabicPeriod"/>
            </a:pPr>
            <a:endParaRPr lang="en-US" altLang="en-US" dirty="0">
              <a:latin typeface="Arial" panose="020B0604020202020204" pitchFamily="34" charset="0"/>
            </a:endParaRPr>
          </a:p>
          <a:p>
            <a:pPr lvl="0" algn="just" eaLnBrk="0" fontAlgn="base" hangingPunct="0">
              <a:spcBef>
                <a:spcPct val="0"/>
              </a:spcBef>
              <a:spcAft>
                <a:spcPct val="0"/>
              </a:spcAft>
              <a:buFontTx/>
              <a:buAutoNum type="arabicPeriod" startAt="2"/>
            </a:pPr>
            <a:r>
              <a:rPr lang="en-US" altLang="en-US" dirty="0">
                <a:latin typeface="Arial" panose="020B0604020202020204" pitchFamily="34" charset="0"/>
              </a:rPr>
              <a:t>El </a:t>
            </a:r>
            <a:r>
              <a:rPr lang="en-US" altLang="en-US" b="1" dirty="0">
                <a:latin typeface="Arial" panose="020B0604020202020204" pitchFamily="34" charset="0"/>
              </a:rPr>
              <a:t>Director</a:t>
            </a:r>
            <a:r>
              <a:rPr lang="en-US" altLang="en-US" dirty="0">
                <a:latin typeface="Arial" panose="020B0604020202020204" pitchFamily="34" charset="0"/>
              </a:rPr>
              <a:t> llama a los </a:t>
            </a:r>
            <a:r>
              <a:rPr lang="en-US" altLang="en-US" dirty="0" err="1">
                <a:latin typeface="Arial" panose="020B0604020202020204" pitchFamily="34" charset="0"/>
              </a:rPr>
              <a:t>métodos</a:t>
            </a:r>
            <a:r>
              <a:rPr lang="en-US" altLang="en-US" dirty="0">
                <a:latin typeface="Arial" panose="020B0604020202020204" pitchFamily="34" charset="0"/>
              </a:rPr>
              <a:t> </a:t>
            </a:r>
            <a:r>
              <a:rPr lang="en-US" altLang="en-US" dirty="0" err="1">
                <a:latin typeface="Arial Unicode MS"/>
              </a:rPr>
              <a:t>SetDough</a:t>
            </a:r>
            <a:r>
              <a:rPr lang="en-US" altLang="en-US" dirty="0"/>
              <a:t>, </a:t>
            </a:r>
            <a:r>
              <a:rPr lang="en-US" altLang="en-US" dirty="0" err="1">
                <a:latin typeface="Arial Unicode MS"/>
              </a:rPr>
              <a:t>SetSauce</a:t>
            </a:r>
            <a:r>
              <a:rPr lang="en-US" altLang="en-US" dirty="0"/>
              <a:t>, y </a:t>
            </a:r>
            <a:r>
              <a:rPr lang="en-US" altLang="en-US" dirty="0" err="1">
                <a:latin typeface="Arial Unicode MS"/>
              </a:rPr>
              <a:t>SetTopping</a:t>
            </a:r>
            <a:r>
              <a:rPr lang="en-US" altLang="en-US" dirty="0"/>
              <a:t> del </a:t>
            </a:r>
            <a:r>
              <a:rPr lang="en-US" altLang="en-US" dirty="0">
                <a:latin typeface="Arial Unicode MS"/>
              </a:rPr>
              <a:t>Builder</a:t>
            </a:r>
            <a:r>
              <a:rPr lang="en-US" altLang="en-US" dirty="0"/>
              <a:t> en un </a:t>
            </a:r>
            <a:r>
              <a:rPr lang="en-US" altLang="en-US" dirty="0" err="1"/>
              <a:t>orden</a:t>
            </a:r>
            <a:r>
              <a:rPr lang="en-US" altLang="en-US" dirty="0"/>
              <a:t> </a:t>
            </a:r>
            <a:r>
              <a:rPr lang="en-US" altLang="en-US" dirty="0" err="1"/>
              <a:t>específico</a:t>
            </a:r>
            <a:r>
              <a:rPr lang="en-US" altLang="en-US" dirty="0"/>
              <a:t> para </a:t>
            </a:r>
            <a:r>
              <a:rPr lang="en-US" altLang="en-US" dirty="0" err="1"/>
              <a:t>construir</a:t>
            </a:r>
            <a:r>
              <a:rPr lang="en-US" altLang="en-US" dirty="0"/>
              <a:t> la pizza</a:t>
            </a:r>
            <a:r>
              <a:rPr lang="en-US" altLang="en-US" dirty="0" smtClean="0"/>
              <a:t>.</a:t>
            </a:r>
          </a:p>
          <a:p>
            <a:pPr lvl="0" algn="just" eaLnBrk="0" fontAlgn="base" hangingPunct="0">
              <a:spcBef>
                <a:spcPct val="0"/>
              </a:spcBef>
              <a:spcAft>
                <a:spcPct val="0"/>
              </a:spcAft>
              <a:buFontTx/>
              <a:buAutoNum type="arabicPeriod" startAt="2"/>
            </a:pPr>
            <a:endParaRPr lang="en-US" altLang="en-US" dirty="0">
              <a:latin typeface="Arial" panose="020B0604020202020204" pitchFamily="34" charset="0"/>
            </a:endParaRPr>
          </a:p>
          <a:p>
            <a:pPr lvl="0" algn="just" eaLnBrk="0" fontAlgn="base" hangingPunct="0">
              <a:spcBef>
                <a:spcPct val="0"/>
              </a:spcBef>
              <a:spcAft>
                <a:spcPct val="0"/>
              </a:spcAft>
              <a:buFontTx/>
              <a:buAutoNum type="arabicPeriod" startAt="3"/>
            </a:pPr>
            <a:r>
              <a:rPr lang="en-US" altLang="en-US" dirty="0">
                <a:latin typeface="Arial" panose="020B0604020202020204" pitchFamily="34" charset="0"/>
              </a:rPr>
              <a:t>El </a:t>
            </a:r>
            <a:r>
              <a:rPr lang="en-US" altLang="en-US" dirty="0">
                <a:latin typeface="Arial Unicode MS"/>
              </a:rPr>
              <a:t>Builder</a:t>
            </a:r>
            <a:r>
              <a:rPr lang="en-US" altLang="en-US" dirty="0"/>
              <a:t> </a:t>
            </a:r>
            <a:r>
              <a:rPr lang="en-US" altLang="en-US" dirty="0" err="1"/>
              <a:t>concreta</a:t>
            </a:r>
            <a:r>
              <a:rPr lang="en-US" altLang="en-US" dirty="0"/>
              <a:t> </a:t>
            </a:r>
            <a:r>
              <a:rPr lang="en-US" altLang="en-US" dirty="0" err="1"/>
              <a:t>estos</a:t>
            </a:r>
            <a:r>
              <a:rPr lang="en-US" altLang="en-US" dirty="0"/>
              <a:t> </a:t>
            </a:r>
            <a:r>
              <a:rPr lang="en-US" altLang="en-US" dirty="0" err="1"/>
              <a:t>métodos</a:t>
            </a:r>
            <a:r>
              <a:rPr lang="en-US" altLang="en-US" dirty="0"/>
              <a:t> y </a:t>
            </a:r>
            <a:r>
              <a:rPr lang="en-US" altLang="en-US" dirty="0" err="1"/>
              <a:t>construye</a:t>
            </a:r>
            <a:r>
              <a:rPr lang="en-US" altLang="en-US" dirty="0"/>
              <a:t> </a:t>
            </a:r>
            <a:r>
              <a:rPr lang="en-US" altLang="en-US" dirty="0" err="1"/>
              <a:t>cada</a:t>
            </a:r>
            <a:r>
              <a:rPr lang="en-US" altLang="en-US" dirty="0"/>
              <a:t> parte de la pizza, </a:t>
            </a:r>
            <a:r>
              <a:rPr lang="en-US" altLang="en-US" dirty="0" err="1"/>
              <a:t>almacenándola</a:t>
            </a:r>
            <a:r>
              <a:rPr lang="en-US" altLang="en-US" dirty="0"/>
              <a:t> en un </a:t>
            </a:r>
            <a:r>
              <a:rPr lang="en-US" altLang="en-US" dirty="0" err="1"/>
              <a:t>objeto</a:t>
            </a:r>
            <a:r>
              <a:rPr lang="en-US" altLang="en-US" dirty="0"/>
              <a:t> </a:t>
            </a:r>
            <a:r>
              <a:rPr lang="en-US" altLang="en-US" dirty="0">
                <a:latin typeface="Arial Unicode MS"/>
              </a:rPr>
              <a:t>Pizza</a:t>
            </a:r>
            <a:r>
              <a:rPr lang="en-US" altLang="en-US" dirty="0" smtClean="0"/>
              <a:t>.</a:t>
            </a:r>
          </a:p>
          <a:p>
            <a:pPr lvl="0" algn="just" eaLnBrk="0" fontAlgn="base" hangingPunct="0">
              <a:spcBef>
                <a:spcPct val="0"/>
              </a:spcBef>
              <a:spcAft>
                <a:spcPct val="0"/>
              </a:spcAft>
              <a:buFontTx/>
              <a:buAutoNum type="arabicPeriod" startAt="3"/>
            </a:pPr>
            <a:endParaRPr lang="en-US" altLang="en-US" dirty="0">
              <a:latin typeface="Arial" panose="020B0604020202020204" pitchFamily="34" charset="0"/>
            </a:endParaRPr>
          </a:p>
          <a:p>
            <a:pPr lvl="0" algn="just" eaLnBrk="0" fontAlgn="base" hangingPunct="0">
              <a:spcBef>
                <a:spcPct val="0"/>
              </a:spcBef>
              <a:spcAft>
                <a:spcPct val="0"/>
              </a:spcAft>
              <a:buFontTx/>
              <a:buAutoNum type="arabicPeriod" startAt="4"/>
            </a:pPr>
            <a:r>
              <a:rPr lang="en-US" altLang="en-US" dirty="0">
                <a:latin typeface="Arial" panose="020B0604020202020204" pitchFamily="34" charset="0"/>
              </a:rPr>
              <a:t>Una </a:t>
            </a:r>
            <a:r>
              <a:rPr lang="en-US" altLang="en-US" dirty="0" err="1">
                <a:latin typeface="Arial" panose="020B0604020202020204" pitchFamily="34" charset="0"/>
              </a:rPr>
              <a:t>vez</a:t>
            </a:r>
            <a:r>
              <a:rPr lang="en-US" altLang="en-US" dirty="0">
                <a:latin typeface="Arial" panose="020B0604020202020204" pitchFamily="34" charset="0"/>
              </a:rPr>
              <a:t> que el </a:t>
            </a:r>
            <a:r>
              <a:rPr lang="en-US" altLang="en-US" dirty="0">
                <a:latin typeface="Arial Unicode MS"/>
              </a:rPr>
              <a:t>Director</a:t>
            </a:r>
            <a:r>
              <a:rPr lang="en-US" altLang="en-US" dirty="0"/>
              <a:t> </a:t>
            </a:r>
            <a:r>
              <a:rPr lang="en-US" altLang="en-US" dirty="0" err="1"/>
              <a:t>termina</a:t>
            </a:r>
            <a:r>
              <a:rPr lang="en-US" altLang="en-US" dirty="0"/>
              <a:t> de </a:t>
            </a:r>
            <a:r>
              <a:rPr lang="en-US" altLang="en-US" dirty="0" err="1"/>
              <a:t>construir</a:t>
            </a:r>
            <a:r>
              <a:rPr lang="en-US" altLang="en-US" dirty="0"/>
              <a:t> la pizza, el </a:t>
            </a:r>
            <a:r>
              <a:rPr lang="en-US" altLang="en-US" dirty="0" err="1"/>
              <a:t>cliente</a:t>
            </a:r>
            <a:r>
              <a:rPr lang="en-US" altLang="en-US" dirty="0"/>
              <a:t> </a:t>
            </a:r>
            <a:r>
              <a:rPr lang="en-US" altLang="en-US" dirty="0" err="1"/>
              <a:t>puede</a:t>
            </a:r>
            <a:r>
              <a:rPr lang="en-US" altLang="en-US" dirty="0"/>
              <a:t> </a:t>
            </a:r>
            <a:r>
              <a:rPr lang="en-US" altLang="en-US" dirty="0" err="1"/>
              <a:t>obtenerla</a:t>
            </a:r>
            <a:r>
              <a:rPr lang="en-US" altLang="en-US" dirty="0"/>
              <a:t> mediante el </a:t>
            </a:r>
            <a:r>
              <a:rPr lang="en-US" altLang="en-US" dirty="0" err="1"/>
              <a:t>método</a:t>
            </a:r>
            <a:r>
              <a:rPr lang="en-US" altLang="en-US" dirty="0"/>
              <a:t> </a:t>
            </a:r>
            <a:r>
              <a:rPr lang="en-US" altLang="en-US" dirty="0" err="1">
                <a:latin typeface="Arial Unicode MS"/>
              </a:rPr>
              <a:t>GetPizza</a:t>
            </a:r>
            <a:r>
              <a:rPr lang="en-US" altLang="en-US" dirty="0" smtClean="0"/>
              <a:t>.</a:t>
            </a:r>
            <a:endParaRPr lang="en-US" altLang="en-US" dirty="0">
              <a:latin typeface="Arial" panose="020B0604020202020204" pitchFamily="34" charset="0"/>
            </a:endParaRPr>
          </a:p>
        </p:txBody>
      </p:sp>
    </p:spTree>
    <p:extLst>
      <p:ext uri="{BB962C8B-B14F-4D97-AF65-F5344CB8AC3E}">
        <p14:creationId xmlns:p14="http://schemas.microsoft.com/office/powerpoint/2010/main" val="2996958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728870"/>
            <a:ext cx="3879574" cy="5448093"/>
          </a:xfrm>
        </p:spPr>
        <p:txBody>
          <a:bodyPr>
            <a:normAutofit fontScale="77500" lnSpcReduction="20000"/>
          </a:bodyPr>
          <a:lstStyle/>
          <a:p>
            <a:pPr marL="0" indent="0">
              <a:buNone/>
            </a:pPr>
            <a:r>
              <a:rPr lang="es-PE" b="1" dirty="0" smtClean="0"/>
              <a:t>Ejercicio:</a:t>
            </a:r>
          </a:p>
          <a:p>
            <a:pPr algn="just"/>
            <a:r>
              <a:rPr lang="es-PE" dirty="0"/>
              <a:t>Para este ejercicio vamos a crear una clase </a:t>
            </a:r>
            <a:r>
              <a:rPr lang="es-PE" b="1" dirty="0"/>
              <a:t>sándwich</a:t>
            </a:r>
            <a:r>
              <a:rPr lang="es-PE" dirty="0"/>
              <a:t> donde implementaremos sus respectivas propiedades necesarias para la elaboración de un </a:t>
            </a:r>
            <a:r>
              <a:rPr lang="es-PE" b="1" dirty="0"/>
              <a:t>sándwich.</a:t>
            </a:r>
            <a:endParaRPr lang="en-US" dirty="0"/>
          </a:p>
          <a:p>
            <a:pPr algn="just"/>
            <a:r>
              <a:rPr lang="es-PE" dirty="0"/>
              <a:t>El problema sería tener que implementar un tipo de sándwich en específico utilizando este constructor</a:t>
            </a:r>
            <a:endParaRPr lang="en-US" dirty="0"/>
          </a:p>
          <a:p>
            <a:pPr algn="just"/>
            <a:r>
              <a:rPr lang="es-PE" dirty="0"/>
              <a:t>Lo primero que tendríamos que hacer entonces es crear nuestra clase </a:t>
            </a:r>
            <a:r>
              <a:rPr lang="es-PE" b="1" dirty="0" err="1"/>
              <a:t>Builder</a:t>
            </a:r>
            <a:r>
              <a:rPr lang="es-PE" dirty="0"/>
              <a:t> que es en donde definiremos nuestros métodos necesarios para su construcción, le pondremos de nombre: </a:t>
            </a:r>
            <a:r>
              <a:rPr lang="es-PE" b="1" dirty="0" err="1" smtClean="0"/>
              <a:t>sandwichBuilder</a:t>
            </a:r>
            <a:endParaRPr lang="es-PE" b="1" dirty="0" smtClean="0"/>
          </a:p>
          <a:p>
            <a:pPr algn="just"/>
            <a:r>
              <a:rPr lang="es-PE" b="1" dirty="0" smtClean="0"/>
              <a:t>Seguir </a:t>
            </a:r>
            <a:r>
              <a:rPr lang="es-PE" b="1" smtClean="0"/>
              <a:t>los pasos.</a:t>
            </a:r>
            <a:endParaRPr lang="en-US" dirty="0"/>
          </a:p>
          <a:p>
            <a:endParaRPr lang="en-US" dirty="0"/>
          </a:p>
        </p:txBody>
      </p:sp>
      <p:pic>
        <p:nvPicPr>
          <p:cNvPr id="4" name="Imagen 3"/>
          <p:cNvPicPr/>
          <p:nvPr/>
        </p:nvPicPr>
        <p:blipFill>
          <a:blip r:embed="rId2"/>
          <a:stretch>
            <a:fillRect/>
          </a:stretch>
        </p:blipFill>
        <p:spPr>
          <a:xfrm>
            <a:off x="5158573" y="1164376"/>
            <a:ext cx="6688869" cy="4454546"/>
          </a:xfrm>
          <a:prstGeom prst="rect">
            <a:avLst/>
          </a:prstGeom>
        </p:spPr>
      </p:pic>
    </p:spTree>
    <p:extLst>
      <p:ext uri="{BB962C8B-B14F-4D97-AF65-F5344CB8AC3E}">
        <p14:creationId xmlns:p14="http://schemas.microsoft.com/office/powerpoint/2010/main" val="2514844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smtClean="0"/>
              <a:t>FLUENT BUILDER</a:t>
            </a:r>
            <a:endParaRPr lang="en-US" b="1" dirty="0"/>
          </a:p>
        </p:txBody>
      </p:sp>
      <p:sp>
        <p:nvSpPr>
          <p:cNvPr id="3" name="Marcador de contenido 2"/>
          <p:cNvSpPr>
            <a:spLocks noGrp="1"/>
          </p:cNvSpPr>
          <p:nvPr>
            <p:ph idx="1"/>
          </p:nvPr>
        </p:nvSpPr>
        <p:spPr>
          <a:xfrm>
            <a:off x="838200" y="1825625"/>
            <a:ext cx="10515600" cy="1460914"/>
          </a:xfrm>
        </p:spPr>
        <p:txBody>
          <a:bodyPr>
            <a:normAutofit lnSpcReduction="10000"/>
          </a:bodyPr>
          <a:lstStyle/>
          <a:p>
            <a:pPr algn="just"/>
            <a:r>
              <a:rPr lang="es-MX" sz="2000" dirty="0"/>
              <a:t>El </a:t>
            </a:r>
            <a:r>
              <a:rPr lang="es-MX" sz="2000" b="1" dirty="0"/>
              <a:t>patrón de diseño </a:t>
            </a:r>
            <a:r>
              <a:rPr lang="es-MX" sz="2000" b="1" dirty="0" err="1"/>
              <a:t>Fluent</a:t>
            </a:r>
            <a:r>
              <a:rPr lang="es-MX" sz="2000" b="1" dirty="0"/>
              <a:t> </a:t>
            </a:r>
            <a:r>
              <a:rPr lang="es-MX" sz="2000" b="1" dirty="0" err="1"/>
              <a:t>Builder</a:t>
            </a:r>
            <a:r>
              <a:rPr lang="es-MX" sz="2000" dirty="0"/>
              <a:t> es una variación del </a:t>
            </a:r>
            <a:r>
              <a:rPr lang="es-MX" sz="2000" b="1" dirty="0"/>
              <a:t>patrón </a:t>
            </a:r>
            <a:r>
              <a:rPr lang="es-MX" sz="2000" b="1" dirty="0" err="1"/>
              <a:t>Builder</a:t>
            </a:r>
            <a:r>
              <a:rPr lang="es-MX" sz="2000" dirty="0"/>
              <a:t> que se utiliza para construir objetos complejos de manera fácil y legible. Lo hace permitiendo </a:t>
            </a:r>
            <a:r>
              <a:rPr lang="es-MX" sz="2000" b="1" dirty="0"/>
              <a:t>encadenar métodos</a:t>
            </a:r>
            <a:r>
              <a:rPr lang="es-MX" sz="2000" dirty="0"/>
              <a:t> para configurar el objeto paso a paso, sin necesidad de recordar el orden de los métodos o parámetros. Este enfoque encadenado proporciona una sintaxis que facilita la lectura y la modificación del código</a:t>
            </a:r>
            <a:endParaRPr lang="en-US" sz="2000" dirty="0"/>
          </a:p>
        </p:txBody>
      </p:sp>
      <p:sp>
        <p:nvSpPr>
          <p:cNvPr id="4" name="Rectángulo 3"/>
          <p:cNvSpPr/>
          <p:nvPr/>
        </p:nvSpPr>
        <p:spPr>
          <a:xfrm>
            <a:off x="1033670" y="3286539"/>
            <a:ext cx="10320130" cy="1938992"/>
          </a:xfrm>
          <a:prstGeom prst="rect">
            <a:avLst/>
          </a:prstGeom>
        </p:spPr>
        <p:txBody>
          <a:bodyPr wrap="square">
            <a:spAutoFit/>
          </a:bodyPr>
          <a:lstStyle/>
          <a:p>
            <a:pPr algn="just"/>
            <a:r>
              <a:rPr lang="es-MX" sz="2000" b="1" dirty="0"/>
              <a:t>¿Cuándo usar el patrón </a:t>
            </a:r>
            <a:r>
              <a:rPr lang="es-MX" sz="2000" b="1" dirty="0" err="1"/>
              <a:t>Fluent</a:t>
            </a:r>
            <a:r>
              <a:rPr lang="es-MX" sz="2000" b="1" dirty="0"/>
              <a:t> </a:t>
            </a:r>
            <a:r>
              <a:rPr lang="es-MX" sz="2000" b="1" dirty="0" err="1"/>
              <a:t>Builder</a:t>
            </a:r>
            <a:r>
              <a:rPr lang="es-MX" sz="2000" b="1" dirty="0"/>
              <a:t>?</a:t>
            </a:r>
          </a:p>
          <a:p>
            <a:pPr algn="just">
              <a:buFont typeface="Arial" panose="020B0604020202020204" pitchFamily="34" charset="0"/>
              <a:buChar char="•"/>
            </a:pPr>
            <a:r>
              <a:rPr lang="es-MX" sz="2000" dirty="0"/>
              <a:t>Cuando tienes objetos con muchas propiedades opcionales o configuraciones que no son necesarias en todos los casos.</a:t>
            </a:r>
          </a:p>
          <a:p>
            <a:pPr algn="just">
              <a:buFont typeface="Arial" panose="020B0604020202020204" pitchFamily="34" charset="0"/>
              <a:buChar char="•"/>
            </a:pPr>
            <a:r>
              <a:rPr lang="es-MX" sz="2000" dirty="0"/>
              <a:t>Cuando deseas construir objetos complejos sin sobrecargar al usuario con un constructor lleno de parámetros.</a:t>
            </a:r>
          </a:p>
          <a:p>
            <a:pPr algn="just">
              <a:buFont typeface="Arial" panose="020B0604020202020204" pitchFamily="34" charset="0"/>
              <a:buChar char="•"/>
            </a:pPr>
            <a:r>
              <a:rPr lang="es-MX" sz="2000" dirty="0"/>
              <a:t>Cuando deseas que el código que construye el objeto sea legible, intuitivo y fácil de entender.</a:t>
            </a:r>
          </a:p>
        </p:txBody>
      </p:sp>
    </p:spTree>
    <p:extLst>
      <p:ext uri="{BB962C8B-B14F-4D97-AF65-F5344CB8AC3E}">
        <p14:creationId xmlns:p14="http://schemas.microsoft.com/office/powerpoint/2010/main" val="1557544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lvl="0"/>
            <a:r>
              <a:rPr lang="en-US" altLang="en-US" sz="3600" b="1" dirty="0" err="1">
                <a:latin typeface="Arial" panose="020B0604020202020204" pitchFamily="34" charset="0"/>
              </a:rPr>
              <a:t>Cómo</a:t>
            </a:r>
            <a:r>
              <a:rPr lang="en-US" altLang="en-US" sz="3600" b="1" dirty="0">
                <a:latin typeface="Arial" panose="020B0604020202020204" pitchFamily="34" charset="0"/>
              </a:rPr>
              <a:t> </a:t>
            </a:r>
            <a:r>
              <a:rPr lang="en-US" altLang="en-US" sz="3600" b="1" dirty="0" err="1">
                <a:latin typeface="Arial" panose="020B0604020202020204" pitchFamily="34" charset="0"/>
              </a:rPr>
              <a:t>funciona</a:t>
            </a:r>
            <a:r>
              <a:rPr lang="en-US" altLang="en-US" sz="3600" b="1" dirty="0">
                <a:latin typeface="Arial" panose="020B0604020202020204" pitchFamily="34" charset="0"/>
              </a:rPr>
              <a:t> el </a:t>
            </a:r>
            <a:r>
              <a:rPr lang="en-US" altLang="en-US" sz="3600" b="1" dirty="0" err="1">
                <a:latin typeface="Arial" panose="020B0604020202020204" pitchFamily="34" charset="0"/>
              </a:rPr>
              <a:t>patrón</a:t>
            </a:r>
            <a:r>
              <a:rPr lang="en-US" altLang="en-US" sz="3600" b="1" dirty="0">
                <a:latin typeface="Arial" panose="020B0604020202020204" pitchFamily="34" charset="0"/>
              </a:rPr>
              <a:t> Fluent </a:t>
            </a:r>
            <a:r>
              <a:rPr lang="en-US" altLang="en-US" sz="3600" b="1" dirty="0" smtClean="0">
                <a:latin typeface="Arial" panose="020B0604020202020204" pitchFamily="34" charset="0"/>
              </a:rPr>
              <a:t>Builder</a:t>
            </a:r>
            <a:endParaRPr lang="en-US" sz="3600" dirty="0"/>
          </a:p>
        </p:txBody>
      </p:sp>
      <p:sp>
        <p:nvSpPr>
          <p:cNvPr id="4" name="Rectangle 1"/>
          <p:cNvSpPr>
            <a:spLocks noGrp="1" noChangeArrowheads="1"/>
          </p:cNvSpPr>
          <p:nvPr>
            <p:ph idx="1"/>
          </p:nvPr>
        </p:nvSpPr>
        <p:spPr bwMode="auto">
          <a:xfrm>
            <a:off x="838200" y="1475245"/>
            <a:ext cx="10515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El </a:t>
            </a:r>
            <a:r>
              <a:rPr kumimoji="0" lang="en-US" altLang="en-US" b="0" i="0" u="none" strike="noStrike" cap="none" normalizeH="0" baseline="0" dirty="0" err="1" smtClean="0">
                <a:ln>
                  <a:noFill/>
                </a:ln>
                <a:solidFill>
                  <a:schemeClr val="tx1"/>
                </a:solidFill>
                <a:effectLst/>
                <a:latin typeface="Arial" panose="020B0604020202020204" pitchFamily="34" charset="0"/>
              </a:rPr>
              <a:t>patrón</a:t>
            </a:r>
            <a:r>
              <a:rPr kumimoji="0" lang="en-US" altLang="en-US" b="0" i="0" u="none" strike="noStrike" cap="none" normalizeH="0" baseline="0" dirty="0" smtClean="0">
                <a:ln>
                  <a:noFill/>
                </a:ln>
                <a:solidFill>
                  <a:schemeClr val="tx1"/>
                </a:solidFill>
                <a:effectLst/>
                <a:latin typeface="Arial" panose="020B0604020202020204" pitchFamily="34" charset="0"/>
              </a:rPr>
              <a:t> Fluent Builder </a:t>
            </a:r>
            <a:r>
              <a:rPr kumimoji="0" lang="en-US" altLang="en-US" b="0" i="0" u="none" strike="noStrike" cap="none" normalizeH="0" baseline="0" dirty="0" err="1" smtClean="0">
                <a:ln>
                  <a:noFill/>
                </a:ln>
                <a:solidFill>
                  <a:schemeClr val="tx1"/>
                </a:solidFill>
                <a:effectLst/>
                <a:latin typeface="Arial" panose="020B0604020202020204" pitchFamily="34" charset="0"/>
              </a:rPr>
              <a:t>utiliza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una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clase</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Builder</a:t>
            </a:r>
            <a:r>
              <a:rPr kumimoji="0" lang="en-US" altLang="en-US" b="0" i="0" u="none" strike="noStrike" cap="none" normalizeH="0" baseline="0" dirty="0" smtClean="0">
                <a:ln>
                  <a:noFill/>
                </a:ln>
                <a:solidFill>
                  <a:schemeClr val="tx1"/>
                </a:solidFill>
                <a:effectLst/>
              </a:rPr>
              <a:t> que </a:t>
            </a:r>
            <a:r>
              <a:rPr kumimoji="0" lang="en-US" altLang="en-US" b="0" i="0" u="none" strike="noStrike" cap="none" normalizeH="0" baseline="0" dirty="0" err="1" smtClean="0">
                <a:ln>
                  <a:noFill/>
                </a:ln>
                <a:solidFill>
                  <a:schemeClr val="tx1"/>
                </a:solidFill>
                <a:effectLst/>
              </a:rPr>
              <a:t>tiene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métodos</a:t>
            </a:r>
            <a:r>
              <a:rPr kumimoji="0" lang="en-US" altLang="en-US" b="0" i="0" u="none" strike="noStrike" cap="none" normalizeH="0" baseline="0" dirty="0" smtClean="0">
                <a:ln>
                  <a:noFill/>
                </a:ln>
                <a:solidFill>
                  <a:schemeClr val="tx1"/>
                </a:solidFill>
                <a:effectLst/>
              </a:rPr>
              <a:t> para </a:t>
            </a:r>
            <a:r>
              <a:rPr kumimoji="0" lang="en-US" altLang="en-US" b="0" i="0" u="none" strike="noStrike" cap="none" normalizeH="0" baseline="0" dirty="0" err="1" smtClean="0">
                <a:ln>
                  <a:noFill/>
                </a:ln>
                <a:solidFill>
                  <a:schemeClr val="tx1"/>
                </a:solidFill>
                <a:effectLst/>
              </a:rPr>
              <a:t>configurar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cada</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propiedad</a:t>
            </a:r>
            <a:r>
              <a:rPr kumimoji="0" lang="en-US" altLang="en-US" b="0" i="0" u="none" strike="noStrike" cap="none" normalizeH="0" baseline="0" dirty="0" smtClean="0">
                <a:ln>
                  <a:noFill/>
                </a:ln>
                <a:solidFill>
                  <a:schemeClr val="tx1"/>
                </a:solidFill>
                <a:effectLst/>
              </a:rPr>
              <a:t> del </a:t>
            </a:r>
            <a:r>
              <a:rPr kumimoji="0" lang="en-US" altLang="en-US" b="0" i="0" u="none" strike="noStrike" cap="none" normalizeH="0" baseline="0" dirty="0" err="1" smtClean="0">
                <a:ln>
                  <a:noFill/>
                </a:ln>
                <a:solidFill>
                  <a:schemeClr val="tx1"/>
                </a:solidFill>
                <a:effectLst/>
              </a:rPr>
              <a:t>objeto</a:t>
            </a:r>
            <a:r>
              <a:rPr kumimoji="0" lang="en-US" altLang="en-US" b="0" i="0" u="none" strike="noStrike" cap="none" normalizeH="0" baseline="0" dirty="0" smtClean="0">
                <a:ln>
                  <a:noFill/>
                </a:ln>
                <a:solidFill>
                  <a:schemeClr val="tx1"/>
                </a:solidFill>
                <a:effectLst/>
              </a:rPr>
              <a:t> que se </a:t>
            </a:r>
            <a:r>
              <a:rPr kumimoji="0" lang="en-US" altLang="en-US" b="0" i="0" u="none" strike="noStrike" cap="none" normalizeH="0" baseline="0" dirty="0" err="1" smtClean="0">
                <a:ln>
                  <a:noFill/>
                </a:ln>
                <a:solidFill>
                  <a:schemeClr val="tx1"/>
                </a:solidFill>
                <a:effectLst/>
              </a:rPr>
              <a:t>va</a:t>
            </a:r>
            <a:r>
              <a:rPr kumimoji="0" lang="en-US" altLang="en-US" b="0" i="0" u="none" strike="noStrike" cap="none" normalizeH="0" baseline="0" dirty="0" smtClean="0">
                <a:ln>
                  <a:noFill/>
                </a:ln>
                <a:solidFill>
                  <a:schemeClr val="tx1"/>
                </a:solidFill>
                <a:effectLst/>
              </a:rPr>
              <a:t> a </a:t>
            </a:r>
            <a:r>
              <a:rPr kumimoji="0" lang="en-US" altLang="en-US" b="0" i="0" u="none" strike="noStrike" cap="none" normalizeH="0" baseline="0" dirty="0" err="1" smtClean="0">
                <a:ln>
                  <a:noFill/>
                </a:ln>
                <a:solidFill>
                  <a:schemeClr val="tx1"/>
                </a:solidFill>
                <a:effectLst/>
              </a:rPr>
              <a:t>construir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Estos</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métodos</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devuelven</a:t>
            </a:r>
            <a:r>
              <a:rPr kumimoji="0" lang="en-US" altLang="en-US" b="0" i="0" u="none" strike="noStrike" cap="none" normalizeH="0" baseline="0" dirty="0" smtClean="0">
                <a:ln>
                  <a:noFill/>
                </a:ln>
                <a:solidFill>
                  <a:schemeClr val="tx1"/>
                </a:solidFill>
                <a:effectLst/>
              </a:rPr>
              <a:t> la </a:t>
            </a:r>
            <a:r>
              <a:rPr kumimoji="0" lang="en-US" altLang="en-US" b="0" i="0" u="none" strike="noStrike" cap="none" normalizeH="0" baseline="0" dirty="0" err="1" smtClean="0">
                <a:ln>
                  <a:noFill/>
                </a:ln>
                <a:solidFill>
                  <a:schemeClr val="tx1"/>
                </a:solidFill>
                <a:effectLst/>
              </a:rPr>
              <a:t>propia</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instancia</a:t>
            </a:r>
            <a:r>
              <a:rPr kumimoji="0" lang="en-US" altLang="en-US" b="0" i="0" u="none" strike="noStrike" cap="none" normalizeH="0" baseline="0" dirty="0" smtClean="0">
                <a:ln>
                  <a:noFill/>
                </a:ln>
                <a:solidFill>
                  <a:schemeClr val="tx1"/>
                </a:solidFill>
                <a:effectLst/>
              </a:rPr>
              <a:t> del </a:t>
            </a:r>
            <a:r>
              <a:rPr kumimoji="0" lang="en-US" altLang="en-US" b="0" i="0" u="none" strike="noStrike" cap="none" normalizeH="0" baseline="0" dirty="0" smtClean="0">
                <a:ln>
                  <a:noFill/>
                </a:ln>
                <a:solidFill>
                  <a:schemeClr val="tx1"/>
                </a:solidFill>
                <a:effectLst/>
                <a:latin typeface="Arial Unicode MS"/>
              </a:rPr>
              <a:t>Builder</a:t>
            </a:r>
            <a:r>
              <a:rPr kumimoji="0" lang="en-US" altLang="en-US" b="0" i="0" u="none" strike="noStrike" cap="none" normalizeH="0" baseline="0" dirty="0" smtClean="0">
                <a:ln>
                  <a:noFill/>
                </a:ln>
                <a:solidFill>
                  <a:schemeClr val="tx1"/>
                </a:solidFill>
                <a:effectLst/>
              </a:rPr>
              <a:t>, lo que </a:t>
            </a:r>
            <a:r>
              <a:rPr kumimoji="0" lang="en-US" altLang="en-US" b="0" i="0" u="none" strike="noStrike" cap="none" normalizeH="0" baseline="0" dirty="0" err="1" smtClean="0">
                <a:ln>
                  <a:noFill/>
                </a:ln>
                <a:solidFill>
                  <a:schemeClr val="tx1"/>
                </a:solidFill>
                <a:effectLst/>
              </a:rPr>
              <a:t>permite</a:t>
            </a:r>
            <a:r>
              <a:rPr kumimoji="0" lang="en-US" altLang="en-US" b="0" i="0" u="none" strike="noStrike" cap="none" normalizeH="0" baseline="0" dirty="0" smtClean="0">
                <a:ln>
                  <a:noFill/>
                </a:ln>
                <a:solidFill>
                  <a:schemeClr val="tx1"/>
                </a:solidFill>
                <a:effectLst/>
              </a:rPr>
              <a:t> el </a:t>
            </a:r>
            <a:r>
              <a:rPr kumimoji="0" lang="en-US" altLang="en-US" b="0" i="0" u="none" strike="noStrike" cap="none" normalizeH="0" baseline="0" dirty="0" err="1" smtClean="0">
                <a:ln>
                  <a:noFill/>
                </a:ln>
                <a:solidFill>
                  <a:schemeClr val="tx1"/>
                </a:solidFill>
                <a:effectLst/>
              </a:rPr>
              <a:t>encadenamiento</a:t>
            </a:r>
            <a:r>
              <a:rPr kumimoji="0" lang="en-US" altLang="en-US" b="0" i="0" u="none" strike="noStrike" cap="none" normalizeH="0" baseline="0" dirty="0" smtClean="0">
                <a:ln>
                  <a:noFill/>
                </a:ln>
                <a:solidFill>
                  <a:schemeClr val="tx1"/>
                </a:solidFill>
                <a:effectLst/>
              </a:rPr>
              <a:t> de </a:t>
            </a:r>
            <a:r>
              <a:rPr kumimoji="0" lang="en-US" altLang="en-US" b="0" i="0" u="none" strike="noStrike" cap="none" normalizeH="0" baseline="0" dirty="0" err="1" smtClean="0">
                <a:ln>
                  <a:noFill/>
                </a:ln>
                <a:solidFill>
                  <a:schemeClr val="tx1"/>
                </a:solidFill>
                <a:effectLst/>
              </a:rPr>
              <a:t>métodos</a:t>
            </a:r>
            <a:r>
              <a:rPr kumimoji="0" lang="en-US" altLang="en-US" b="0" i="0" u="none" strike="noStrike" cap="none" normalizeH="0" baseline="0" dirty="0" smtClean="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Arial" panose="020B0604020202020204" pitchFamily="34" charset="0"/>
              </a:rPr>
              <a:t>Cada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método</a:t>
            </a:r>
            <a:r>
              <a:rPr kumimoji="0" lang="en-US" altLang="en-US" b="0" i="0" u="none" strike="noStrike" cap="none" normalizeH="0" baseline="0" dirty="0" smtClean="0">
                <a:ln>
                  <a:noFill/>
                </a:ln>
                <a:solidFill>
                  <a:schemeClr val="tx1"/>
                </a:solidFill>
                <a:effectLst/>
                <a:latin typeface="Arial" panose="020B0604020202020204" pitchFamily="34" charset="0"/>
              </a:rPr>
              <a:t> de </a:t>
            </a:r>
            <a:r>
              <a:rPr kumimoji="0" lang="en-US" altLang="en-US" b="0" i="0" u="none" strike="noStrike" cap="none" normalizeH="0" baseline="0" dirty="0" err="1" smtClean="0">
                <a:ln>
                  <a:noFill/>
                </a:ln>
                <a:solidFill>
                  <a:schemeClr val="tx1"/>
                </a:solidFill>
                <a:effectLst/>
                <a:latin typeface="Arial" panose="020B0604020202020204" pitchFamily="34" charset="0"/>
              </a:rPr>
              <a:t>configuración</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en</a:t>
            </a:r>
            <a:r>
              <a:rPr kumimoji="0" lang="en-US" altLang="en-US" b="0" i="0" u="none" strike="noStrike" cap="none" normalizeH="0" baseline="0" dirty="0" smtClean="0">
                <a:ln>
                  <a:noFill/>
                </a:ln>
                <a:solidFill>
                  <a:schemeClr val="tx1"/>
                </a:solidFill>
                <a:effectLst/>
                <a:latin typeface="Arial" panose="020B0604020202020204" pitchFamily="34" charset="0"/>
              </a:rPr>
              <a:t> el </a:t>
            </a:r>
            <a:r>
              <a:rPr kumimoji="0" lang="en-US" altLang="en-US" b="0" i="0" u="none" strike="noStrike" cap="none" normalizeH="0" baseline="0" dirty="0" smtClean="0">
                <a:ln>
                  <a:noFill/>
                </a:ln>
                <a:solidFill>
                  <a:schemeClr val="tx1"/>
                </a:solidFill>
                <a:effectLst/>
                <a:latin typeface="Arial Unicode MS"/>
              </a:rPr>
              <a:t>Builder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devuelve</a:t>
            </a:r>
            <a:r>
              <a:rPr kumimoji="0" lang="en-US" altLang="en-US" b="0" i="0" u="none" strike="noStrike" cap="none" normalizeH="0" baseline="0" dirty="0" smtClean="0">
                <a:ln>
                  <a:noFill/>
                </a:ln>
                <a:solidFill>
                  <a:schemeClr val="tx1"/>
                </a:solidFill>
                <a:effectLst/>
              </a:rPr>
              <a:t> el </a:t>
            </a:r>
            <a:r>
              <a:rPr kumimoji="0" lang="en-US" altLang="en-US" b="0" i="0" u="none" strike="noStrike" cap="none" normalizeH="0" baseline="0" dirty="0" err="1" smtClean="0">
                <a:ln>
                  <a:noFill/>
                </a:ln>
                <a:solidFill>
                  <a:schemeClr val="tx1"/>
                </a:solidFill>
                <a:effectLst/>
              </a:rPr>
              <a:t>mismo</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Builder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permitiendo</a:t>
            </a:r>
            <a:r>
              <a:rPr kumimoji="0" lang="en-US" altLang="en-US" b="0" i="0" u="none" strike="noStrike" cap="none" normalizeH="0" baseline="0" dirty="0" smtClean="0">
                <a:ln>
                  <a:noFill/>
                </a:ln>
                <a:solidFill>
                  <a:schemeClr val="tx1"/>
                </a:solidFill>
                <a:effectLst/>
              </a:rPr>
              <a:t> que el código </a:t>
            </a:r>
            <a:r>
              <a:rPr kumimoji="0" lang="en-US" altLang="en-US" b="0" i="0" u="none" strike="noStrike" cap="none" normalizeH="0" baseline="0" dirty="0" err="1" smtClean="0">
                <a:ln>
                  <a:noFill/>
                </a:ln>
                <a:solidFill>
                  <a:schemeClr val="tx1"/>
                </a:solidFill>
                <a:effectLst/>
              </a:rPr>
              <a:t>fluya</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fluidamente</a:t>
            </a:r>
            <a:r>
              <a:rPr kumimoji="0" lang="en-US" altLang="en-US" b="0" i="0" u="none" strike="noStrike" cap="none" normalizeH="0" baseline="0" dirty="0" smtClean="0">
                <a:ln>
                  <a:noFill/>
                </a:ln>
                <a:solidFill>
                  <a:schemeClr val="tx1"/>
                </a:solidFill>
                <a:effectLst/>
              </a:rPr>
              <a:t>", de </a:t>
            </a:r>
            <a:r>
              <a:rPr kumimoji="0" lang="en-US" altLang="en-US" b="0" i="0" u="none" strike="noStrike" cap="none" normalizeH="0" baseline="0" dirty="0" err="1" smtClean="0">
                <a:ln>
                  <a:noFill/>
                </a:ln>
                <a:solidFill>
                  <a:schemeClr val="tx1"/>
                </a:solidFill>
                <a:effectLst/>
              </a:rPr>
              <a:t>ahí</a:t>
            </a:r>
            <a:r>
              <a:rPr kumimoji="0" lang="en-US" altLang="en-US" b="0" i="0" u="none" strike="noStrike" cap="none" normalizeH="0" baseline="0" dirty="0" smtClean="0">
                <a:ln>
                  <a:noFill/>
                </a:ln>
                <a:solidFill>
                  <a:schemeClr val="tx1"/>
                </a:solidFill>
                <a:effectLst/>
              </a:rPr>
              <a:t> el </a:t>
            </a:r>
            <a:r>
              <a:rPr kumimoji="0" lang="en-US" altLang="en-US" b="0" i="0" u="none" strike="noStrike" cap="none" normalizeH="0" baseline="0" dirty="0" err="1" smtClean="0">
                <a:ln>
                  <a:noFill/>
                </a:ln>
                <a:solidFill>
                  <a:schemeClr val="tx1"/>
                </a:solidFill>
                <a:effectLst/>
              </a:rPr>
              <a:t>término</a:t>
            </a:r>
            <a:r>
              <a:rPr kumimoji="0" lang="en-US" altLang="en-US" b="0" i="0" u="none" strike="noStrike" cap="none" normalizeH="0" baseline="0" dirty="0" smtClean="0">
                <a:ln>
                  <a:noFill/>
                </a:ln>
                <a:solidFill>
                  <a:schemeClr val="tx1"/>
                </a:solidFill>
                <a:effectLst/>
              </a:rPr>
              <a:t> </a:t>
            </a:r>
            <a:r>
              <a:rPr kumimoji="0" lang="en-US" altLang="en-US" b="1" i="0" u="none" strike="noStrike" cap="none" normalizeH="0" baseline="0" dirty="0" smtClean="0">
                <a:ln>
                  <a:noFill/>
                </a:ln>
                <a:solidFill>
                  <a:schemeClr val="tx1"/>
                </a:solidFill>
                <a:effectLst/>
                <a:latin typeface="Arial" panose="020B0604020202020204" pitchFamily="34" charset="0"/>
              </a:rPr>
              <a:t>Fluent</a:t>
            </a:r>
            <a:r>
              <a:rPr kumimoji="0" lang="en-US" altLang="en-US"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770113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200" y="693884"/>
            <a:ext cx="10585174"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Componentes</a:t>
            </a:r>
            <a:r>
              <a:rPr kumimoji="0" lang="en-US" altLang="en-US" sz="2400" b="1" i="0" u="none" strike="noStrike" cap="none" normalizeH="0" baseline="0" dirty="0" smtClean="0">
                <a:ln>
                  <a:noFill/>
                </a:ln>
                <a:solidFill>
                  <a:schemeClr val="tx1"/>
                </a:solidFill>
                <a:effectLst/>
                <a:latin typeface="Arial" panose="020B0604020202020204" pitchFamily="34" charset="0"/>
              </a:rPr>
              <a:t> del Fluent Builder Pattern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smtClean="0">
                <a:ln>
                  <a:noFill/>
                </a:ln>
                <a:solidFill>
                  <a:srgbClr val="FF0000"/>
                </a:solidFill>
                <a:effectLst/>
                <a:latin typeface="Arial" panose="020B0604020202020204" pitchFamily="34" charset="0"/>
              </a:rPr>
              <a:t>Product (</a:t>
            </a:r>
            <a:r>
              <a:rPr kumimoji="0" lang="en-US" altLang="en-US" sz="2400" b="1" i="0" u="none" strike="noStrike" cap="none" normalizeH="0" baseline="0" dirty="0" err="1" smtClean="0">
                <a:ln>
                  <a:noFill/>
                </a:ln>
                <a:solidFill>
                  <a:srgbClr val="FF0000"/>
                </a:solidFill>
                <a:effectLst/>
                <a:latin typeface="Arial" panose="020B0604020202020204" pitchFamily="34" charset="0"/>
              </a:rPr>
              <a:t>Producto</a:t>
            </a:r>
            <a:r>
              <a:rPr kumimoji="0" lang="en-US" altLang="en-US" sz="2400" b="1" i="0" u="none" strike="noStrike" cap="none" normalizeH="0" baseline="0" dirty="0" smtClean="0">
                <a:ln>
                  <a:noFill/>
                </a:ln>
                <a:solidFill>
                  <a:srgbClr val="FF0000"/>
                </a:solidFill>
                <a:effectLst/>
                <a:latin typeface="Arial" panose="020B0604020202020204" pitchFamily="34" charset="0"/>
              </a:rPr>
              <a:t>):</a:t>
            </a:r>
            <a:endParaRPr kumimoji="0" lang="en-US" altLang="en-US" sz="2400" b="0" i="0" u="none" strike="noStrike" cap="none" normalizeH="0" baseline="0" dirty="0" smtClean="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El </a:t>
            </a:r>
            <a:r>
              <a:rPr kumimoji="0" lang="en-US" altLang="en-US" b="0" i="0" u="none" strike="noStrike" cap="none" normalizeH="0" baseline="0" dirty="0" err="1" smtClean="0">
                <a:ln>
                  <a:noFill/>
                </a:ln>
                <a:solidFill>
                  <a:schemeClr val="tx1"/>
                </a:solidFill>
                <a:effectLst/>
                <a:latin typeface="Arial" panose="020B0604020202020204" pitchFamily="34" charset="0"/>
              </a:rPr>
              <a:t>objeto</a:t>
            </a:r>
            <a:r>
              <a:rPr kumimoji="0" lang="en-US" altLang="en-US" b="0" i="0" u="none" strike="noStrike" cap="none" normalizeH="0" baseline="0" dirty="0" smtClean="0">
                <a:ln>
                  <a:noFill/>
                </a:ln>
                <a:solidFill>
                  <a:schemeClr val="tx1"/>
                </a:solidFill>
                <a:effectLst/>
                <a:latin typeface="Arial" panose="020B0604020202020204" pitchFamily="34" charset="0"/>
              </a:rPr>
              <a:t> que </a:t>
            </a:r>
            <a:r>
              <a:rPr kumimoji="0" lang="en-US" altLang="en-US" b="0" i="0" u="none" strike="noStrike" cap="none" normalizeH="0" baseline="0" dirty="0" err="1" smtClean="0">
                <a:ln>
                  <a:noFill/>
                </a:ln>
                <a:solidFill>
                  <a:schemeClr val="tx1"/>
                </a:solidFill>
                <a:effectLst/>
                <a:latin typeface="Arial" panose="020B0604020202020204" pitchFamily="34" charset="0"/>
              </a:rPr>
              <a:t>queremos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construir</a:t>
            </a:r>
            <a:r>
              <a:rPr kumimoji="0" lang="en-US" altLang="en-US" b="0" i="0" u="none" strike="noStrike" cap="none" normalizeH="0" baseline="0" dirty="0" smtClean="0">
                <a:ln>
                  <a:noFill/>
                </a:ln>
                <a:solidFill>
                  <a:schemeClr val="tx1"/>
                </a:solidFill>
                <a:effectLst/>
                <a:latin typeface="Arial" panose="020B0604020202020204" pitchFamily="34" charset="0"/>
              </a:rPr>
              <a:t>, con </a:t>
            </a:r>
            <a:r>
              <a:rPr kumimoji="0" lang="en-US" altLang="en-US" b="0" i="0" u="none" strike="noStrike" cap="none" normalizeH="0" baseline="0" dirty="0" err="1" smtClean="0">
                <a:ln>
                  <a:noFill/>
                </a:ln>
                <a:solidFill>
                  <a:schemeClr val="tx1"/>
                </a:solidFill>
                <a:effectLst/>
                <a:latin typeface="Arial" panose="020B0604020202020204" pitchFamily="34" charset="0"/>
              </a:rPr>
              <a:t>múltiples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propiedades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configurables</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smtClean="0">
                <a:ln>
                  <a:noFill/>
                </a:ln>
                <a:solidFill>
                  <a:srgbClr val="FF0000"/>
                </a:solidFill>
                <a:effectLst/>
                <a:latin typeface="Arial" panose="020B0604020202020204" pitchFamily="34" charset="0"/>
              </a:rPr>
              <a:t>Fluent Builder:</a:t>
            </a:r>
            <a:endParaRPr kumimoji="0" lang="en-US" altLang="en-US" sz="2400" b="0" i="0" u="none" strike="noStrike" cap="none" normalizeH="0" baseline="0" dirty="0" smtClean="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Una clase que </a:t>
            </a:r>
            <a:r>
              <a:rPr kumimoji="0" lang="en-US" altLang="en-US" b="0" i="0" u="none" strike="noStrike" cap="none" normalizeH="0" baseline="0" dirty="0" err="1" smtClean="0">
                <a:ln>
                  <a:noFill/>
                </a:ln>
                <a:solidFill>
                  <a:schemeClr val="tx1"/>
                </a:solidFill>
                <a:effectLst/>
                <a:latin typeface="Arial" panose="020B0604020202020204" pitchFamily="34" charset="0"/>
              </a:rPr>
              <a:t>contiene</a:t>
            </a:r>
            <a:r>
              <a:rPr kumimoji="0" lang="en-US" altLang="en-US" b="0" i="0" u="none" strike="noStrike" cap="none" normalizeH="0" baseline="0" dirty="0" smtClean="0">
                <a:ln>
                  <a:noFill/>
                </a:ln>
                <a:solidFill>
                  <a:schemeClr val="tx1"/>
                </a:solidFill>
                <a:effectLst/>
                <a:latin typeface="Arial" panose="020B0604020202020204" pitchFamily="34" charset="0"/>
              </a:rPr>
              <a:t> los </a:t>
            </a:r>
            <a:r>
              <a:rPr kumimoji="0" lang="en-US" altLang="en-US" b="0" i="0" u="none" strike="noStrike" cap="none" normalizeH="0" baseline="0" dirty="0" err="1" smtClean="0">
                <a:ln>
                  <a:noFill/>
                </a:ln>
                <a:solidFill>
                  <a:schemeClr val="tx1"/>
                </a:solidFill>
                <a:effectLst/>
                <a:latin typeface="Arial" panose="020B0604020202020204" pitchFamily="34" charset="0"/>
              </a:rPr>
              <a:t>métodos</a:t>
            </a:r>
            <a:r>
              <a:rPr kumimoji="0" lang="en-US" altLang="en-US" b="0" i="0" u="none" strike="noStrike" cap="none" normalizeH="0" baseline="0" dirty="0" smtClean="0">
                <a:ln>
                  <a:noFill/>
                </a:ln>
                <a:solidFill>
                  <a:schemeClr val="tx1"/>
                </a:solidFill>
                <a:effectLst/>
                <a:latin typeface="Arial" panose="020B0604020202020204" pitchFamily="34" charset="0"/>
              </a:rPr>
              <a:t> para </a:t>
            </a:r>
            <a:r>
              <a:rPr kumimoji="0" lang="en-US" altLang="en-US" b="0" i="0" u="none" strike="noStrike" cap="none" normalizeH="0" baseline="0" dirty="0" err="1" smtClean="0">
                <a:ln>
                  <a:noFill/>
                </a:ln>
                <a:solidFill>
                  <a:schemeClr val="tx1"/>
                </a:solidFill>
                <a:effectLst/>
                <a:latin typeface="Arial" panose="020B0604020202020204" pitchFamily="34" charset="0"/>
              </a:rPr>
              <a:t>configurar</a:t>
            </a:r>
            <a:r>
              <a:rPr kumimoji="0" lang="en-US" altLang="en-US" b="0" i="0" u="none" strike="noStrike" cap="none" normalizeH="0" baseline="0" dirty="0" smtClean="0">
                <a:ln>
                  <a:noFill/>
                </a:ln>
                <a:solidFill>
                  <a:schemeClr val="tx1"/>
                </a:solidFill>
                <a:effectLst/>
                <a:latin typeface="Arial" panose="020B0604020202020204" pitchFamily="34" charset="0"/>
              </a:rPr>
              <a:t> las </a:t>
            </a:r>
            <a:r>
              <a:rPr kumimoji="0" lang="en-US" altLang="en-US" b="0" i="0" u="none" strike="noStrike" cap="none" normalizeH="0" baseline="0" dirty="0" err="1" smtClean="0">
                <a:ln>
                  <a:noFill/>
                </a:ln>
                <a:solidFill>
                  <a:schemeClr val="tx1"/>
                </a:solidFill>
                <a:effectLst/>
                <a:latin typeface="Arial" panose="020B0604020202020204" pitchFamily="34" charset="0"/>
              </a:rPr>
              <a:t>propiedades</a:t>
            </a:r>
            <a:r>
              <a:rPr kumimoji="0" lang="en-US" altLang="en-US" b="0" i="0" u="none" strike="noStrike" cap="none" normalizeH="0" baseline="0" dirty="0" smtClean="0">
                <a:ln>
                  <a:noFill/>
                </a:ln>
                <a:solidFill>
                  <a:schemeClr val="tx1"/>
                </a:solidFill>
                <a:effectLst/>
                <a:latin typeface="Arial" panose="020B0604020202020204" pitchFamily="34" charset="0"/>
              </a:rPr>
              <a:t> del </a:t>
            </a:r>
            <a:r>
              <a:rPr kumimoji="0" lang="en-US" altLang="en-US" b="0" i="0" u="none" strike="noStrike" cap="none" normalizeH="0" baseline="0" dirty="0" err="1" smtClean="0">
                <a:ln>
                  <a:noFill/>
                </a:ln>
                <a:solidFill>
                  <a:schemeClr val="tx1"/>
                </a:solidFill>
                <a:effectLst/>
                <a:latin typeface="Arial" panose="020B0604020202020204" pitchFamily="34" charset="0"/>
              </a:rPr>
              <a:t>producto</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smtClean="0">
                <a:ln>
                  <a:noFill/>
                </a:ln>
                <a:solidFill>
                  <a:schemeClr val="tx1"/>
                </a:solidFill>
                <a:effectLst/>
                <a:latin typeface="Arial" panose="020B0604020202020204" pitchFamily="34" charset="0"/>
              </a:rPr>
              <a:t>Implementa</a:t>
            </a:r>
            <a:r>
              <a:rPr kumimoji="0" lang="en-US" altLang="en-US" b="0" i="0" u="none" strike="noStrike" cap="none" normalizeH="0" baseline="0" dirty="0" smtClean="0">
                <a:ln>
                  <a:noFill/>
                </a:ln>
                <a:solidFill>
                  <a:schemeClr val="tx1"/>
                </a:solidFill>
                <a:effectLst/>
                <a:latin typeface="Arial" panose="020B0604020202020204" pitchFamily="34" charset="0"/>
              </a:rPr>
              <a:t> la API </a:t>
            </a:r>
            <a:r>
              <a:rPr kumimoji="0" lang="en-US" altLang="en-US" b="0" i="0" u="none" strike="noStrike" cap="none" normalizeH="0" baseline="0" dirty="0" err="1" smtClean="0">
                <a:ln>
                  <a:noFill/>
                </a:ln>
                <a:solidFill>
                  <a:schemeClr val="tx1"/>
                </a:solidFill>
                <a:effectLst/>
                <a:latin typeface="Arial" panose="020B0604020202020204" pitchFamily="34" charset="0"/>
              </a:rPr>
              <a:t>fluida</a:t>
            </a:r>
            <a:r>
              <a:rPr kumimoji="0" lang="en-US" altLang="en-US" b="0" i="0" u="none" strike="noStrike" cap="none" normalizeH="0" baseline="0" dirty="0" smtClean="0">
                <a:ln>
                  <a:noFill/>
                </a:ln>
                <a:solidFill>
                  <a:schemeClr val="tx1"/>
                </a:solidFill>
                <a:effectLst/>
                <a:latin typeface="Arial" panose="020B0604020202020204" pitchFamily="34" charset="0"/>
              </a:rPr>
              <a:t> al </a:t>
            </a:r>
            <a:r>
              <a:rPr kumimoji="0" lang="en-US" altLang="en-US" b="0" i="0" u="none" strike="noStrike" cap="none" normalizeH="0" baseline="0" dirty="0" err="1" smtClean="0">
                <a:ln>
                  <a:noFill/>
                </a:ln>
                <a:solidFill>
                  <a:schemeClr val="tx1"/>
                </a:solidFill>
                <a:effectLst/>
                <a:latin typeface="Arial" panose="020B0604020202020204" pitchFamily="34" charset="0"/>
              </a:rPr>
              <a:t>devolver</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this</a:t>
            </a:r>
            <a:r>
              <a:rPr kumimoji="0" lang="en-US" altLang="en-US" b="0" i="0" u="none" strike="noStrike" cap="none" normalizeH="0" baseline="0" dirty="0" smtClean="0">
                <a:ln>
                  <a:noFill/>
                </a:ln>
                <a:solidFill>
                  <a:schemeClr val="tx1"/>
                </a:solidFill>
                <a:effectLst/>
              </a:rPr>
              <a:t> en </a:t>
            </a:r>
            <a:r>
              <a:rPr kumimoji="0" lang="en-US" altLang="en-US" b="0" i="0" u="none" strike="noStrike" cap="none" normalizeH="0" baseline="0" dirty="0" err="1" smtClean="0">
                <a:ln>
                  <a:noFill/>
                </a:ln>
                <a:solidFill>
                  <a:schemeClr val="tx1"/>
                </a:solidFill>
                <a:effectLst/>
              </a:rPr>
              <a:t>cada</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método</a:t>
            </a:r>
            <a:r>
              <a:rPr kumimoji="0" lang="en-US" altLang="en-US" b="0" i="0" u="none" strike="noStrike" cap="none" normalizeH="0" baseline="0" dirty="0" smtClean="0">
                <a:ln>
                  <a:noFill/>
                </a:ln>
                <a:solidFill>
                  <a:schemeClr val="tx1"/>
                </a:solidFill>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smtClean="0">
                <a:ln>
                  <a:noFill/>
                </a:ln>
                <a:solidFill>
                  <a:srgbClr val="FF0000"/>
                </a:solidFill>
                <a:effectLst/>
                <a:latin typeface="Arial" panose="020B0604020202020204" pitchFamily="34" charset="0"/>
              </a:rPr>
              <a:t>Build Method:</a:t>
            </a:r>
            <a:endParaRPr kumimoji="0" lang="en-US" altLang="en-US" sz="2400" b="0" i="0" u="none" strike="noStrike" cap="none" normalizeH="0" baseline="0" dirty="0" smtClean="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smtClean="0">
                <a:ln>
                  <a:noFill/>
                </a:ln>
                <a:solidFill>
                  <a:schemeClr val="tx1"/>
                </a:solidFill>
                <a:effectLst/>
                <a:latin typeface="Arial" panose="020B0604020202020204" pitchFamily="34" charset="0"/>
              </a:rPr>
              <a:t>Método</a:t>
            </a:r>
            <a:r>
              <a:rPr kumimoji="0" lang="en-US" altLang="en-US" b="0" i="0" u="none" strike="noStrike" cap="none" normalizeH="0" baseline="0" dirty="0" smtClean="0">
                <a:ln>
                  <a:noFill/>
                </a:ln>
                <a:solidFill>
                  <a:schemeClr val="tx1"/>
                </a:solidFill>
                <a:effectLst/>
                <a:latin typeface="Arial" panose="020B0604020202020204" pitchFamily="34" charset="0"/>
              </a:rPr>
              <a:t> que </a:t>
            </a:r>
            <a:r>
              <a:rPr kumimoji="0" lang="en-US" altLang="en-US" b="0" i="0" u="none" strike="noStrike" cap="none" normalizeH="0" baseline="0" dirty="0" err="1" smtClean="0">
                <a:ln>
                  <a:noFill/>
                </a:ln>
                <a:solidFill>
                  <a:schemeClr val="tx1"/>
                </a:solidFill>
                <a:effectLst/>
                <a:latin typeface="Arial" panose="020B0604020202020204" pitchFamily="34" charset="0"/>
              </a:rPr>
              <a:t>finaliza</a:t>
            </a:r>
            <a:r>
              <a:rPr kumimoji="0" lang="en-US" altLang="en-US" b="0" i="0" u="none" strike="noStrike" cap="none" normalizeH="0" baseline="0" dirty="0" smtClean="0">
                <a:ln>
                  <a:noFill/>
                </a:ln>
                <a:solidFill>
                  <a:schemeClr val="tx1"/>
                </a:solidFill>
                <a:effectLst/>
                <a:latin typeface="Arial" panose="020B0604020202020204" pitchFamily="34" charset="0"/>
              </a:rPr>
              <a:t> el </a:t>
            </a:r>
            <a:r>
              <a:rPr kumimoji="0" lang="en-US" altLang="en-US" b="0" i="0" u="none" strike="noStrike" cap="none" normalizeH="0" baseline="0" dirty="0" err="1" smtClean="0">
                <a:ln>
                  <a:noFill/>
                </a:ln>
                <a:solidFill>
                  <a:schemeClr val="tx1"/>
                </a:solidFill>
                <a:effectLst/>
                <a:latin typeface="Arial" panose="020B0604020202020204" pitchFamily="34" charset="0"/>
              </a:rPr>
              <a:t>proceso</a:t>
            </a:r>
            <a:r>
              <a:rPr kumimoji="0" lang="en-US" altLang="en-US" b="0" i="0" u="none" strike="noStrike" cap="none" normalizeH="0" baseline="0" dirty="0" smtClean="0">
                <a:ln>
                  <a:noFill/>
                </a:ln>
                <a:solidFill>
                  <a:schemeClr val="tx1"/>
                </a:solidFill>
                <a:effectLst/>
                <a:latin typeface="Arial" panose="020B0604020202020204" pitchFamily="34" charset="0"/>
              </a:rPr>
              <a:t> de </a:t>
            </a:r>
            <a:r>
              <a:rPr kumimoji="0" lang="en-US" altLang="en-US" b="0" i="0" u="none" strike="noStrike" cap="none" normalizeH="0" baseline="0" dirty="0" err="1" smtClean="0">
                <a:ln>
                  <a:noFill/>
                </a:ln>
                <a:solidFill>
                  <a:schemeClr val="tx1"/>
                </a:solidFill>
                <a:effectLst/>
                <a:latin typeface="Arial" panose="020B0604020202020204" pitchFamily="34" charset="0"/>
              </a:rPr>
              <a:t>construcción</a:t>
            </a:r>
            <a:r>
              <a:rPr kumimoji="0" lang="en-US" altLang="en-US" b="0" i="0" u="none" strike="noStrike" cap="none" normalizeH="0" baseline="0" dirty="0" smtClean="0">
                <a:ln>
                  <a:noFill/>
                </a:ln>
                <a:solidFill>
                  <a:schemeClr val="tx1"/>
                </a:solidFill>
                <a:effectLst/>
                <a:latin typeface="Arial" panose="020B0604020202020204" pitchFamily="34" charset="0"/>
              </a:rPr>
              <a:t> y </a:t>
            </a:r>
            <a:r>
              <a:rPr kumimoji="0" lang="en-US" altLang="en-US" b="0" i="0" u="none" strike="noStrike" cap="none" normalizeH="0" baseline="0" dirty="0" err="1" smtClean="0">
                <a:ln>
                  <a:noFill/>
                </a:ln>
                <a:solidFill>
                  <a:schemeClr val="tx1"/>
                </a:solidFill>
                <a:effectLst/>
                <a:latin typeface="Arial" panose="020B0604020202020204" pitchFamily="34" charset="0"/>
              </a:rPr>
              <a:t>devuelve</a:t>
            </a:r>
            <a:r>
              <a:rPr kumimoji="0" lang="en-US" altLang="en-US" b="0" i="0" u="none" strike="noStrike" cap="none" normalizeH="0" baseline="0" dirty="0" smtClean="0">
                <a:ln>
                  <a:noFill/>
                </a:ln>
                <a:solidFill>
                  <a:schemeClr val="tx1"/>
                </a:solidFill>
                <a:effectLst/>
                <a:latin typeface="Arial" panose="020B0604020202020204" pitchFamily="34" charset="0"/>
              </a:rPr>
              <a:t> la </a:t>
            </a:r>
            <a:r>
              <a:rPr kumimoji="0" lang="en-US" altLang="en-US" b="0" i="0" u="none" strike="noStrike" cap="none" normalizeH="0" baseline="0" dirty="0" err="1" smtClean="0">
                <a:ln>
                  <a:noFill/>
                </a:ln>
                <a:solidFill>
                  <a:schemeClr val="tx1"/>
                </a:solidFill>
                <a:effectLst/>
                <a:latin typeface="Arial" panose="020B0604020202020204" pitchFamily="34" charset="0"/>
              </a:rPr>
              <a:t>instancia</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completamente</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err="1" smtClean="0">
                <a:ln>
                  <a:noFill/>
                </a:ln>
                <a:solidFill>
                  <a:schemeClr val="tx1"/>
                </a:solidFill>
                <a:effectLst/>
                <a:latin typeface="Arial" panose="020B0604020202020204" pitchFamily="34" charset="0"/>
              </a:rPr>
              <a:t>configurada</a:t>
            </a:r>
            <a:r>
              <a:rPr kumimoji="0" lang="en-US" altLang="en-US" b="0" i="0" u="none" strike="noStrike" cap="none" normalizeH="0" baseline="0" dirty="0" smtClean="0">
                <a:ln>
                  <a:noFill/>
                </a:ln>
                <a:solidFill>
                  <a:schemeClr val="tx1"/>
                </a:solidFill>
                <a:effectLst/>
                <a:latin typeface="Arial" panose="020B0604020202020204" pitchFamily="34" charset="0"/>
              </a:rPr>
              <a:t> del </a:t>
            </a:r>
            <a:r>
              <a:rPr kumimoji="0" lang="en-US" altLang="en-US" b="0" i="0" u="none" strike="noStrike" cap="none" normalizeH="0" baseline="0" dirty="0" err="1" smtClean="0">
                <a:ln>
                  <a:noFill/>
                </a:ln>
                <a:solidFill>
                  <a:schemeClr val="tx1"/>
                </a:solidFill>
                <a:effectLst/>
                <a:latin typeface="Arial" panose="020B0604020202020204" pitchFamily="34" charset="0"/>
              </a:rPr>
              <a:t>producto</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smtClean="0">
                <a:ln>
                  <a:noFill/>
                </a:ln>
                <a:solidFill>
                  <a:srgbClr val="FF0000"/>
                </a:solidFill>
                <a:effectLst/>
                <a:latin typeface="Arial" panose="020B0604020202020204" pitchFamily="34" charset="0"/>
              </a:rPr>
              <a:t>Client (</a:t>
            </a:r>
            <a:r>
              <a:rPr kumimoji="0" lang="en-US" altLang="en-US" sz="2400" b="1" i="0" u="none" strike="noStrike" cap="none" normalizeH="0" baseline="0" dirty="0" err="1" smtClean="0">
                <a:ln>
                  <a:noFill/>
                </a:ln>
                <a:solidFill>
                  <a:srgbClr val="FF0000"/>
                </a:solidFill>
                <a:effectLst/>
                <a:latin typeface="Arial" panose="020B0604020202020204" pitchFamily="34" charset="0"/>
              </a:rPr>
              <a:t>Cliente</a:t>
            </a:r>
            <a:r>
              <a:rPr kumimoji="0" lang="en-US" altLang="en-US" sz="2400" b="1" i="0" u="none" strike="noStrike" cap="none" normalizeH="0" baseline="0" dirty="0" smtClean="0">
                <a:ln>
                  <a:noFill/>
                </a:ln>
                <a:solidFill>
                  <a:srgbClr val="FF0000"/>
                </a:solidFill>
                <a:effectLst/>
                <a:latin typeface="Arial" panose="020B0604020202020204" pitchFamily="34" charset="0"/>
              </a:rPr>
              <a:t>):</a:t>
            </a:r>
            <a:endParaRPr kumimoji="0" lang="en-US" altLang="en-US" sz="2400" b="0" i="0" u="none" strike="noStrike" cap="none" normalizeH="0" baseline="0" dirty="0" smtClean="0">
              <a:ln>
                <a:noFill/>
              </a:ln>
              <a:solidFill>
                <a:srgbClr val="FF0000"/>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El código que </a:t>
            </a:r>
            <a:r>
              <a:rPr kumimoji="0" lang="en-US" altLang="en-US" b="0" i="0" u="none" strike="noStrike" cap="none" normalizeH="0" baseline="0" dirty="0" err="1" smtClean="0">
                <a:ln>
                  <a:noFill/>
                </a:ln>
                <a:solidFill>
                  <a:schemeClr val="tx1"/>
                </a:solidFill>
                <a:effectLst/>
                <a:latin typeface="Arial" panose="020B0604020202020204" pitchFamily="34" charset="0"/>
              </a:rPr>
              <a:t>utiliza</a:t>
            </a:r>
            <a:r>
              <a:rPr kumimoji="0" lang="en-US" altLang="en-US" b="0" i="0" u="none" strike="noStrike" cap="none" normalizeH="0" baseline="0" dirty="0" smtClean="0">
                <a:ln>
                  <a:noFill/>
                </a:ln>
                <a:solidFill>
                  <a:schemeClr val="tx1"/>
                </a:solidFill>
                <a:effectLst/>
                <a:latin typeface="Arial" panose="020B0604020202020204" pitchFamily="34" charset="0"/>
              </a:rPr>
              <a:t> el </a:t>
            </a:r>
            <a:r>
              <a:rPr kumimoji="0" lang="en-US" altLang="en-US" b="0" i="0" u="none" strike="noStrike" cap="none" normalizeH="0" baseline="0" dirty="0" smtClean="0">
                <a:ln>
                  <a:noFill/>
                </a:ln>
                <a:solidFill>
                  <a:schemeClr val="tx1"/>
                </a:solidFill>
                <a:effectLst/>
                <a:latin typeface="Arial Unicode MS"/>
              </a:rPr>
              <a:t>Fluent Builder</a:t>
            </a:r>
            <a:r>
              <a:rPr kumimoji="0" lang="en-US" altLang="en-US" b="0" i="0" u="none" strike="noStrike" cap="none" normalizeH="0" baseline="0" dirty="0" smtClean="0">
                <a:ln>
                  <a:noFill/>
                </a:ln>
                <a:solidFill>
                  <a:schemeClr val="tx1"/>
                </a:solidFill>
                <a:effectLst/>
              </a:rPr>
              <a:t> para </a:t>
            </a:r>
            <a:r>
              <a:rPr kumimoji="0" lang="en-US" altLang="en-US" b="0" i="0" u="none" strike="noStrike" cap="none" normalizeH="0" baseline="0" dirty="0" err="1" smtClean="0">
                <a:ln>
                  <a:noFill/>
                </a:ln>
                <a:solidFill>
                  <a:schemeClr val="tx1"/>
                </a:solidFill>
                <a:effectLst/>
              </a:rPr>
              <a:t>construir</a:t>
            </a:r>
            <a:r>
              <a:rPr kumimoji="0" lang="en-US" altLang="en-US" b="0" i="0" u="none" strike="noStrike" cap="none" normalizeH="0" baseline="0" dirty="0" smtClean="0">
                <a:ln>
                  <a:noFill/>
                </a:ln>
                <a:solidFill>
                  <a:schemeClr val="tx1"/>
                </a:solidFill>
                <a:effectLst/>
              </a:rPr>
              <a:t> el </a:t>
            </a:r>
            <a:r>
              <a:rPr kumimoji="0" lang="en-US" altLang="en-US" b="0" i="0" u="none" strike="noStrike" cap="none" normalizeH="0" baseline="0" dirty="0" err="1" smtClean="0">
                <a:ln>
                  <a:noFill/>
                </a:ln>
                <a:solidFill>
                  <a:schemeClr val="tx1"/>
                </a:solidFill>
                <a:effectLst/>
              </a:rPr>
              <a:t>objeto</a:t>
            </a:r>
            <a:r>
              <a:rPr kumimoji="0" lang="en-US" altLang="en-US" b="0" i="0" u="none" strike="noStrike" cap="none" normalizeH="0" baseline="0" dirty="0" smtClean="0">
                <a:ln>
                  <a:noFill/>
                </a:ln>
                <a:solidFill>
                  <a:schemeClr val="tx1"/>
                </a:solidFill>
                <a:effectLst/>
              </a:rPr>
              <a:t>.</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0056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4793974" cy="536023"/>
          </a:xfrm>
        </p:spPr>
        <p:txBody>
          <a:bodyPr>
            <a:normAutofit/>
          </a:bodyPr>
          <a:lstStyle/>
          <a:p>
            <a:r>
              <a:rPr lang="en-US" sz="2800" b="1" dirty="0" err="1"/>
              <a:t>Resumen</a:t>
            </a:r>
            <a:r>
              <a:rPr lang="en-US" sz="2800" b="1" dirty="0"/>
              <a:t> de los </a:t>
            </a:r>
            <a:r>
              <a:rPr lang="en-US" sz="2800" b="1" dirty="0" err="1"/>
              <a:t>Componentes</a:t>
            </a:r>
            <a:endParaRPr lang="en-US" sz="2800" b="1" dirty="0"/>
          </a:p>
        </p:txBody>
      </p:sp>
      <p:pic>
        <p:nvPicPr>
          <p:cNvPr id="4" name="Marcador de contenido 3"/>
          <p:cNvPicPr>
            <a:picLocks noGrp="1" noChangeAspect="1"/>
          </p:cNvPicPr>
          <p:nvPr>
            <p:ph idx="1"/>
          </p:nvPr>
        </p:nvPicPr>
        <p:blipFill>
          <a:blip r:embed="rId2"/>
          <a:stretch>
            <a:fillRect/>
          </a:stretch>
        </p:blipFill>
        <p:spPr>
          <a:xfrm>
            <a:off x="1575587" y="963781"/>
            <a:ext cx="6707021" cy="2316760"/>
          </a:xfrm>
          <a:prstGeom prst="rect">
            <a:avLst/>
          </a:prstGeom>
        </p:spPr>
      </p:pic>
      <p:pic>
        <p:nvPicPr>
          <p:cNvPr id="5" name="Imagen 4"/>
          <p:cNvPicPr>
            <a:picLocks noChangeAspect="1"/>
          </p:cNvPicPr>
          <p:nvPr/>
        </p:nvPicPr>
        <p:blipFill>
          <a:blip r:embed="rId3"/>
          <a:stretch>
            <a:fillRect/>
          </a:stretch>
        </p:blipFill>
        <p:spPr>
          <a:xfrm>
            <a:off x="1575586" y="3658261"/>
            <a:ext cx="6707021" cy="2179481"/>
          </a:xfrm>
          <a:prstGeom prst="rect">
            <a:avLst/>
          </a:prstGeom>
        </p:spPr>
      </p:pic>
      <p:sp>
        <p:nvSpPr>
          <p:cNvPr id="7" name="Rectángulo 6"/>
          <p:cNvSpPr/>
          <p:nvPr/>
        </p:nvSpPr>
        <p:spPr>
          <a:xfrm>
            <a:off x="8454886" y="3870838"/>
            <a:ext cx="3405810" cy="1754326"/>
          </a:xfrm>
          <a:prstGeom prst="rect">
            <a:avLst/>
          </a:prstGeom>
          <a:ln w="19050">
            <a:solidFill>
              <a:schemeClr val="tx1"/>
            </a:solidFill>
          </a:ln>
        </p:spPr>
        <p:txBody>
          <a:bodyPr wrap="square">
            <a:spAutoFit/>
          </a:bodyPr>
          <a:lstStyle/>
          <a:p>
            <a:pPr lvl="0" algn="just" eaLnBrk="0" fontAlgn="base" hangingPunct="0">
              <a:spcBef>
                <a:spcPct val="0"/>
              </a:spcBef>
              <a:spcAft>
                <a:spcPct val="0"/>
              </a:spcAft>
            </a:pPr>
            <a:r>
              <a:rPr lang="en-US" altLang="en-US" dirty="0" err="1" smtClean="0">
                <a:latin typeface="Arial" panose="020B0604020202020204" pitchFamily="34" charset="0"/>
              </a:rPr>
              <a:t>Muestra</a:t>
            </a:r>
            <a:r>
              <a:rPr lang="en-US" altLang="en-US" dirty="0" smtClean="0">
                <a:latin typeface="Arial" panose="020B0604020202020204" pitchFamily="34" charset="0"/>
              </a:rPr>
              <a:t> </a:t>
            </a:r>
            <a:r>
              <a:rPr lang="en-US" altLang="en-US" dirty="0" err="1">
                <a:latin typeface="Arial" panose="020B0604020202020204" pitchFamily="34" charset="0"/>
              </a:rPr>
              <a:t>cómo</a:t>
            </a:r>
            <a:r>
              <a:rPr lang="en-US" altLang="en-US" dirty="0">
                <a:latin typeface="Arial" panose="020B0604020202020204" pitchFamily="34" charset="0"/>
              </a:rPr>
              <a:t> los </a:t>
            </a:r>
            <a:r>
              <a:rPr lang="en-US" altLang="en-US" dirty="0" err="1">
                <a:latin typeface="Arial" panose="020B0604020202020204" pitchFamily="34" charset="0"/>
              </a:rPr>
              <a:t>métodos</a:t>
            </a:r>
            <a:r>
              <a:rPr lang="en-US" altLang="en-US" dirty="0">
                <a:latin typeface="Arial" panose="020B0604020202020204" pitchFamily="34" charset="0"/>
              </a:rPr>
              <a:t> del </a:t>
            </a:r>
            <a:r>
              <a:rPr lang="en-US" altLang="en-US" b="1" dirty="0">
                <a:latin typeface="Arial" panose="020B0604020202020204" pitchFamily="34" charset="0"/>
              </a:rPr>
              <a:t>Fluent Builder </a:t>
            </a:r>
            <a:r>
              <a:rPr lang="en-US" altLang="en-US" dirty="0" err="1">
                <a:latin typeface="Arial" panose="020B0604020202020204" pitchFamily="34" charset="0"/>
              </a:rPr>
              <a:t>trabajan</a:t>
            </a:r>
            <a:r>
              <a:rPr lang="en-US" altLang="en-US" dirty="0">
                <a:latin typeface="Arial" panose="020B0604020202020204" pitchFamily="34" charset="0"/>
              </a:rPr>
              <a:t> </a:t>
            </a:r>
            <a:r>
              <a:rPr lang="en-US" altLang="en-US" dirty="0" err="1">
                <a:latin typeface="Arial" panose="020B0604020202020204" pitchFamily="34" charset="0"/>
              </a:rPr>
              <a:t>juntos</a:t>
            </a:r>
            <a:r>
              <a:rPr lang="en-US" altLang="en-US" dirty="0">
                <a:latin typeface="Arial" panose="020B0604020202020204" pitchFamily="34" charset="0"/>
              </a:rPr>
              <a:t> para </a:t>
            </a:r>
            <a:r>
              <a:rPr lang="en-US" altLang="en-US" dirty="0" err="1">
                <a:latin typeface="Arial" panose="020B0604020202020204" pitchFamily="34" charset="0"/>
              </a:rPr>
              <a:t>configurar</a:t>
            </a:r>
            <a:r>
              <a:rPr lang="en-US" altLang="en-US" dirty="0">
                <a:latin typeface="Arial" panose="020B0604020202020204" pitchFamily="34" charset="0"/>
              </a:rPr>
              <a:t> el </a:t>
            </a:r>
            <a:r>
              <a:rPr lang="en-US" altLang="en-US" dirty="0" err="1">
                <a:latin typeface="Arial" panose="020B0604020202020204" pitchFamily="34" charset="0"/>
              </a:rPr>
              <a:t>producto</a:t>
            </a:r>
            <a:r>
              <a:rPr lang="en-US" altLang="en-US" dirty="0">
                <a:latin typeface="Arial" panose="020B0604020202020204" pitchFamily="34" charset="0"/>
              </a:rPr>
              <a:t> final </a:t>
            </a:r>
            <a:r>
              <a:rPr lang="en-US" altLang="en-US" b="1" dirty="0" err="1">
                <a:latin typeface="Arial Unicode MS"/>
              </a:rPr>
              <a:t>UserProfile</a:t>
            </a:r>
            <a:r>
              <a:rPr lang="en-US" altLang="en-US" dirty="0"/>
              <a:t>, </a:t>
            </a:r>
            <a:r>
              <a:rPr lang="en-US" altLang="en-US" dirty="0" err="1"/>
              <a:t>mientras</a:t>
            </a:r>
            <a:r>
              <a:rPr lang="en-US" altLang="en-US" dirty="0"/>
              <a:t> el </a:t>
            </a:r>
            <a:r>
              <a:rPr lang="en-US" altLang="en-US" dirty="0" err="1"/>
              <a:t>método</a:t>
            </a:r>
            <a:r>
              <a:rPr lang="en-US" altLang="en-US" dirty="0"/>
              <a:t> </a:t>
            </a:r>
            <a:r>
              <a:rPr lang="en-US" altLang="en-US" b="1" dirty="0">
                <a:latin typeface="Arial Unicode MS"/>
              </a:rPr>
              <a:t>Build()</a:t>
            </a:r>
            <a:r>
              <a:rPr lang="en-US" altLang="en-US" b="1" dirty="0"/>
              <a:t> </a:t>
            </a:r>
            <a:r>
              <a:rPr lang="en-US" altLang="en-US" dirty="0"/>
              <a:t>lo </a:t>
            </a:r>
            <a:r>
              <a:rPr lang="en-US" altLang="en-US" dirty="0" err="1"/>
              <a:t>retorna</a:t>
            </a:r>
            <a:r>
              <a:rPr lang="en-US" altLang="en-US" dirty="0"/>
              <a:t> </a:t>
            </a:r>
            <a:r>
              <a:rPr lang="en-US" altLang="en-US" dirty="0" err="1"/>
              <a:t>completamente</a:t>
            </a:r>
            <a:r>
              <a:rPr lang="en-US" altLang="en-US" dirty="0"/>
              <a:t> </a:t>
            </a:r>
            <a:r>
              <a:rPr lang="en-US" altLang="en-US" dirty="0" err="1"/>
              <a:t>configurado</a:t>
            </a:r>
            <a:r>
              <a:rPr lang="en-US" altLang="en-US" dirty="0"/>
              <a:t>. </a:t>
            </a:r>
            <a:endParaRPr lang="en-US" altLang="en-US" dirty="0">
              <a:latin typeface="Arial" panose="020B0604020202020204" pitchFamily="34" charset="0"/>
            </a:endParaRPr>
          </a:p>
        </p:txBody>
      </p:sp>
    </p:spTree>
    <p:extLst>
      <p:ext uri="{BB962C8B-B14F-4D97-AF65-F5344CB8AC3E}">
        <p14:creationId xmlns:p14="http://schemas.microsoft.com/office/powerpoint/2010/main" val="3763524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745434" y="381138"/>
            <a:ext cx="10515600" cy="467001"/>
          </a:xfrm>
        </p:spPr>
        <p:txBody>
          <a:bodyPr>
            <a:normAutofit lnSpcReduction="10000"/>
          </a:bodyPr>
          <a:lstStyle/>
          <a:p>
            <a:pPr marL="0" indent="0">
              <a:buNone/>
            </a:pPr>
            <a:r>
              <a:rPr lang="es-MX" b="1" dirty="0" smtClean="0"/>
              <a:t>Ejemplo: </a:t>
            </a:r>
            <a:r>
              <a:rPr lang="es-MX" b="1" dirty="0"/>
              <a:t>Creación de un Perfil de Usuario</a:t>
            </a:r>
            <a:endParaRPr lang="en-US" b="1" dirty="0"/>
          </a:p>
        </p:txBody>
      </p:sp>
      <p:sp>
        <p:nvSpPr>
          <p:cNvPr id="3" name="Rectangle 1"/>
          <p:cNvSpPr>
            <a:spLocks noChangeArrowheads="1"/>
          </p:cNvSpPr>
          <p:nvPr/>
        </p:nvSpPr>
        <p:spPr bwMode="auto">
          <a:xfrm>
            <a:off x="745434" y="848139"/>
            <a:ext cx="62417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1. Product (</a:t>
            </a:r>
            <a:r>
              <a:rPr kumimoji="0" lang="en-US" altLang="en-US" sz="2000" b="1" i="0" u="none" strike="noStrike" cap="none" normalizeH="0" baseline="0" dirty="0" err="1" smtClean="0">
                <a:ln>
                  <a:noFill/>
                </a:ln>
                <a:solidFill>
                  <a:schemeClr val="tx1"/>
                </a:solidFill>
                <a:effectLst/>
                <a:latin typeface="Arial" panose="020B0604020202020204" pitchFamily="34" charset="0"/>
              </a:rPr>
              <a:t>Producto</a:t>
            </a:r>
            <a:r>
              <a:rPr kumimoji="0" lang="en-US" altLang="en-US" sz="20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smtClean="0">
                <a:ln>
                  <a:noFill/>
                </a:ln>
                <a:solidFill>
                  <a:schemeClr val="tx1"/>
                </a:solidFill>
                <a:effectLst/>
                <a:latin typeface="Arial" panose="020B0604020202020204" pitchFamily="34" charset="0"/>
              </a:rPr>
              <a:t>Definimos</a:t>
            </a:r>
            <a:r>
              <a:rPr kumimoji="0" lang="en-US" altLang="en-US" sz="1600" b="0" i="0" u="none" strike="noStrike" cap="none" normalizeH="0" baseline="0" dirty="0" smtClean="0">
                <a:ln>
                  <a:noFill/>
                </a:ln>
                <a:solidFill>
                  <a:schemeClr val="tx1"/>
                </a:solidFill>
                <a:effectLst/>
                <a:latin typeface="Arial" panose="020B0604020202020204" pitchFamily="34" charset="0"/>
              </a:rPr>
              <a:t> la clase </a:t>
            </a:r>
            <a:r>
              <a:rPr kumimoji="0" lang="en-US" altLang="en-US" sz="1600" b="1" i="0" u="none" strike="noStrike" cap="none" normalizeH="0" baseline="0" dirty="0" err="1" smtClean="0">
                <a:ln>
                  <a:noFill/>
                </a:ln>
                <a:solidFill>
                  <a:schemeClr val="tx1"/>
                </a:solidFill>
                <a:effectLst/>
                <a:latin typeface="Arial Unicode MS"/>
              </a:rPr>
              <a:t>UserProfile</a:t>
            </a:r>
            <a:r>
              <a:rPr kumimoji="0" lang="en-US" altLang="en-US" sz="1600" b="0" i="0" u="none" strike="noStrike" cap="none" normalizeH="0" baseline="0" dirty="0" smtClean="0">
                <a:ln>
                  <a:noFill/>
                </a:ln>
                <a:solidFill>
                  <a:schemeClr val="tx1"/>
                </a:solidFill>
                <a:effectLst/>
              </a:rPr>
              <a:t> que </a:t>
            </a:r>
            <a:r>
              <a:rPr kumimoji="0" lang="en-US" altLang="en-US" sz="1600" b="0" i="0" u="none" strike="noStrike" cap="none" normalizeH="0" baseline="0" dirty="0" err="1" smtClean="0">
                <a:ln>
                  <a:noFill/>
                </a:ln>
                <a:solidFill>
                  <a:schemeClr val="tx1"/>
                </a:solidFill>
                <a:effectLst/>
              </a:rPr>
              <a:t>representa</a:t>
            </a:r>
            <a:r>
              <a:rPr kumimoji="0" lang="en-US" altLang="en-US" sz="1600" b="0" i="0" u="none" strike="noStrike" cap="none" normalizeH="0" baseline="0" dirty="0" smtClean="0">
                <a:ln>
                  <a:noFill/>
                </a:ln>
                <a:solidFill>
                  <a:schemeClr val="tx1"/>
                </a:solidFill>
                <a:effectLst/>
              </a:rPr>
              <a:t> el </a:t>
            </a:r>
            <a:r>
              <a:rPr kumimoji="0" lang="en-US" altLang="en-US" sz="1600" b="0" i="0" u="none" strike="noStrike" cap="none" normalizeH="0" baseline="0" dirty="0" err="1" smtClean="0">
                <a:ln>
                  <a:noFill/>
                </a:ln>
                <a:solidFill>
                  <a:schemeClr val="tx1"/>
                </a:solidFill>
                <a:effectLst/>
              </a:rPr>
              <a:t>objeto</a:t>
            </a:r>
            <a:r>
              <a:rPr kumimoji="0" lang="en-US" altLang="en-US" sz="1600" b="0" i="0" u="none" strike="noStrike" cap="none" normalizeH="0" baseline="0" dirty="0" smtClean="0">
                <a:ln>
                  <a:noFill/>
                </a:ln>
                <a:solidFill>
                  <a:schemeClr val="tx1"/>
                </a:solidFill>
                <a:effectLst/>
              </a:rPr>
              <a:t> a </a:t>
            </a:r>
            <a:r>
              <a:rPr kumimoji="0" lang="en-US" altLang="en-US" sz="1600" b="0" i="0" u="none" strike="noStrike" cap="none" normalizeH="0" baseline="0" dirty="0" err="1" smtClean="0">
                <a:ln>
                  <a:noFill/>
                </a:ln>
                <a:solidFill>
                  <a:schemeClr val="tx1"/>
                </a:solidFill>
                <a:effectLst/>
              </a:rPr>
              <a:t>construir</a:t>
            </a:r>
            <a:r>
              <a:rPr kumimoji="0" lang="en-US" altLang="en-US" sz="1600" b="0" i="0" u="none" strike="noStrike" cap="none" normalizeH="0" baseline="0" dirty="0" smtClean="0">
                <a:ln>
                  <a:noFill/>
                </a:ln>
                <a:solidFill>
                  <a:schemeClr val="tx1"/>
                </a:solidFill>
                <a:effectLst/>
              </a:rPr>
              <a: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pic>
        <p:nvPicPr>
          <p:cNvPr id="5" name="Imagen 4"/>
          <p:cNvPicPr>
            <a:picLocks noChangeAspect="1"/>
          </p:cNvPicPr>
          <p:nvPr/>
        </p:nvPicPr>
        <p:blipFill>
          <a:blip r:embed="rId2"/>
          <a:stretch>
            <a:fillRect/>
          </a:stretch>
        </p:blipFill>
        <p:spPr>
          <a:xfrm>
            <a:off x="2917360" y="1856774"/>
            <a:ext cx="6530196" cy="3073033"/>
          </a:xfrm>
          <a:prstGeom prst="rect">
            <a:avLst/>
          </a:prstGeom>
        </p:spPr>
      </p:pic>
    </p:spTree>
    <p:extLst>
      <p:ext uri="{BB962C8B-B14F-4D97-AF65-F5344CB8AC3E}">
        <p14:creationId xmlns:p14="http://schemas.microsoft.com/office/powerpoint/2010/main" val="3165564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p:cNvPicPr>
            <a:picLocks noGrp="1" noChangeAspect="1"/>
          </p:cNvPicPr>
          <p:nvPr>
            <p:ph idx="1"/>
          </p:nvPr>
        </p:nvPicPr>
        <p:blipFill>
          <a:blip r:embed="rId2"/>
          <a:stretch>
            <a:fillRect/>
          </a:stretch>
        </p:blipFill>
        <p:spPr>
          <a:xfrm>
            <a:off x="529174" y="1176583"/>
            <a:ext cx="5199560" cy="4866408"/>
          </a:xfrm>
          <a:prstGeom prst="rect">
            <a:avLst/>
          </a:prstGeom>
        </p:spPr>
      </p:pic>
      <p:sp>
        <p:nvSpPr>
          <p:cNvPr id="4" name="Rectangle 1"/>
          <p:cNvSpPr>
            <a:spLocks noChangeArrowheads="1"/>
          </p:cNvSpPr>
          <p:nvPr/>
        </p:nvSpPr>
        <p:spPr bwMode="auto">
          <a:xfrm>
            <a:off x="529174" y="534264"/>
            <a:ext cx="39633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2. Builder (</a:t>
            </a:r>
            <a:r>
              <a:rPr kumimoji="0" lang="en-US" altLang="en-US" b="1" i="0" u="none" strike="noStrike" cap="none" normalizeH="0" baseline="0" dirty="0" err="1" smtClean="0">
                <a:ln>
                  <a:noFill/>
                </a:ln>
                <a:solidFill>
                  <a:schemeClr val="tx1"/>
                </a:solidFill>
                <a:effectLst/>
                <a:latin typeface="Arial Unicode MS"/>
              </a:rPr>
              <a:t>UserProfileBuilder</a:t>
            </a:r>
            <a:r>
              <a:rPr kumimoji="0" lang="en-US" altLang="en-US" b="1" i="0" u="none" strike="noStrike" cap="none" normalizeH="0" baseline="0" dirty="0" smtClean="0">
                <a:ln>
                  <a:noFill/>
                </a:ln>
                <a:solidFill>
                  <a:schemeClr val="tx1"/>
                </a:solidFill>
                <a:effectLst/>
              </a:rPr>
              <a:t>)</a:t>
            </a:r>
            <a:endParaRPr kumimoji="0" lang="en-US" altLang="en-US" b="1" i="0" u="none" strike="noStrike" cap="none" normalizeH="0" baseline="0" dirty="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5741986" y="422530"/>
            <a:ext cx="6054452"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mj-lt"/>
              </a:rPr>
              <a:t>El </a:t>
            </a:r>
            <a:r>
              <a:rPr kumimoji="0" lang="en-US" altLang="en-US" sz="1600" b="0" i="0" u="none" strike="noStrike" cap="none" normalizeH="0" baseline="0" dirty="0" err="1" smtClean="0">
                <a:ln>
                  <a:noFill/>
                </a:ln>
                <a:solidFill>
                  <a:schemeClr val="tx1"/>
                </a:solidFill>
                <a:effectLst/>
                <a:latin typeface="+mj-lt"/>
              </a:rPr>
              <a:t>uso</a:t>
            </a:r>
            <a:r>
              <a:rPr kumimoji="0" lang="en-US" altLang="en-US" sz="1600" b="0" i="0" u="none" strike="noStrike" cap="none" normalizeH="0" baseline="0" dirty="0" smtClean="0">
                <a:ln>
                  <a:noFill/>
                </a:ln>
                <a:solidFill>
                  <a:schemeClr val="tx1"/>
                </a:solidFill>
                <a:effectLst/>
                <a:latin typeface="+mj-lt"/>
              </a:rPr>
              <a:t> de </a:t>
            </a:r>
            <a:r>
              <a:rPr kumimoji="0" lang="en-US" altLang="en-US" sz="1600" b="1" i="0" u="none" strike="noStrike" cap="none" normalizeH="0" baseline="0" dirty="0" smtClean="0">
                <a:ln>
                  <a:noFill/>
                </a:ln>
                <a:solidFill>
                  <a:schemeClr val="tx1"/>
                </a:solidFill>
                <a:effectLst/>
                <a:latin typeface="+mj-lt"/>
              </a:rPr>
              <a:t>this</a:t>
            </a:r>
            <a:r>
              <a:rPr lang="en-US" altLang="en-US" sz="1600" dirty="0" smtClean="0">
                <a:latin typeface="+mj-lt"/>
              </a:rPr>
              <a:t>: </a:t>
            </a:r>
            <a:r>
              <a:rPr kumimoji="0" lang="en-US" altLang="en-US" sz="1600" b="0" i="0" u="none" strike="noStrike" cap="none" normalizeH="0" baseline="0" dirty="0" err="1" smtClean="0">
                <a:ln>
                  <a:noFill/>
                </a:ln>
                <a:solidFill>
                  <a:schemeClr val="tx1"/>
                </a:solidFill>
                <a:effectLst/>
                <a:latin typeface="+mj-lt"/>
              </a:rPr>
              <a:t>Proporciona</a:t>
            </a:r>
            <a:r>
              <a:rPr kumimoji="0" lang="en-US" altLang="en-US" sz="1600" b="0" i="0" u="none" strike="noStrike" cap="none" normalizeH="0" baseline="0" dirty="0" smtClean="0">
                <a:ln>
                  <a:noFill/>
                </a:ln>
                <a:solidFill>
                  <a:schemeClr val="tx1"/>
                </a:solidFill>
                <a:effectLst/>
                <a:latin typeface="+mj-lt"/>
              </a:rPr>
              <a:t> un </a:t>
            </a:r>
            <a:r>
              <a:rPr kumimoji="0" lang="en-US" altLang="en-US" sz="1600" b="0" i="0" u="none" strike="noStrike" cap="none" normalizeH="0" baseline="0" dirty="0" err="1" smtClean="0">
                <a:ln>
                  <a:noFill/>
                </a:ln>
                <a:solidFill>
                  <a:schemeClr val="tx1"/>
                </a:solidFill>
                <a:effectLst/>
                <a:latin typeface="+mj-lt"/>
              </a:rPr>
              <a:t>mecanismo</a:t>
            </a:r>
            <a:r>
              <a:rPr kumimoji="0" lang="en-US" altLang="en-US" sz="1600" b="0" i="0" u="none" strike="noStrike" cap="none" normalizeH="0" baseline="0" dirty="0" smtClean="0">
                <a:ln>
                  <a:noFill/>
                </a:ln>
                <a:solidFill>
                  <a:schemeClr val="tx1"/>
                </a:solidFill>
                <a:effectLst/>
                <a:latin typeface="+mj-lt"/>
              </a:rPr>
              <a:t> para </a:t>
            </a:r>
            <a:r>
              <a:rPr kumimoji="0" lang="en-US" altLang="en-US" sz="1600" b="0" i="0" u="none" strike="noStrike" cap="none" normalizeH="0" baseline="0" dirty="0" err="1" smtClean="0">
                <a:ln>
                  <a:noFill/>
                </a:ln>
                <a:solidFill>
                  <a:schemeClr val="tx1"/>
                </a:solidFill>
                <a:effectLst/>
                <a:latin typeface="+mj-lt"/>
              </a:rPr>
              <a:t>devolver</a:t>
            </a:r>
            <a:r>
              <a:rPr kumimoji="0" lang="en-US" altLang="en-US" sz="1600" b="0" i="0" u="none" strike="noStrike" cap="none" normalizeH="0" baseline="0" dirty="0" smtClean="0">
                <a:ln>
                  <a:noFill/>
                </a:ln>
                <a:solidFill>
                  <a:schemeClr val="tx1"/>
                </a:solidFill>
                <a:effectLst/>
                <a:latin typeface="+mj-lt"/>
              </a:rPr>
              <a:t> la </a:t>
            </a:r>
            <a:r>
              <a:rPr kumimoji="0" lang="en-US" altLang="en-US" sz="1600" b="0" i="0" u="none" strike="noStrike" cap="none" normalizeH="0" baseline="0" dirty="0" err="1" smtClean="0">
                <a:ln>
                  <a:noFill/>
                </a:ln>
                <a:solidFill>
                  <a:schemeClr val="tx1"/>
                </a:solidFill>
                <a:effectLst/>
                <a:latin typeface="+mj-lt"/>
              </a:rPr>
              <a:t>instancia</a:t>
            </a:r>
            <a:r>
              <a:rPr kumimoji="0" lang="en-US" altLang="en-US" sz="1600" b="0" i="0" u="none" strike="noStrike" cap="none" normalizeH="0" baseline="0" dirty="0" smtClean="0">
                <a:ln>
                  <a:noFill/>
                </a:ln>
                <a:solidFill>
                  <a:schemeClr val="tx1"/>
                </a:solidFill>
                <a:effectLst/>
                <a:latin typeface="+mj-lt"/>
              </a:rPr>
              <a:t> actual del Builder.</a:t>
            </a:r>
          </a:p>
        </p:txBody>
      </p:sp>
      <p:pic>
        <p:nvPicPr>
          <p:cNvPr id="9" name="Imagen 8"/>
          <p:cNvPicPr>
            <a:picLocks noChangeAspect="1"/>
          </p:cNvPicPr>
          <p:nvPr/>
        </p:nvPicPr>
        <p:blipFill rotWithShape="1">
          <a:blip r:embed="rId3"/>
          <a:srcRect r="6607"/>
          <a:stretch/>
        </p:blipFill>
        <p:spPr>
          <a:xfrm>
            <a:off x="5741986" y="1176583"/>
            <a:ext cx="6025941" cy="4866408"/>
          </a:xfrm>
          <a:prstGeom prst="rect">
            <a:avLst/>
          </a:prstGeom>
        </p:spPr>
      </p:pic>
    </p:spTree>
    <p:extLst>
      <p:ext uri="{BB962C8B-B14F-4D97-AF65-F5344CB8AC3E}">
        <p14:creationId xmlns:p14="http://schemas.microsoft.com/office/powerpoint/2010/main" val="2911761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2540043" y="1344612"/>
            <a:ext cx="5375875" cy="5095151"/>
          </a:xfrm>
          <a:prstGeom prst="rect">
            <a:avLst/>
          </a:prstGeom>
        </p:spPr>
      </p:pic>
      <p:sp>
        <p:nvSpPr>
          <p:cNvPr id="5" name="Rectangle 1"/>
          <p:cNvSpPr>
            <a:spLocks noChangeArrowheads="1"/>
          </p:cNvSpPr>
          <p:nvPr/>
        </p:nvSpPr>
        <p:spPr bwMode="auto">
          <a:xfrm>
            <a:off x="702364" y="431248"/>
            <a:ext cx="905123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3. </a:t>
            </a:r>
            <a:r>
              <a:rPr kumimoji="0" lang="en-US" altLang="en-US" sz="2000" b="1" i="0" u="none" strike="noStrike" cap="none" normalizeH="0" baseline="0" dirty="0" err="1" smtClean="0">
                <a:ln>
                  <a:noFill/>
                </a:ln>
                <a:solidFill>
                  <a:schemeClr val="tx1"/>
                </a:solidFill>
                <a:effectLst/>
                <a:latin typeface="Arial" panose="020B0604020202020204" pitchFamily="34" charset="0"/>
              </a:rPr>
              <a:t>Cliente</a:t>
            </a:r>
            <a:r>
              <a:rPr kumimoji="0" lang="en-US" altLang="en-US" sz="2000" b="1"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smtClean="0">
                <a:ln>
                  <a:noFill/>
                </a:ln>
                <a:solidFill>
                  <a:schemeClr val="tx1"/>
                </a:solidFill>
                <a:effectLst/>
                <a:latin typeface="Arial Unicode MS"/>
              </a:rPr>
              <a:t>Program</a:t>
            </a:r>
            <a:r>
              <a:rPr kumimoji="0" lang="en-US" altLang="en-US" sz="2000" b="1" i="0" u="none" strike="noStrike" cap="none" normalizeH="0" baseline="0" dirty="0" smtClean="0">
                <a:ln>
                  <a:noFill/>
                </a:ln>
                <a:solidFill>
                  <a:schemeClr val="tx1"/>
                </a:solidFill>
                <a:effectLst/>
              </a:rPr>
              <a:t>)</a:t>
            </a: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El </a:t>
            </a:r>
            <a:r>
              <a:rPr kumimoji="0" lang="en-US" altLang="en-US" sz="2000" b="0" i="0" u="none" strike="noStrike" cap="none" normalizeH="0" baseline="0" dirty="0" err="1" smtClean="0">
                <a:ln>
                  <a:noFill/>
                </a:ln>
                <a:solidFill>
                  <a:schemeClr val="tx1"/>
                </a:solidFill>
                <a:effectLst/>
                <a:latin typeface="Arial" panose="020B0604020202020204" pitchFamily="34" charset="0"/>
              </a:rPr>
              <a:t>cliente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utiliza</a:t>
            </a:r>
            <a:r>
              <a:rPr kumimoji="0" lang="en-US" altLang="en-US" sz="2000" b="0" i="0" u="none" strike="noStrike" cap="none" normalizeH="0" baseline="0" dirty="0" smtClean="0">
                <a:ln>
                  <a:noFill/>
                </a:ln>
                <a:solidFill>
                  <a:schemeClr val="tx1"/>
                </a:solidFill>
                <a:effectLst/>
                <a:latin typeface="Arial" panose="020B0604020202020204" pitchFamily="34" charset="0"/>
              </a:rPr>
              <a:t> el </a:t>
            </a:r>
            <a:r>
              <a:rPr kumimoji="0" lang="en-US" altLang="en-US" sz="2000" b="0" i="0" u="none" strike="noStrike" cap="none" normalizeH="0" baseline="0" dirty="0" err="1" smtClean="0">
                <a:ln>
                  <a:noFill/>
                </a:ln>
                <a:solidFill>
                  <a:schemeClr val="tx1"/>
                </a:solidFill>
                <a:effectLst/>
                <a:latin typeface="Arial Unicode MS"/>
              </a:rPr>
              <a:t>UserProfileBuilder</a:t>
            </a:r>
            <a:r>
              <a:rPr kumimoji="0" lang="en-US" altLang="en-US" sz="2000" b="0" i="0" u="none" strike="noStrike" cap="none" normalizeH="0" baseline="0" dirty="0" smtClean="0">
                <a:ln>
                  <a:noFill/>
                </a:ln>
                <a:solidFill>
                  <a:schemeClr val="tx1"/>
                </a:solidFill>
                <a:effectLst/>
              </a:rPr>
              <a:t> para </a:t>
            </a:r>
            <a:r>
              <a:rPr kumimoji="0" lang="en-US" altLang="en-US" sz="2000" b="0" i="0" u="none" strike="noStrike" cap="none" normalizeH="0" baseline="0" dirty="0" err="1" smtClean="0">
                <a:ln>
                  <a:noFill/>
                </a:ln>
                <a:solidFill>
                  <a:schemeClr val="tx1"/>
                </a:solidFill>
                <a:effectLst/>
              </a:rPr>
              <a:t>construir</a:t>
            </a:r>
            <a:r>
              <a:rPr kumimoji="0" lang="en-US" altLang="en-US" sz="2000" b="0" i="0" u="none" strike="noStrike" cap="none" normalizeH="0" baseline="0" dirty="0" smtClean="0">
                <a:ln>
                  <a:noFill/>
                </a:ln>
                <a:solidFill>
                  <a:schemeClr val="tx1"/>
                </a:solidFill>
                <a:effectLst/>
              </a:rPr>
              <a:t> un </a:t>
            </a:r>
            <a:r>
              <a:rPr kumimoji="0" lang="en-US" altLang="en-US" sz="2000" b="0" i="0" u="none" strike="noStrike" cap="none" normalizeH="0" baseline="0" dirty="0" err="1" smtClean="0">
                <a:ln>
                  <a:noFill/>
                </a:ln>
                <a:solidFill>
                  <a:schemeClr val="tx1"/>
                </a:solidFill>
                <a:effectLst/>
              </a:rPr>
              <a:t>objeto</a:t>
            </a:r>
            <a:r>
              <a:rPr kumimoji="0" lang="en-US" altLang="en-US" sz="2000" b="0" i="0" u="none" strike="noStrike" cap="none" normalizeH="0" baseline="0" dirty="0" smtClean="0">
                <a:ln>
                  <a:noFill/>
                </a:ln>
                <a:solidFill>
                  <a:schemeClr val="tx1"/>
                </a:solidFill>
                <a:effectLst/>
              </a:rPr>
              <a:t> de </a:t>
            </a:r>
            <a:r>
              <a:rPr kumimoji="0" lang="en-US" altLang="en-US" sz="2000" b="0" i="0" u="none" strike="noStrike" cap="none" normalizeH="0" baseline="0" dirty="0" err="1" smtClean="0">
                <a:ln>
                  <a:noFill/>
                </a:ln>
                <a:solidFill>
                  <a:schemeClr val="tx1"/>
                </a:solidFill>
                <a:effectLst/>
              </a:rPr>
              <a:t>manera</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rPr>
              <a:t>fluida</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036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69843"/>
            <a:ext cx="10515600" cy="5607120"/>
          </a:xfrm>
        </p:spPr>
        <p:txBody>
          <a:bodyPr>
            <a:normAutofit fontScale="92500" lnSpcReduction="10000"/>
          </a:bodyPr>
          <a:lstStyle/>
          <a:p>
            <a:pPr marL="0" indent="0">
              <a:buNone/>
            </a:pPr>
            <a:r>
              <a:rPr lang="es-PE" b="1" dirty="0"/>
              <a:t>Ejercicio1</a:t>
            </a:r>
            <a:endParaRPr lang="en-US" dirty="0"/>
          </a:p>
          <a:p>
            <a:pPr algn="just"/>
            <a:r>
              <a:rPr lang="es-PE" b="1" dirty="0"/>
              <a:t>Crear el mismo </a:t>
            </a:r>
            <a:r>
              <a:rPr lang="es-PE" b="1" dirty="0" smtClean="0"/>
              <a:t>ejercicio de </a:t>
            </a:r>
            <a:r>
              <a:rPr lang="es-PE" b="1" dirty="0" err="1" smtClean="0"/>
              <a:t>Sandwich</a:t>
            </a:r>
            <a:r>
              <a:rPr lang="es-PE" b="1" dirty="0" smtClean="0"/>
              <a:t> desde </a:t>
            </a:r>
            <a:r>
              <a:rPr lang="es-PE" b="1" dirty="0"/>
              <a:t>cero e implementarlo solo con esas dos clases a usar</a:t>
            </a:r>
            <a:endParaRPr lang="en-US" dirty="0"/>
          </a:p>
          <a:p>
            <a:pPr algn="just"/>
            <a:r>
              <a:rPr lang="es-PE" dirty="0"/>
              <a:t>La diferencia es que esta implementación es más fluida que la del </a:t>
            </a:r>
            <a:r>
              <a:rPr lang="es-PE" b="1" dirty="0" err="1"/>
              <a:t>Builder</a:t>
            </a:r>
            <a:r>
              <a:rPr lang="es-PE" dirty="0"/>
              <a:t> propiamente</a:t>
            </a:r>
            <a:endParaRPr lang="en-US" dirty="0"/>
          </a:p>
          <a:p>
            <a:pPr algn="just"/>
            <a:r>
              <a:rPr lang="es-PE" dirty="0"/>
              <a:t>Una de las diferencias es que aquí solamente necesitamos un </a:t>
            </a:r>
            <a:r>
              <a:rPr lang="es-PE" b="1" dirty="0" err="1"/>
              <a:t>Builder</a:t>
            </a:r>
            <a:r>
              <a:rPr lang="es-PE" dirty="0"/>
              <a:t>, si recordamos en el patrón </a:t>
            </a:r>
            <a:r>
              <a:rPr lang="es-PE" b="1" dirty="0" err="1"/>
              <a:t>Builder</a:t>
            </a:r>
            <a:r>
              <a:rPr lang="es-PE" b="1" dirty="0"/>
              <a:t> </a:t>
            </a:r>
            <a:r>
              <a:rPr lang="es-PE" dirty="0"/>
              <a:t>teníamos varios </a:t>
            </a:r>
            <a:r>
              <a:rPr lang="es-PE" b="1" dirty="0" err="1"/>
              <a:t>Builders</a:t>
            </a:r>
            <a:endParaRPr lang="en-US" dirty="0"/>
          </a:p>
          <a:p>
            <a:pPr algn="just"/>
            <a:r>
              <a:rPr lang="es-PE" dirty="0"/>
              <a:t>Siempre tenemos que ir devolviendo el objeto </a:t>
            </a:r>
            <a:r>
              <a:rPr lang="es-PE" b="1" dirty="0" err="1"/>
              <a:t>SandwichBuilder</a:t>
            </a:r>
            <a:r>
              <a:rPr lang="es-PE" b="1" dirty="0"/>
              <a:t> </a:t>
            </a:r>
            <a:r>
              <a:rPr lang="es-PE" dirty="0"/>
              <a:t>con </a:t>
            </a:r>
            <a:r>
              <a:rPr lang="es-PE" b="1" dirty="0" err="1"/>
              <a:t>return</a:t>
            </a:r>
            <a:r>
              <a:rPr lang="es-PE" b="1" dirty="0"/>
              <a:t> </a:t>
            </a:r>
            <a:r>
              <a:rPr lang="es-PE" b="1" dirty="0" err="1"/>
              <a:t>this</a:t>
            </a:r>
            <a:r>
              <a:rPr lang="es-PE" dirty="0"/>
              <a:t> para que podamos ir utilizando este objeto como una cadena de funciones que podamos ir llamando.</a:t>
            </a:r>
            <a:endParaRPr lang="en-US" dirty="0"/>
          </a:p>
          <a:p>
            <a:pPr algn="just"/>
            <a:r>
              <a:rPr lang="es-PE" dirty="0"/>
              <a:t>Por lo que ya no necesitamos el </a:t>
            </a:r>
            <a:r>
              <a:rPr lang="es-PE" b="1" dirty="0" err="1"/>
              <a:t>cheeseBurger</a:t>
            </a:r>
            <a:r>
              <a:rPr lang="es-PE" dirty="0"/>
              <a:t> ni el </a:t>
            </a:r>
            <a:r>
              <a:rPr lang="es-PE" b="1" dirty="0" err="1"/>
              <a:t>sandwichAssemby</a:t>
            </a:r>
            <a:r>
              <a:rPr lang="es-PE" b="1" dirty="0"/>
              <a:t>, </a:t>
            </a:r>
            <a:r>
              <a:rPr lang="es-PE" dirty="0"/>
              <a:t>únicamente utilizaríamos el </a:t>
            </a:r>
            <a:r>
              <a:rPr lang="es-PE" b="1" dirty="0"/>
              <a:t>sándwich</a:t>
            </a:r>
            <a:r>
              <a:rPr lang="es-PE" dirty="0"/>
              <a:t> y el </a:t>
            </a:r>
            <a:r>
              <a:rPr lang="es-PE" b="1" dirty="0" err="1"/>
              <a:t>builder</a:t>
            </a:r>
            <a:endParaRPr lang="en-US" dirty="0"/>
          </a:p>
          <a:p>
            <a:pPr algn="just"/>
            <a:r>
              <a:rPr lang="es-PE" dirty="0"/>
              <a:t>De esta forma evitaríamos tener que crear un objeto </a:t>
            </a:r>
            <a:r>
              <a:rPr lang="es-PE" b="1" dirty="0" err="1"/>
              <a:t>builder</a:t>
            </a:r>
            <a:r>
              <a:rPr lang="es-PE" dirty="0"/>
              <a:t> concreto para cada uno de nuestros </a:t>
            </a:r>
            <a:r>
              <a:rPr lang="es-PE" dirty="0" smtClean="0"/>
              <a:t>Objetos</a:t>
            </a:r>
            <a:r>
              <a:rPr lang="en-US" dirty="0" smtClean="0"/>
              <a:t>.</a:t>
            </a:r>
            <a:endParaRPr lang="en-US" dirty="0"/>
          </a:p>
        </p:txBody>
      </p:sp>
    </p:spTree>
    <p:extLst>
      <p:ext uri="{BB962C8B-B14F-4D97-AF65-F5344CB8AC3E}">
        <p14:creationId xmlns:p14="http://schemas.microsoft.com/office/powerpoint/2010/main" val="10949922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75861"/>
            <a:ext cx="4820478" cy="5501102"/>
          </a:xfrm>
        </p:spPr>
        <p:txBody>
          <a:bodyPr>
            <a:normAutofit fontScale="92500" lnSpcReduction="10000"/>
          </a:bodyPr>
          <a:lstStyle/>
          <a:p>
            <a:pPr marL="0" indent="0">
              <a:buNone/>
            </a:pPr>
            <a:r>
              <a:rPr lang="es-PE" b="1" dirty="0"/>
              <a:t>Ejercicio2</a:t>
            </a:r>
            <a:endParaRPr lang="en-US" dirty="0"/>
          </a:p>
          <a:p>
            <a:pPr algn="just"/>
            <a:r>
              <a:rPr lang="es-PE" dirty="0" smtClean="0"/>
              <a:t>Un </a:t>
            </a:r>
            <a:r>
              <a:rPr lang="es-PE" dirty="0"/>
              <a:t>uso real que se le puede dar a este patrón </a:t>
            </a:r>
            <a:r>
              <a:rPr lang="es-PE" b="1" dirty="0" err="1"/>
              <a:t>fluentBuilder</a:t>
            </a:r>
            <a:r>
              <a:rPr lang="es-PE" dirty="0"/>
              <a:t> es el de las pruebas unitarias, ahí veces que para probar un método necesitamos crear una serie de datos que por cada </a:t>
            </a:r>
            <a:r>
              <a:rPr lang="es-PE" b="1" dirty="0" err="1"/>
              <a:t>tes</a:t>
            </a:r>
            <a:r>
              <a:rPr lang="es-PE" dirty="0"/>
              <a:t> que realizamos a ese método se vuelve incontrolable una manera de simplificar esta tarea es construir un </a:t>
            </a:r>
            <a:r>
              <a:rPr lang="es-PE" b="1" dirty="0" err="1"/>
              <a:t>builder</a:t>
            </a:r>
            <a:r>
              <a:rPr lang="es-PE" dirty="0"/>
              <a:t> y de esta manera los datos que vamos </a:t>
            </a:r>
            <a:r>
              <a:rPr lang="es-PE" dirty="0" err="1"/>
              <a:t>porporcionando</a:t>
            </a:r>
            <a:r>
              <a:rPr lang="es-PE" dirty="0"/>
              <a:t> los vamos manejando en este </a:t>
            </a:r>
            <a:r>
              <a:rPr lang="es-PE" dirty="0" err="1"/>
              <a:t>builder</a:t>
            </a:r>
            <a:r>
              <a:rPr lang="es-PE" dirty="0"/>
              <a:t>.</a:t>
            </a:r>
            <a:endParaRPr lang="en-US" dirty="0"/>
          </a:p>
          <a:p>
            <a:pPr algn="just"/>
            <a:r>
              <a:rPr lang="es-PE" dirty="0"/>
              <a:t>Para ello vamos a crear una clase saludo</a:t>
            </a:r>
            <a:endParaRPr lang="en-US" dirty="0"/>
          </a:p>
          <a:p>
            <a:endParaRPr lang="en-US" dirty="0"/>
          </a:p>
        </p:txBody>
      </p:sp>
      <p:pic>
        <p:nvPicPr>
          <p:cNvPr id="4" name="Imagen 3"/>
          <p:cNvPicPr/>
          <p:nvPr/>
        </p:nvPicPr>
        <p:blipFill rotWithShape="1">
          <a:blip r:embed="rId2"/>
          <a:srcRect r="36068" b="23093"/>
          <a:stretch/>
        </p:blipFill>
        <p:spPr>
          <a:xfrm>
            <a:off x="6268279" y="2008857"/>
            <a:ext cx="5433390" cy="2835109"/>
          </a:xfrm>
          <a:prstGeom prst="rect">
            <a:avLst/>
          </a:prstGeom>
        </p:spPr>
      </p:pic>
    </p:spTree>
    <p:extLst>
      <p:ext uri="{BB962C8B-B14F-4D97-AF65-F5344CB8AC3E}">
        <p14:creationId xmlns:p14="http://schemas.microsoft.com/office/powerpoint/2010/main" val="14026137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768626"/>
            <a:ext cx="10515600" cy="5408337"/>
          </a:xfrm>
        </p:spPr>
        <p:txBody>
          <a:bodyPr/>
          <a:lstStyle/>
          <a:p>
            <a:pPr marL="0" indent="0">
              <a:buNone/>
            </a:pPr>
            <a:r>
              <a:rPr lang="es-PE" dirty="0"/>
              <a:t>Luego creamos una clase de prueba </a:t>
            </a:r>
            <a:r>
              <a:rPr lang="es-PE" dirty="0" smtClean="0"/>
              <a:t>unitaria</a:t>
            </a:r>
          </a:p>
          <a:p>
            <a:pPr marL="0" indent="0">
              <a:buNone/>
            </a:pPr>
            <a:endParaRPr lang="en-US" dirty="0"/>
          </a:p>
          <a:p>
            <a:endParaRPr lang="en-US" dirty="0"/>
          </a:p>
        </p:txBody>
      </p:sp>
      <p:pic>
        <p:nvPicPr>
          <p:cNvPr id="4" name="Imagen 3"/>
          <p:cNvPicPr/>
          <p:nvPr/>
        </p:nvPicPr>
        <p:blipFill>
          <a:blip r:embed="rId2"/>
          <a:stretch>
            <a:fillRect/>
          </a:stretch>
        </p:blipFill>
        <p:spPr>
          <a:xfrm>
            <a:off x="2817785" y="1666696"/>
            <a:ext cx="6556430" cy="3024574"/>
          </a:xfrm>
          <a:prstGeom prst="rect">
            <a:avLst/>
          </a:prstGeom>
        </p:spPr>
      </p:pic>
    </p:spTree>
    <p:extLst>
      <p:ext uri="{BB962C8B-B14F-4D97-AF65-F5344CB8AC3E}">
        <p14:creationId xmlns:p14="http://schemas.microsoft.com/office/powerpoint/2010/main" val="476792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83097"/>
            <a:ext cx="10515600" cy="463826"/>
          </a:xfrm>
        </p:spPr>
        <p:txBody>
          <a:bodyPr>
            <a:normAutofit lnSpcReduction="10000"/>
          </a:bodyPr>
          <a:lstStyle/>
          <a:p>
            <a:pPr marL="0" indent="0">
              <a:buNone/>
            </a:pPr>
            <a:r>
              <a:rPr lang="es-PE" dirty="0"/>
              <a:t>Ahora creamos nuestro </a:t>
            </a:r>
            <a:r>
              <a:rPr lang="es-PE" b="1" dirty="0" err="1"/>
              <a:t>SaludoBuilder</a:t>
            </a:r>
            <a:endParaRPr lang="en-US" dirty="0"/>
          </a:p>
          <a:p>
            <a:endParaRPr lang="en-US" dirty="0"/>
          </a:p>
        </p:txBody>
      </p:sp>
      <p:pic>
        <p:nvPicPr>
          <p:cNvPr id="4" name="Imagen 3"/>
          <p:cNvPicPr/>
          <p:nvPr/>
        </p:nvPicPr>
        <p:blipFill>
          <a:blip r:embed="rId2"/>
          <a:stretch>
            <a:fillRect/>
          </a:stretch>
        </p:blipFill>
        <p:spPr>
          <a:xfrm>
            <a:off x="2216509" y="1154817"/>
            <a:ext cx="6834726" cy="5577288"/>
          </a:xfrm>
          <a:prstGeom prst="rect">
            <a:avLst/>
          </a:prstGeom>
        </p:spPr>
      </p:pic>
    </p:spTree>
    <p:extLst>
      <p:ext uri="{BB962C8B-B14F-4D97-AF65-F5344CB8AC3E}">
        <p14:creationId xmlns:p14="http://schemas.microsoft.com/office/powerpoint/2010/main" val="1934131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596348"/>
            <a:ext cx="10515600" cy="5580615"/>
          </a:xfrm>
        </p:spPr>
        <p:txBody>
          <a:bodyPr/>
          <a:lstStyle/>
          <a:p>
            <a:pPr marL="0" indent="0">
              <a:buNone/>
            </a:pPr>
            <a:r>
              <a:rPr lang="es-PE" dirty="0"/>
              <a:t>Ahora entonces modificamos nuestra clase de test unitario</a:t>
            </a:r>
            <a:endParaRPr lang="en-US" dirty="0"/>
          </a:p>
          <a:p>
            <a:endParaRPr lang="en-US" dirty="0"/>
          </a:p>
        </p:txBody>
      </p:sp>
      <p:pic>
        <p:nvPicPr>
          <p:cNvPr id="4" name="Imagen 3"/>
          <p:cNvPicPr/>
          <p:nvPr/>
        </p:nvPicPr>
        <p:blipFill>
          <a:blip r:embed="rId2"/>
          <a:stretch>
            <a:fillRect/>
          </a:stretch>
        </p:blipFill>
        <p:spPr>
          <a:xfrm>
            <a:off x="2228063" y="1281554"/>
            <a:ext cx="7735873" cy="4708429"/>
          </a:xfrm>
          <a:prstGeom prst="rect">
            <a:avLst/>
          </a:prstGeom>
        </p:spPr>
      </p:pic>
    </p:spTree>
    <p:extLst>
      <p:ext uri="{BB962C8B-B14F-4D97-AF65-F5344CB8AC3E}">
        <p14:creationId xmlns:p14="http://schemas.microsoft.com/office/powerpoint/2010/main" val="33969057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6691</TotalTime>
  <Words>2015</Words>
  <Application>Microsoft Office PowerPoint</Application>
  <PresentationFormat>Panorámica</PresentationFormat>
  <Paragraphs>142</Paragraphs>
  <Slides>34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34</vt:i4>
      </vt:variant>
    </vt:vector>
  </HeadingPairs>
  <TitlesOfParts>
    <vt:vector size="41" baseType="lpstr">
      <vt:lpstr>Arial</vt:lpstr>
      <vt:lpstr>Arial Unicode MS</vt:lpstr>
      <vt:lpstr>Calibri</vt:lpstr>
      <vt:lpstr>Calibri Light</vt:lpstr>
      <vt:lpstr>PT Sans</vt:lpstr>
      <vt:lpstr>Times New Roman</vt:lpstr>
      <vt:lpstr>Tema de Office</vt:lpstr>
      <vt:lpstr>Patrones de Diseño</vt:lpstr>
      <vt:lpstr>PROTOTYPE PATTERN</vt:lpstr>
      <vt:lpstr>Problema</vt:lpstr>
      <vt:lpstr>Componentes del Prototype Pattern</vt:lpstr>
      <vt:lpstr>Ejemplo -&gt;Supongamos que tenemos una fábrica de autos que produce diferentes modelos (CarModel). Queremos crear múltiples copias de un modelo base pero personalizarlas en algunos detalles (como el color).</vt:lpstr>
      <vt:lpstr>Presentación de PowerPoint</vt:lpstr>
      <vt:lpstr>Presentación de PowerPoint</vt:lpstr>
      <vt:lpstr>TIPOS DE CLONES</vt:lpstr>
      <vt:lpstr>Presentación de PowerPoint</vt:lpstr>
      <vt:lpstr>Presentación de PowerPoint</vt:lpstr>
      <vt:lpstr>Presentación de PowerPoint</vt:lpstr>
      <vt:lpstr>Presentación de PowerPoint</vt:lpstr>
      <vt:lpstr>Presentación de PowerPoint</vt:lpstr>
      <vt:lpstr>Beneficios del Prototype Pattern</vt:lpstr>
      <vt:lpstr>BUILDER</vt:lpstr>
      <vt:lpstr>¿Cuál es el problema?</vt:lpstr>
      <vt:lpstr>Solución</vt:lpstr>
      <vt:lpstr>Componentes del Patrón Builder</vt:lpstr>
      <vt:lpstr>Ejemplo -&gt; Construcción de una Pizza</vt:lpstr>
      <vt:lpstr>Presentación de PowerPoint</vt:lpstr>
      <vt:lpstr>Presentación de PowerPoint</vt:lpstr>
      <vt:lpstr>Presentación de PowerPoint</vt:lpstr>
      <vt:lpstr>FLUENT BUILDER</vt:lpstr>
      <vt:lpstr>Cómo funciona el patrón Fluent Builder</vt:lpstr>
      <vt:lpstr>Presentación de PowerPoint</vt:lpstr>
      <vt:lpstr>Resumen de los Componentes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 DE DISEÑO</dc:title>
  <dc:creator>gabriel</dc:creator>
  <cp:lastModifiedBy>gabriel</cp:lastModifiedBy>
  <cp:revision>75</cp:revision>
  <dcterms:created xsi:type="dcterms:W3CDTF">2024-07-21T22:46:52Z</dcterms:created>
  <dcterms:modified xsi:type="dcterms:W3CDTF">2025-06-03T01:29:33Z</dcterms:modified>
</cp:coreProperties>
</file>